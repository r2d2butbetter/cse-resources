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7" r:id="rId2"/>
    <p:sldId id="349" r:id="rId3"/>
    <p:sldId id="286" r:id="rId4"/>
    <p:sldId id="305" r:id="rId5"/>
    <p:sldId id="306" r:id="rId6"/>
    <p:sldId id="273" r:id="rId7"/>
    <p:sldId id="274" r:id="rId8"/>
    <p:sldId id="275" r:id="rId9"/>
    <p:sldId id="276" r:id="rId10"/>
    <p:sldId id="277" r:id="rId11"/>
    <p:sldId id="278" r:id="rId12"/>
    <p:sldId id="287" r:id="rId13"/>
    <p:sldId id="289" r:id="rId14"/>
    <p:sldId id="328" r:id="rId15"/>
    <p:sldId id="329" r:id="rId16"/>
    <p:sldId id="330" r:id="rId17"/>
    <p:sldId id="335" r:id="rId18"/>
    <p:sldId id="331" r:id="rId19"/>
    <p:sldId id="292" r:id="rId20"/>
    <p:sldId id="332" r:id="rId21"/>
    <p:sldId id="333" r:id="rId22"/>
    <p:sldId id="338" r:id="rId23"/>
    <p:sldId id="351" r:id="rId24"/>
    <p:sldId id="336" r:id="rId25"/>
    <p:sldId id="352" r:id="rId26"/>
    <p:sldId id="337" r:id="rId27"/>
    <p:sldId id="346" r:id="rId28"/>
    <p:sldId id="347" r:id="rId29"/>
    <p:sldId id="348" r:id="rId30"/>
    <p:sldId id="350" r:id="rId31"/>
    <p:sldId id="345" r:id="rId32"/>
    <p:sldId id="334" r:id="rId33"/>
    <p:sldId id="339" r:id="rId34"/>
    <p:sldId id="340" r:id="rId35"/>
    <p:sldId id="341" r:id="rId36"/>
    <p:sldId id="343" r:id="rId37"/>
    <p:sldId id="344" r:id="rId38"/>
    <p:sldId id="342" r:id="rId39"/>
    <p:sldId id="304" r:id="rId40"/>
    <p:sldId id="288" r:id="rId41"/>
    <p:sldId id="279" r:id="rId42"/>
    <p:sldId id="280" r:id="rId43"/>
    <p:sldId id="281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5" d="100"/>
          <a:sy n="45" d="100"/>
        </p:scale>
        <p:origin x="-1876" y="-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Model Evaluation </a:t>
            </a:r>
            <a:endParaRPr lang="en-IN" b="1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Quantifying our Hypothesis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551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to evaluate a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Need some Metric </a:t>
            </a:r>
          </a:p>
          <a:p>
            <a:endParaRPr lang="en-IN" dirty="0" smtClean="0"/>
          </a:p>
          <a:p>
            <a:r>
              <a:rPr lang="en-IN" dirty="0" smtClean="0"/>
              <a:t>Metric will need some data to compute on </a:t>
            </a:r>
          </a:p>
          <a:p>
            <a:endParaRPr lang="en-IN" dirty="0" smtClean="0"/>
          </a:p>
          <a:p>
            <a:r>
              <a:rPr lang="en-IN" dirty="0" smtClean="0"/>
              <a:t>Where do we get the data on which metric needs to be computed </a:t>
            </a:r>
          </a:p>
          <a:p>
            <a:endParaRPr lang="en-IN" dirty="0"/>
          </a:p>
          <a:p>
            <a:r>
              <a:rPr lang="en-IN" dirty="0" smtClean="0"/>
              <a:t>The only data we have is Trainign Data </a:t>
            </a:r>
          </a:p>
          <a:p>
            <a:endParaRPr lang="en-IN" dirty="0"/>
          </a:p>
          <a:p>
            <a:r>
              <a:rPr lang="en-IN" dirty="0" smtClean="0"/>
              <a:t>So we have to somehow use the Training Data to arrive at a metric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24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data </a:t>
            </a:r>
            <a:r>
              <a:rPr lang="en-IN" dirty="0" smtClean="0"/>
              <a:t>partitioning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7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and Testing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Training </a:t>
            </a:r>
            <a:r>
              <a:rPr dirty="0" smtClean="0"/>
              <a:t>data:</a:t>
            </a:r>
            <a:endParaRPr lang="en-IN" dirty="0" smtClean="0"/>
          </a:p>
          <a:p>
            <a:pPr lvl="1"/>
            <a:r>
              <a:rPr dirty="0" smtClean="0"/>
              <a:t>Used </a:t>
            </a:r>
            <a:r>
              <a:rPr dirty="0"/>
              <a:t>to learn model parameters.</a:t>
            </a:r>
          </a:p>
          <a:p>
            <a:endParaRPr dirty="0"/>
          </a:p>
          <a:p>
            <a:r>
              <a:rPr dirty="0"/>
              <a:t>Testing </a:t>
            </a:r>
            <a:r>
              <a:rPr dirty="0" smtClean="0"/>
              <a:t>data:</a:t>
            </a:r>
            <a:endParaRPr lang="en-IN" dirty="0" smtClean="0"/>
          </a:p>
          <a:p>
            <a:pPr lvl="1"/>
            <a:r>
              <a:rPr dirty="0" smtClean="0"/>
              <a:t>Used </a:t>
            </a:r>
            <a:r>
              <a:rPr dirty="0"/>
              <a:t>to evaluate performance.</a:t>
            </a:r>
          </a:p>
          <a:p>
            <a:endParaRPr dirty="0"/>
          </a:p>
          <a:p>
            <a:r>
              <a:rPr dirty="0"/>
              <a:t>Typical split</a:t>
            </a:r>
            <a:r>
              <a:rPr dirty="0" smtClean="0"/>
              <a:t>:</a:t>
            </a:r>
            <a:endParaRPr dirty="0"/>
          </a:p>
          <a:p>
            <a:pPr lvl="1"/>
            <a:r>
              <a:rPr dirty="0"/>
              <a:t>Training → 70–80%</a:t>
            </a:r>
          </a:p>
          <a:p>
            <a:pPr lvl="1"/>
            <a:r>
              <a:rPr dirty="0"/>
              <a:t>Testing → 20–30%</a:t>
            </a:r>
          </a:p>
        </p:txBody>
      </p:sp>
    </p:spTree>
    <p:extLst>
      <p:ext uri="{BB962C8B-B14F-4D97-AF65-F5344CB8AC3E}">
        <p14:creationId xmlns:p14="http://schemas.microsoft.com/office/powerpoint/2010/main" val="3498193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Separate Training and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If the same data is used for both training and testing:</a:t>
            </a:r>
          </a:p>
          <a:p>
            <a:endParaRPr dirty="0"/>
          </a:p>
          <a:p>
            <a:r>
              <a:rPr dirty="0"/>
              <a:t>Model may memorize training data.</a:t>
            </a:r>
          </a:p>
          <a:p>
            <a:endParaRPr dirty="0"/>
          </a:p>
          <a:p>
            <a:r>
              <a:rPr dirty="0"/>
              <a:t>Separate testing ensures</a:t>
            </a:r>
            <a:r>
              <a:rPr dirty="0" smtClean="0"/>
              <a:t>:</a:t>
            </a:r>
            <a:endParaRPr dirty="0"/>
          </a:p>
          <a:p>
            <a:pPr lvl="1"/>
            <a:r>
              <a:rPr dirty="0"/>
              <a:t>True evaluation</a:t>
            </a:r>
          </a:p>
          <a:p>
            <a:pPr lvl="1"/>
            <a:r>
              <a:rPr dirty="0"/>
              <a:t>Reliable performance estimate</a:t>
            </a:r>
          </a:p>
          <a:p>
            <a:pPr lvl="1"/>
            <a:r>
              <a:rPr dirty="0"/>
              <a:t>Better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13633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 split into:</a:t>
            </a:r>
          </a:p>
          <a:p>
            <a:pPr lvl="1"/>
            <a:r>
              <a:rPr dirty="0"/>
              <a:t>Training set</a:t>
            </a:r>
          </a:p>
          <a:p>
            <a:pPr lvl="1"/>
            <a:r>
              <a:rPr dirty="0"/>
              <a:t>Testing set</a:t>
            </a:r>
          </a:p>
          <a:p>
            <a:endParaRPr dirty="0"/>
          </a:p>
          <a:p>
            <a:r>
              <a:rPr dirty="0"/>
              <a:t>Typical split:</a:t>
            </a:r>
          </a:p>
          <a:p>
            <a:pPr lvl="1"/>
            <a:r>
              <a:rPr dirty="0"/>
              <a:t>70% training</a:t>
            </a:r>
          </a:p>
          <a:p>
            <a:pPr lvl="1"/>
            <a:r>
              <a:rPr dirty="0"/>
              <a:t>30% testing</a:t>
            </a:r>
          </a:p>
          <a:p>
            <a:endParaRPr dirty="0"/>
          </a:p>
          <a:p>
            <a:r>
              <a:rPr dirty="0"/>
              <a:t>Training learns model parameters</a:t>
            </a:r>
          </a:p>
          <a:p>
            <a:r>
              <a:rPr dirty="0"/>
              <a:t>Testing evaluates generalization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Split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size = 1000 records</a:t>
            </a:r>
          </a:p>
          <a:p>
            <a:endParaRPr dirty="0"/>
          </a:p>
          <a:p>
            <a:r>
              <a:rPr dirty="0"/>
              <a:t>Training = 700</a:t>
            </a:r>
          </a:p>
          <a:p>
            <a:r>
              <a:rPr dirty="0"/>
              <a:t>Testing = 300</a:t>
            </a:r>
          </a:p>
          <a:p>
            <a:endParaRPr dirty="0"/>
          </a:p>
          <a:p>
            <a:r>
              <a:rPr dirty="0"/>
              <a:t>Model trained on training set</a:t>
            </a:r>
          </a:p>
          <a:p>
            <a:r>
              <a:rPr dirty="0"/>
              <a:t>Performance measured on unseen test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Holdout </a:t>
            </a:r>
            <a:r>
              <a:rPr dirty="0"/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 smtClean="0"/>
              <a:t>What we just learnt is called Holdout Method 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dirty="0" smtClean="0"/>
              <a:t>Dataset </a:t>
            </a:r>
            <a:r>
              <a:rPr dirty="0"/>
              <a:t>divided into:</a:t>
            </a:r>
          </a:p>
          <a:p>
            <a:pPr lvl="1"/>
            <a:r>
              <a:rPr dirty="0"/>
              <a:t>Training set</a:t>
            </a:r>
          </a:p>
          <a:p>
            <a:pPr lvl="1"/>
            <a:r>
              <a:rPr dirty="0"/>
              <a:t>Test set</a:t>
            </a:r>
          </a:p>
          <a:p>
            <a:endParaRPr dirty="0"/>
          </a:p>
          <a:p>
            <a:r>
              <a:rPr dirty="0"/>
              <a:t>Procedure:</a:t>
            </a:r>
          </a:p>
          <a:p>
            <a:pPr lvl="1"/>
            <a:r>
              <a:rPr dirty="0"/>
              <a:t>Train model on training data</a:t>
            </a:r>
          </a:p>
          <a:p>
            <a:pPr lvl="1"/>
            <a:r>
              <a:rPr dirty="0"/>
              <a:t>Evaluate on test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Holdout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Results depend on random split</a:t>
            </a:r>
          </a:p>
          <a:p>
            <a:r>
              <a:rPr dirty="0"/>
              <a:t>High variance in performance estimates</a:t>
            </a:r>
          </a:p>
          <a:p>
            <a:r>
              <a:rPr dirty="0"/>
              <a:t>Better methods needed for stability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Dataset </a:t>
            </a:r>
            <a:r>
              <a:rPr dirty="0"/>
              <a:t>divided into k folds</a:t>
            </a:r>
          </a:p>
          <a:p>
            <a:endParaRPr dirty="0"/>
          </a:p>
          <a:p>
            <a:r>
              <a:rPr dirty="0"/>
              <a:t>For each fold:</a:t>
            </a:r>
          </a:p>
          <a:p>
            <a:pPr lvl="1"/>
            <a:r>
              <a:rPr dirty="0"/>
              <a:t>Train on k−1 folds</a:t>
            </a:r>
          </a:p>
          <a:p>
            <a:pPr lvl="1"/>
            <a:r>
              <a:rPr dirty="0"/>
              <a:t>Test on remaining fold</a:t>
            </a:r>
          </a:p>
          <a:p>
            <a:endParaRPr dirty="0"/>
          </a:p>
          <a:p>
            <a:r>
              <a:rPr dirty="0"/>
              <a:t>Final error = average of all folds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5-Fold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Dataset: 100 </a:t>
            </a:r>
            <a:r>
              <a:rPr dirty="0" smtClean="0"/>
              <a:t>samples</a:t>
            </a:r>
            <a:endParaRPr dirty="0"/>
          </a:p>
          <a:p>
            <a:r>
              <a:rPr dirty="0"/>
              <a:t>Each fold = </a:t>
            </a:r>
            <a:r>
              <a:rPr dirty="0" smtClean="0"/>
              <a:t>20</a:t>
            </a:r>
            <a:endParaRPr lang="en-IN" dirty="0" smtClean="0"/>
          </a:p>
          <a:p>
            <a:pPr lvl="1"/>
            <a:r>
              <a:rPr lang="en-IN" dirty="0" smtClean="0"/>
              <a:t>F1,F2,F3,F4,F5 </a:t>
            </a:r>
            <a:endParaRPr dirty="0"/>
          </a:p>
          <a:p>
            <a:endParaRPr lang="en-IN" dirty="0" smtClean="0"/>
          </a:p>
          <a:p>
            <a:r>
              <a:rPr dirty="0" smtClean="0"/>
              <a:t>Training </a:t>
            </a:r>
            <a:r>
              <a:rPr dirty="0"/>
              <a:t>= 80</a:t>
            </a:r>
          </a:p>
          <a:p>
            <a:r>
              <a:rPr dirty="0"/>
              <a:t>Testing = 20</a:t>
            </a:r>
          </a:p>
          <a:p>
            <a:endParaRPr dirty="0"/>
          </a:p>
          <a:p>
            <a:r>
              <a:rPr dirty="0"/>
              <a:t>Average error across 5 </a:t>
            </a:r>
            <a:r>
              <a:rPr dirty="0" smtClean="0"/>
              <a:t>runs</a:t>
            </a:r>
            <a:endParaRPr lang="en-IN" dirty="0" smtClean="0"/>
          </a:p>
          <a:p>
            <a:pPr lvl="1"/>
            <a:r>
              <a:rPr lang="en-IN" dirty="0" smtClean="0"/>
              <a:t>Run1 : Test:F1, Train:F2..F4</a:t>
            </a:r>
          </a:p>
          <a:p>
            <a:pPr lvl="1"/>
            <a:r>
              <a:rPr lang="en-IN" dirty="0" smtClean="0"/>
              <a:t>Run2 : Test:F2, Train: F1, F3..F5</a:t>
            </a:r>
          </a:p>
          <a:p>
            <a:pPr lvl="1"/>
            <a:r>
              <a:rPr lang="en-IN" dirty="0" smtClean="0"/>
              <a:t>Run3 </a:t>
            </a:r>
            <a:r>
              <a:rPr lang="en-IN" dirty="0"/>
              <a:t>: </a:t>
            </a:r>
            <a:r>
              <a:rPr lang="en-IN" dirty="0" smtClean="0"/>
              <a:t>Test:F3, </a:t>
            </a:r>
            <a:r>
              <a:rPr lang="en-IN" dirty="0"/>
              <a:t>Train: </a:t>
            </a:r>
            <a:r>
              <a:rPr lang="en-IN" dirty="0" smtClean="0"/>
              <a:t>F1,F2, F4..</a:t>
            </a:r>
            <a:r>
              <a:rPr lang="en-IN" dirty="0"/>
              <a:t>F5</a:t>
            </a:r>
          </a:p>
          <a:p>
            <a:pPr lvl="1"/>
            <a:r>
              <a:rPr lang="en-IN" dirty="0" smtClean="0"/>
              <a:t>Run4:  Test:F4, </a:t>
            </a:r>
            <a:r>
              <a:rPr lang="en-IN" dirty="0"/>
              <a:t>Train: </a:t>
            </a:r>
            <a:r>
              <a:rPr lang="en-IN" dirty="0" smtClean="0"/>
              <a:t>F1..F3, F5</a:t>
            </a:r>
            <a:endParaRPr lang="en-IN" dirty="0"/>
          </a:p>
          <a:p>
            <a:pPr lvl="1"/>
            <a:r>
              <a:rPr lang="en-IN" dirty="0" smtClean="0"/>
              <a:t>Run5:  Test:F5, </a:t>
            </a:r>
            <a:r>
              <a:rPr lang="en-IN" dirty="0"/>
              <a:t>Train: </a:t>
            </a:r>
            <a:r>
              <a:rPr lang="en-IN" dirty="0" smtClean="0"/>
              <a:t>F1..F4</a:t>
            </a:r>
            <a:endParaRPr lang="en-IN" dirty="0"/>
          </a:p>
          <a:p>
            <a:pPr lvl="1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87"/>
            <a:ext cx="8229600" cy="696033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Final </a:t>
            </a:r>
            <a:r>
              <a:rPr lang="en-IN" b="1" dirty="0"/>
              <a:t>production </a:t>
            </a:r>
            <a:r>
              <a:rPr lang="en-IN" b="1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520"/>
            <a:ext cx="8229600" cy="5950634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After </a:t>
            </a:r>
            <a:r>
              <a:rPr lang="en-IN" dirty="0"/>
              <a:t>cross-validation has helped you:</a:t>
            </a:r>
          </a:p>
          <a:p>
            <a:pPr lvl="1"/>
            <a:r>
              <a:rPr lang="en-IN" dirty="0"/>
              <a:t>Choose the best algorithm</a:t>
            </a:r>
          </a:p>
          <a:p>
            <a:pPr lvl="1"/>
            <a:r>
              <a:rPr lang="en-IN" dirty="0"/>
              <a:t>Tune hyperparameters (via grid search / random search + CV)</a:t>
            </a:r>
          </a:p>
          <a:p>
            <a:pPr lvl="1"/>
            <a:r>
              <a:rPr lang="en-IN" dirty="0"/>
              <a:t>Compare different modeling approaches</a:t>
            </a:r>
          </a:p>
          <a:p>
            <a:pPr lvl="1"/>
            <a:r>
              <a:rPr lang="en-IN" dirty="0"/>
              <a:t>Estimate realistic performance</a:t>
            </a:r>
          </a:p>
          <a:p>
            <a:pPr lvl="1"/>
            <a:r>
              <a:rPr lang="en-IN" dirty="0"/>
              <a:t>You throw away those k temporary models.</a:t>
            </a:r>
          </a:p>
          <a:p>
            <a:r>
              <a:rPr lang="en-IN" dirty="0"/>
              <a:t>Then you train </a:t>
            </a:r>
            <a:r>
              <a:rPr lang="en-IN" b="1" dirty="0"/>
              <a:t>one final model</a:t>
            </a:r>
            <a:r>
              <a:rPr lang="en-IN" dirty="0"/>
              <a:t> using:</a:t>
            </a:r>
          </a:p>
          <a:p>
            <a:pPr lvl="1"/>
            <a:r>
              <a:rPr lang="en-IN" dirty="0"/>
              <a:t>The </a:t>
            </a:r>
            <a:r>
              <a:rPr lang="en-IN" b="1" dirty="0"/>
              <a:t>exact same modeling procedure</a:t>
            </a:r>
            <a:r>
              <a:rPr lang="en-IN" dirty="0"/>
              <a:t> that performed best in cross-validation</a:t>
            </a:r>
          </a:p>
          <a:p>
            <a:pPr lvl="1"/>
            <a:r>
              <a:rPr lang="en-IN" b="1" dirty="0"/>
              <a:t>All available training data</a:t>
            </a:r>
            <a:r>
              <a:rPr lang="en-IN" dirty="0"/>
              <a:t> (no hold-out folds anymore)</a:t>
            </a:r>
          </a:p>
          <a:p>
            <a:pPr lvl="1"/>
            <a:r>
              <a:rPr lang="en-IN" dirty="0"/>
              <a:t>This final model has seen more data than any of the individual CV models → it usually generalizes slightly better and is the one you deploy to production.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16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generalization, overfitting and underfitting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75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196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Goal of Supervised Learning 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6609" y="1125415"/>
            <a:ext cx="8560191" cy="5528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Let's use the example of </a:t>
            </a:r>
            <a:r>
              <a:rPr lang="en-IN" dirty="0" smtClean="0"/>
              <a:t>someone</a:t>
            </a:r>
            <a:r>
              <a:rPr lang="en-IN" dirty="0"/>
              <a:t> preparing f</a:t>
            </a:r>
            <a:r>
              <a:rPr lang="en-IN" dirty="0" smtClean="0"/>
              <a:t>or</a:t>
            </a:r>
            <a:r>
              <a:rPr lang="en-IN" dirty="0"/>
              <a:t> </a:t>
            </a:r>
            <a:r>
              <a:rPr lang="en-IN" b="1" dirty="0" smtClean="0"/>
              <a:t>JEE</a:t>
            </a:r>
            <a:endParaRPr lang="en-IN" dirty="0"/>
          </a:p>
          <a:p>
            <a:pPr lvl="1"/>
            <a:r>
              <a:rPr lang="en-IN" b="1" dirty="0"/>
              <a:t>The Syllabus:</a:t>
            </a:r>
            <a:r>
              <a:rPr lang="en-IN" dirty="0"/>
              <a:t> The entire universe of Physics, Chemistry, and Math problems (the true function).</a:t>
            </a:r>
          </a:p>
          <a:p>
            <a:pPr lvl="1"/>
            <a:r>
              <a:rPr lang="en-IN" b="1" dirty="0"/>
              <a:t>The Coaching Material (Training Data):</a:t>
            </a:r>
            <a:r>
              <a:rPr lang="en-IN" dirty="0"/>
              <a:t> A set of practice problems and previous years' papers</a:t>
            </a:r>
            <a:r>
              <a:rPr lang="en-IN" dirty="0" smtClean="0"/>
              <a:t>.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dirty="0" smtClean="0"/>
              <a:t>Here the goal </a:t>
            </a:r>
            <a:r>
              <a:rPr lang="en-IN" dirty="0"/>
              <a:t>isn't to just solve the problems in his coaching material. It's to grasp the concepts so well that he can solve </a:t>
            </a:r>
            <a:r>
              <a:rPr lang="en-IN" b="1" dirty="0"/>
              <a:t>any</a:t>
            </a:r>
            <a:r>
              <a:rPr lang="en-IN" dirty="0"/>
              <a:t> new problem on exam day. How he studies determines his success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2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Overfitting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7886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The Hardworking Rote learner</a:t>
            </a:r>
          </a:p>
          <a:p>
            <a:pPr lvl="1"/>
            <a:r>
              <a:rPr lang="en-IN" dirty="0" smtClean="0"/>
              <a:t>Someone who doesnt bother understanding concepts and memorizes all Q&amp;As in the coaching Material. </a:t>
            </a:r>
          </a:p>
          <a:p>
            <a:pPr lvl="1"/>
            <a:r>
              <a:rPr lang="en-IN" dirty="0" smtClean="0"/>
              <a:t>He scores 100% on Coaching material Questions</a:t>
            </a:r>
          </a:p>
          <a:p>
            <a:pPr lvl="1"/>
            <a:r>
              <a:rPr lang="en-IN" dirty="0" smtClean="0"/>
              <a:t>Fares very poorly on JEE exam ( unseen data also referred as Test Data )</a:t>
            </a:r>
          </a:p>
          <a:p>
            <a:pPr marL="0" indent="0">
              <a:buNone/>
            </a:pPr>
            <a:r>
              <a:rPr lang="en-IN" dirty="0" smtClean="0"/>
              <a:t>Model has </a:t>
            </a:r>
            <a:r>
              <a:rPr lang="en-IN" b="1" i="1" dirty="0" smtClean="0"/>
              <a:t>memorized </a:t>
            </a:r>
            <a:r>
              <a:rPr lang="en-IN" dirty="0" smtClean="0"/>
              <a:t>the data and has made itself overtly </a:t>
            </a:r>
            <a:r>
              <a:rPr lang="en-IN" b="1" dirty="0" smtClean="0"/>
              <a:t>complex</a:t>
            </a:r>
            <a:r>
              <a:rPr lang="en-IN" dirty="0" smtClean="0"/>
              <a:t> to </a:t>
            </a:r>
            <a:r>
              <a:rPr lang="en-IN" b="1" i="1" dirty="0" smtClean="0"/>
              <a:t>overfit training data </a:t>
            </a:r>
            <a:r>
              <a:rPr lang="en-IN" i="1" dirty="0" smtClean="0"/>
              <a:t>to </a:t>
            </a:r>
            <a:r>
              <a:rPr lang="en-IN" dirty="0" smtClean="0"/>
              <a:t>capture even the accidental mistakes (aka </a:t>
            </a:r>
            <a:r>
              <a:rPr lang="en-IN" b="1" i="1" dirty="0" smtClean="0"/>
              <a:t>noise</a:t>
            </a:r>
            <a:r>
              <a:rPr lang="en-IN" dirty="0" smtClean="0"/>
              <a:t>)  made in Coaching Material. </a:t>
            </a:r>
          </a:p>
        </p:txBody>
      </p:sp>
    </p:spTree>
    <p:extLst>
      <p:ext uri="{BB962C8B-B14F-4D97-AF65-F5344CB8AC3E}">
        <p14:creationId xmlns:p14="http://schemas.microsoft.com/office/powerpoint/2010/main" val="3954204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Underfitting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2803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The Lazy Skip </a:t>
            </a:r>
            <a:r>
              <a:rPr lang="en-IN" dirty="0"/>
              <a:t>L</a:t>
            </a:r>
            <a:r>
              <a:rPr lang="en-IN" dirty="0" smtClean="0"/>
              <a:t>earner </a:t>
            </a:r>
          </a:p>
          <a:p>
            <a:pPr lvl="1"/>
            <a:r>
              <a:rPr lang="en-IN" dirty="0" smtClean="0"/>
              <a:t>Someone who skims through chapters, tries to understand the basic equations ( F = ma, GMM/r^2 etc. ) and does few simple problems</a:t>
            </a:r>
          </a:p>
          <a:p>
            <a:pPr lvl="1"/>
            <a:r>
              <a:rPr lang="en-IN" dirty="0" smtClean="0"/>
              <a:t>He fares badly on Coaching Material Questions</a:t>
            </a:r>
          </a:p>
          <a:p>
            <a:pPr lvl="1"/>
            <a:r>
              <a:rPr lang="en-IN" dirty="0" smtClean="0"/>
              <a:t>He fares even worse on JEE ( Test Data )</a:t>
            </a:r>
          </a:p>
          <a:p>
            <a:pPr marL="457200" lvl="1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Model is </a:t>
            </a:r>
            <a:r>
              <a:rPr lang="en-IN" i="1" dirty="0" smtClean="0"/>
              <a:t>overtly </a:t>
            </a:r>
            <a:r>
              <a:rPr lang="en-IN" b="1" dirty="0" smtClean="0"/>
              <a:t>simple </a:t>
            </a:r>
            <a:r>
              <a:rPr lang="en-IN" dirty="0" smtClean="0"/>
              <a:t>(e.g. </a:t>
            </a:r>
            <a:r>
              <a:rPr lang="en-IN" dirty="0"/>
              <a:t>l</a:t>
            </a:r>
            <a:r>
              <a:rPr lang="en-IN" dirty="0" smtClean="0"/>
              <a:t>inear or constant) to capture the pattern. It neither fits training data nor test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93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Good Fit/Generalization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Smart Learner</a:t>
            </a:r>
          </a:p>
          <a:p>
            <a:pPr lvl="1"/>
            <a:r>
              <a:rPr lang="en-IN" dirty="0" smtClean="0"/>
              <a:t>Someone who first understands concepts and then tries to apply concepts to solve the problems</a:t>
            </a:r>
          </a:p>
          <a:p>
            <a:pPr lvl="1"/>
            <a:r>
              <a:rPr lang="en-IN" dirty="0" smtClean="0"/>
              <a:t>Fares decent on Practice Problem. Makes few errors, but can apply concept to solve problems. His training error is low</a:t>
            </a:r>
          </a:p>
          <a:p>
            <a:pPr lvl="1"/>
            <a:r>
              <a:rPr lang="en-IN" dirty="0" smtClean="0"/>
              <a:t>Since he applies concepts and doesnt memorize, does ok on unseen problems with few testing errors</a:t>
            </a:r>
          </a:p>
          <a:p>
            <a:r>
              <a:rPr lang="en-IN" dirty="0" smtClean="0"/>
              <a:t>This is the sweet spot. 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18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56" y="2518116"/>
            <a:ext cx="8039686" cy="278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721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Concept of Generalization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Generalization means performing well on unseen data.</a:t>
            </a:r>
          </a:p>
          <a:p>
            <a:endParaRPr dirty="0"/>
          </a:p>
          <a:p>
            <a:r>
              <a:rPr dirty="0"/>
              <a:t>Good model</a:t>
            </a:r>
            <a:r>
              <a:rPr dirty="0" smtClean="0"/>
              <a:t>:</a:t>
            </a:r>
            <a:endParaRPr dirty="0"/>
          </a:p>
          <a:p>
            <a:pPr lvl="1"/>
            <a:r>
              <a:rPr dirty="0"/>
              <a:t>Low training error</a:t>
            </a:r>
          </a:p>
          <a:p>
            <a:pPr lvl="1"/>
            <a:r>
              <a:rPr b="1" dirty="0"/>
              <a:t>Low testing error</a:t>
            </a:r>
          </a:p>
          <a:p>
            <a:endParaRPr dirty="0"/>
          </a:p>
          <a:p>
            <a:r>
              <a:rPr dirty="0"/>
              <a:t>Goal: learn patterns, not memorize examples.</a:t>
            </a:r>
          </a:p>
        </p:txBody>
      </p:sp>
    </p:spTree>
    <p:extLst>
      <p:ext uri="{BB962C8B-B14F-4D97-AF65-F5344CB8AC3E}">
        <p14:creationId xmlns:p14="http://schemas.microsoft.com/office/powerpoint/2010/main" val="77045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: Chai wala Prediction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008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 smtClean="0"/>
              <a:t>You </a:t>
            </a:r>
            <a:r>
              <a:rPr lang="en-IN" dirty="0"/>
              <a:t>want to predict the number of cups of chai </a:t>
            </a:r>
            <a:r>
              <a:rPr lang="en-IN" dirty="0" smtClean="0"/>
              <a:t>sold </a:t>
            </a:r>
            <a:r>
              <a:rPr lang="en-IN" dirty="0"/>
              <a:t>based on the temperature in degrees Celsius (x).</a:t>
            </a:r>
          </a:p>
          <a:p>
            <a:pPr lvl="1"/>
            <a:r>
              <a:rPr lang="en-IN" b="1" dirty="0"/>
              <a:t>True Trend:</a:t>
            </a:r>
            <a:r>
              <a:rPr lang="en-IN" dirty="0"/>
              <a:t> As temperature rises, chai sales slowly decrease </a:t>
            </a:r>
            <a:r>
              <a:rPr lang="en-IN" dirty="0" smtClean="0"/>
              <a:t>(prefers  cold </a:t>
            </a:r>
            <a:r>
              <a:rPr lang="en-IN" dirty="0"/>
              <a:t>drinks), but sales are never zero.</a:t>
            </a:r>
          </a:p>
          <a:p>
            <a:pPr lvl="1"/>
            <a:r>
              <a:rPr lang="en-IN" b="1" dirty="0"/>
              <a:t>Our Data (Training Set):</a:t>
            </a:r>
            <a:r>
              <a:rPr lang="en-IN" dirty="0"/>
              <a:t> </a:t>
            </a:r>
            <a:endParaRPr lang="en-IN" dirty="0" smtClean="0"/>
          </a:p>
          <a:p>
            <a:pPr lvl="1"/>
            <a:r>
              <a:rPr lang="en-IN" dirty="0" smtClean="0"/>
              <a:t>We </a:t>
            </a:r>
            <a:r>
              <a:rPr lang="en-IN" dirty="0"/>
              <a:t>collect data for 5</a:t>
            </a:r>
            <a:r>
              <a:rPr lang="en-IN" dirty="0" smtClean="0"/>
              <a:t> </a:t>
            </a:r>
            <a:r>
              <a:rPr lang="en-IN" dirty="0"/>
              <a:t>days.</a:t>
            </a:r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 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181638"/>
              </p:ext>
            </p:extLst>
          </p:nvPr>
        </p:nvGraphicFramePr>
        <p:xfrm>
          <a:off x="4839287" y="3615397"/>
          <a:ext cx="4051495" cy="295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4642"/>
                <a:gridCol w="709413"/>
                <a:gridCol w="1055076"/>
                <a:gridCol w="1322364"/>
              </a:tblGrid>
              <a:tr h="72316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 dirty="0">
                          <a:effectLst/>
                        </a:rPr>
                        <a:t>Day 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 dirty="0" smtClean="0">
                          <a:effectLst/>
                        </a:rPr>
                        <a:t>Tmp (°</a:t>
                      </a:r>
                      <a:r>
                        <a:rPr lang="en-IN" sz="1800" b="1" u="none" strike="noStrike" dirty="0">
                          <a:effectLst/>
                        </a:rPr>
                        <a:t>C)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 dirty="0">
                          <a:effectLst/>
                        </a:rPr>
                        <a:t>Cups </a:t>
                      </a:r>
                      <a:r>
                        <a:rPr lang="en-IN" sz="1800" b="1" u="none" strike="noStrike" dirty="0" smtClean="0">
                          <a:effectLst/>
                        </a:rPr>
                        <a:t> Sold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 dirty="0">
                          <a:effectLst/>
                        </a:rPr>
                        <a:t>Notes</a:t>
                      </a:r>
                      <a:endParaRPr lang="en-IN" sz="1800" b="1" i="0" u="none" strike="noStrike" dirty="0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/>
                </a:tc>
              </a:tr>
              <a:tr h="32512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Day 1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15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100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/>
                </a:tc>
              </a:tr>
              <a:tr h="32512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Day 2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16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98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/>
                </a:tc>
              </a:tr>
              <a:tr h="61277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Day 3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15.5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101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b="1" i="0" u="none" strike="noStrike" dirty="0" smtClean="0">
                          <a:solidFill>
                            <a:srgbClr val="0A0A0A"/>
                          </a:solidFill>
                          <a:effectLst/>
                          <a:latin typeface="Arial"/>
                        </a:rPr>
                        <a:t>Wedding party,</a:t>
                      </a:r>
                      <a:r>
                        <a:rPr lang="en-IN" sz="1600" b="1" i="0" u="none" strike="noStrike" baseline="0" dirty="0" smtClean="0">
                          <a:solidFill>
                            <a:srgbClr val="0A0A0A"/>
                          </a:solidFill>
                          <a:effectLst/>
                          <a:latin typeface="Arial"/>
                        </a:rPr>
                        <a:t> Noise</a:t>
                      </a:r>
                      <a:endParaRPr lang="en-IN" sz="1600" b="1" i="0" u="none" strike="noStrike" dirty="0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/>
                </a:tc>
              </a:tr>
              <a:tr h="32512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Day 4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25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70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 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/>
                </a:tc>
              </a:tr>
              <a:tr h="642896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b="1" u="none" strike="noStrike">
                          <a:effectLst/>
                        </a:rPr>
                        <a:t>Day 5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26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IN" sz="1800" b="1" u="none" strike="noStrike">
                          <a:effectLst/>
                        </a:rPr>
                        <a:t>68</a:t>
                      </a:r>
                      <a:endParaRPr lang="en-IN" sz="1800" b="1" i="0" u="none" strike="noStrike">
                        <a:solidFill>
                          <a:srgbClr val="0A0A0A"/>
                        </a:solidFill>
                        <a:effectLst/>
                        <a:latin typeface="Arial"/>
                      </a:endParaRPr>
                    </a:p>
                  </a:txBody>
                  <a:tcPr marL="95250" marR="6350" marT="635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3600" b="1" u="none" strike="noStrike" dirty="0">
                          <a:effectLst/>
                        </a:rPr>
                        <a:t> </a:t>
                      </a:r>
                      <a:endParaRPr lang="en-IN" sz="3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62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1692"/>
            <a:ext cx="8229600" cy="637266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/>
              <a:t>Underfitting:</a:t>
            </a:r>
            <a:r>
              <a:rPr lang="en-IN" dirty="0"/>
              <a:t> A horizontal line predicting 85 cups for </a:t>
            </a:r>
            <a:r>
              <a:rPr lang="en-IN" i="1" dirty="0"/>
              <a:t>every</a:t>
            </a:r>
            <a:r>
              <a:rPr lang="en-IN" dirty="0"/>
              <a:t> temperature.</a:t>
            </a:r>
          </a:p>
          <a:p>
            <a:pPr lvl="1"/>
            <a:r>
              <a:rPr lang="en-IN" i="1" dirty="0"/>
              <a:t>Problem:</a:t>
            </a:r>
            <a:r>
              <a:rPr lang="en-IN" dirty="0"/>
              <a:t> Ignores the temperature trend entirely. High error everywhere.</a:t>
            </a:r>
          </a:p>
          <a:p>
            <a:r>
              <a:rPr lang="en-IN" b="1" dirty="0" smtClean="0"/>
              <a:t>Overfitting:</a:t>
            </a:r>
            <a:r>
              <a:rPr lang="en-IN" dirty="0"/>
              <a:t> A highly complex squiggle that passes through Day 1, Day 2, and Day 3 perfectly, creating a huge spike at 15.5°C because of the "wedding noise."</a:t>
            </a:r>
          </a:p>
          <a:p>
            <a:pPr lvl="1"/>
            <a:r>
              <a:rPr lang="en-IN" i="1" dirty="0"/>
              <a:t>Problem:</a:t>
            </a:r>
            <a:r>
              <a:rPr lang="en-IN" dirty="0"/>
              <a:t> It thinks 15.5°C is a special day for chai, but next time it's 15.5°C, there may not be a wedding. It will be wildly wrong.</a:t>
            </a:r>
          </a:p>
          <a:p>
            <a:r>
              <a:rPr lang="en-IN" b="1" dirty="0" smtClean="0"/>
              <a:t>Good Generalization:</a:t>
            </a:r>
            <a:r>
              <a:rPr lang="en-IN" dirty="0"/>
              <a:t> A smooth, gently sloping line that starts at ~100 cups at 15°C and ends at ~60 cups at 30°C. It ignores the "wedding spike" as noise.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91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Analyzing the fitting-ness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198339"/>
              </p:ext>
            </p:extLst>
          </p:nvPr>
        </p:nvGraphicFramePr>
        <p:xfrm>
          <a:off x="154747" y="1557102"/>
          <a:ext cx="8820440" cy="4543203"/>
        </p:xfrm>
        <a:graphic>
          <a:graphicData uri="http://schemas.openxmlformats.org/drawingml/2006/table">
            <a:tbl>
              <a:tblPr/>
              <a:tblGrid>
                <a:gridCol w="1252022"/>
                <a:gridCol w="970671"/>
                <a:gridCol w="998806"/>
                <a:gridCol w="1491176"/>
                <a:gridCol w="1463040"/>
                <a:gridCol w="2644725"/>
              </a:tblGrid>
              <a:tr h="661487"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effectLst/>
                          <a:latin typeface="quote-cjk-patch"/>
                        </a:rPr>
                        <a:t>Symptom</a:t>
                      </a:r>
                    </a:p>
                  </a:txBody>
                  <a:tcPr marL="89525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effectLst/>
                          <a:latin typeface="quote-cjk-patch"/>
                        </a:rPr>
                        <a:t>Training Accuracy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effectLst/>
                          <a:latin typeface="quote-cjk-patch"/>
                        </a:rPr>
                        <a:t>Validation Accuracy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 smtClean="0">
                          <a:effectLst/>
                          <a:latin typeface="quote-cjk-patch"/>
                        </a:rPr>
                        <a:t>Generalization Gap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effectLst/>
                          <a:latin typeface="quote-cjk-patch"/>
                        </a:rPr>
                        <a:t>Diagnosis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effectLst/>
                          <a:latin typeface="quote-cjk-patch"/>
                        </a:rPr>
                        <a:t>Prescription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67208"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quote-cjk-patch"/>
                        </a:rPr>
                        <a:t>Underfitting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9525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  <a:latin typeface="quote-cjk-patch"/>
                        </a:rPr>
                        <a:t>Low</a:t>
                      </a:r>
                      <a:r>
                        <a:rPr lang="en-IN" sz="1800" b="0" dirty="0"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effectLst/>
                          <a:latin typeface="quote-cjk-patch"/>
                        </a:rPr>
                        <a:t>Low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quote-cjk-patch"/>
                        </a:rPr>
                        <a:t>Small Gap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  <a:latin typeface="quote-cjk-patch"/>
                        </a:rPr>
                        <a:t>High Bias</a:t>
                      </a:r>
                      <a:r>
                        <a:rPr lang="en-IN" sz="1800" b="0" dirty="0">
                          <a:effectLst/>
                          <a:latin typeface="quote-cjk-patch"/>
                        </a:rPr>
                        <a:t> (Model too simple)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quote-cjk-patch"/>
                        </a:rPr>
                        <a:t>Add parameters, add features, reduce </a:t>
                      </a:r>
                      <a:r>
                        <a:rPr lang="el-GR" sz="1800" b="0">
                          <a:effectLst/>
                          <a:latin typeface="quote-cjk-patch"/>
                        </a:rPr>
                        <a:t>λ.</a:t>
                      </a:r>
                    </a:p>
                  </a:txBody>
                  <a:tcPr marL="99472" marR="89525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467208"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quote-cjk-patch"/>
                        </a:rPr>
                        <a:t>Overfitting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9525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92D050"/>
                          </a:solidFill>
                          <a:effectLst/>
                          <a:latin typeface="quote-cjk-patch"/>
                        </a:rPr>
                        <a:t>High</a:t>
                      </a:r>
                      <a:r>
                        <a:rPr lang="en-IN" sz="1800" b="0" dirty="0"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effectLst/>
                          <a:latin typeface="quote-cjk-patch"/>
                        </a:rPr>
                        <a:t>Low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  <a:latin typeface="quote-cjk-patch"/>
                        </a:rPr>
                        <a:t>Large Gap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  <a:latin typeface="quote-cjk-patch"/>
                        </a:rPr>
                        <a:t>High Variance</a:t>
                      </a:r>
                      <a:r>
                        <a:rPr lang="en-IN" sz="1800" b="0" dirty="0">
                          <a:effectLst/>
                          <a:latin typeface="quote-cjk-patch"/>
                        </a:rPr>
                        <a:t> </a:t>
                      </a:r>
                      <a:r>
                        <a:rPr lang="en-IN" sz="1800" b="0" baseline="0" dirty="0" smtClean="0">
                          <a:effectLst/>
                          <a:latin typeface="quote-cjk-patch"/>
                        </a:rPr>
                        <a:t>  </a:t>
                      </a:r>
                      <a:r>
                        <a:rPr lang="en-IN" sz="1800" b="0" dirty="0" smtClean="0">
                          <a:effectLst/>
                          <a:latin typeface="quote-cjk-patch"/>
                        </a:rPr>
                        <a:t>Memorizing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quote-cjk-patch"/>
                        </a:rPr>
                        <a:t>Get more data, increase </a:t>
                      </a:r>
                      <a:r>
                        <a:rPr lang="el-GR" sz="1800" b="0">
                          <a:effectLst/>
                          <a:latin typeface="quote-cjk-patch"/>
                        </a:rPr>
                        <a:t>λ, </a:t>
                      </a:r>
                      <a:r>
                        <a:rPr lang="en-IN" sz="1800" b="0">
                          <a:effectLst/>
                          <a:latin typeface="quote-cjk-patch"/>
                        </a:rPr>
                        <a:t>simplify model.</a:t>
                      </a:r>
                    </a:p>
                  </a:txBody>
                  <a:tcPr marL="99472" marR="89525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30060"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quote-cjk-patch"/>
                        </a:rPr>
                        <a:t>Just Right</a:t>
                      </a:r>
                      <a:endParaRPr lang="en-IN" sz="1400" b="0" dirty="0">
                        <a:effectLst/>
                        <a:latin typeface="quote-cjk-patch"/>
                      </a:endParaRPr>
                    </a:p>
                  </a:txBody>
                  <a:tcPr marL="89525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  <a:latin typeface="quote-cjk-patch"/>
                        </a:rPr>
                        <a:t>High</a:t>
                      </a:r>
                      <a:r>
                        <a:rPr lang="en-IN" sz="1800" b="0" dirty="0">
                          <a:effectLst/>
                          <a:latin typeface="quote-cjk-patch"/>
                        </a:rPr>
                        <a:t> 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 smtClean="0">
                          <a:effectLst/>
                          <a:latin typeface="quote-cjk-patch"/>
                        </a:rPr>
                        <a:t>High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>
                          <a:effectLst/>
                          <a:latin typeface="quote-cjk-patch"/>
                        </a:rPr>
                        <a:t>Small Gap</a:t>
                      </a: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effectLst/>
                          <a:latin typeface="quote-cjk-patch"/>
                        </a:rPr>
                        <a:t>Good Generalization</a:t>
                      </a:r>
                      <a:endParaRPr lang="en-IN" sz="1800" b="0" dirty="0">
                        <a:effectLst/>
                        <a:latin typeface="quote-cjk-patch"/>
                      </a:endParaRPr>
                    </a:p>
                  </a:txBody>
                  <a:tcPr marL="99472" marR="99472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effectLst/>
                          <a:latin typeface="quote-cjk-patch"/>
                        </a:rPr>
                        <a:t>Deploy the model!</a:t>
                      </a:r>
                    </a:p>
                  </a:txBody>
                  <a:tcPr marL="99472" marR="89525" marT="62170" marB="62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36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4168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Models with increasing complexity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164420"/>
            <a:ext cx="4667877" cy="2743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27153"/>
            <a:ext cx="3770461" cy="1881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422" y="4027153"/>
            <a:ext cx="3850616" cy="1881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97280" y="6159863"/>
            <a:ext cx="2187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Polynomial(degree 2)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258973" y="6127597"/>
            <a:ext cx="2187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Polynomial(degree 3)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147906" y="1941341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Linear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840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Diagnose &amp; Fix Underfitting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8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Start with a Simple Model </a:t>
            </a:r>
          </a:p>
          <a:p>
            <a:r>
              <a:rPr lang="en-IN" dirty="0" smtClean="0"/>
              <a:t>Detection </a:t>
            </a:r>
            <a:r>
              <a:rPr lang="en-IN" dirty="0" smtClean="0">
                <a:sym typeface="Wingdings" pitchFamily="2" charset="2"/>
              </a:rPr>
              <a:t> </a:t>
            </a:r>
            <a:r>
              <a:rPr lang="en-IN" dirty="0" smtClean="0"/>
              <a:t>Math signature of underfitting</a:t>
            </a:r>
          </a:p>
          <a:p>
            <a:pPr lvl="1"/>
            <a:r>
              <a:rPr lang="en-IN" dirty="0" smtClean="0"/>
              <a:t>High Training Error </a:t>
            </a:r>
          </a:p>
          <a:p>
            <a:pPr lvl="2"/>
            <a:r>
              <a:rPr lang="en-IN" dirty="0"/>
              <a:t>Is the model failing to learn even the training data</a:t>
            </a:r>
            <a:r>
              <a:rPr lang="en-IN" dirty="0" smtClean="0"/>
              <a:t>?</a:t>
            </a:r>
          </a:p>
          <a:p>
            <a:r>
              <a:rPr lang="en-IN" dirty="0" smtClean="0"/>
              <a:t>If yes Increase Model Complexity </a:t>
            </a:r>
          </a:p>
          <a:p>
            <a:pPr lvl="1"/>
            <a:r>
              <a:rPr lang="en-IN" b="1" dirty="0" smtClean="0"/>
              <a:t>Fix 1. Add </a:t>
            </a:r>
            <a:r>
              <a:rPr lang="en-IN" b="1" dirty="0"/>
              <a:t>more </a:t>
            </a:r>
            <a:r>
              <a:rPr lang="en-IN" b="1" dirty="0" smtClean="0"/>
              <a:t>model parameters</a:t>
            </a:r>
            <a:endParaRPr lang="en-IN" b="1" dirty="0"/>
          </a:p>
          <a:p>
            <a:pPr lvl="2"/>
            <a:r>
              <a:rPr lang="en-IN" i="1" dirty="0"/>
              <a:t>Example:</a:t>
            </a:r>
            <a:r>
              <a:rPr lang="en-IN" dirty="0"/>
              <a:t> Go from a Linear Model y = wx + b (2 parameters) to a Polynomial Model y = w1x + w2x² + b (3 parameters). More parameters mean more flexibility to fit curves.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34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Tunable Parameters in ML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72197" y="2686929"/>
            <a:ext cx="914400" cy="2672861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Input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888481" y="2461845"/>
            <a:ext cx="914400" cy="289794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Output</a:t>
            </a:r>
            <a:endParaRPr lang="en-IN" dirty="0"/>
          </a:p>
        </p:txBody>
      </p:sp>
      <p:sp>
        <p:nvSpPr>
          <p:cNvPr id="6" name="Hexagon 5"/>
          <p:cNvSpPr/>
          <p:nvPr/>
        </p:nvSpPr>
        <p:spPr>
          <a:xfrm>
            <a:off x="2060918" y="2686929"/>
            <a:ext cx="1927274" cy="2672861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Feature Engineering</a:t>
            </a:r>
            <a:endParaRPr lang="en-IN" dirty="0"/>
          </a:p>
        </p:txBody>
      </p:sp>
      <p:sp>
        <p:nvSpPr>
          <p:cNvPr id="8" name="Diamond 7"/>
          <p:cNvSpPr/>
          <p:nvPr/>
        </p:nvSpPr>
        <p:spPr>
          <a:xfrm>
            <a:off x="4614202" y="2461845"/>
            <a:ext cx="1800665" cy="2897945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Model</a:t>
            </a:r>
            <a:endParaRPr lang="en-IN" dirty="0"/>
          </a:p>
        </p:txBody>
      </p:sp>
      <p:sp>
        <p:nvSpPr>
          <p:cNvPr id="9" name="Right Arrow 8"/>
          <p:cNvSpPr/>
          <p:nvPr/>
        </p:nvSpPr>
        <p:spPr>
          <a:xfrm>
            <a:off x="710419" y="5655212"/>
            <a:ext cx="7345681" cy="28135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1045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Increase Model Complexity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8229600" cy="5444197"/>
          </a:xfrm>
        </p:spPr>
        <p:txBody>
          <a:bodyPr>
            <a:normAutofit/>
          </a:bodyPr>
          <a:lstStyle/>
          <a:p>
            <a:r>
              <a:rPr lang="en-IN" b="1" dirty="0"/>
              <a:t>Fix 2: Feature Engineering (The Kernel Trick</a:t>
            </a:r>
            <a:r>
              <a:rPr lang="en-IN" b="1" dirty="0" smtClean="0"/>
              <a:t>) </a:t>
            </a:r>
          </a:p>
          <a:p>
            <a:pPr lvl="1"/>
            <a:r>
              <a:rPr lang="en-IN" dirty="0" smtClean="0"/>
              <a:t>Increase Feature Dimensionality </a:t>
            </a:r>
          </a:p>
          <a:p>
            <a:pPr lvl="1"/>
            <a:r>
              <a:rPr lang="en-IN" dirty="0" smtClean="0"/>
              <a:t>Transform </a:t>
            </a:r>
            <a:r>
              <a:rPr lang="en-IN" dirty="0"/>
              <a:t>the input space to make the pattern easier to find.</a:t>
            </a:r>
          </a:p>
          <a:p>
            <a:pPr lvl="1"/>
            <a:r>
              <a:rPr lang="en-IN" i="1" dirty="0"/>
              <a:t>Math:</a:t>
            </a:r>
            <a:r>
              <a:rPr lang="en-IN" dirty="0"/>
              <a:t> If your data isn't linearly separable, project it into a higher dimension.</a:t>
            </a:r>
          </a:p>
          <a:p>
            <a:pPr lvl="1"/>
            <a:r>
              <a:rPr lang="en-IN" i="1" dirty="0"/>
              <a:t>Example:</a:t>
            </a:r>
            <a:r>
              <a:rPr lang="en-IN" dirty="0"/>
              <a:t> Adding </a:t>
            </a:r>
            <a:r>
              <a:rPr lang="en-IN" dirty="0" smtClean="0"/>
              <a:t>a feature</a:t>
            </a:r>
            <a:r>
              <a:rPr lang="en-IN" dirty="0"/>
              <a:t> </a:t>
            </a:r>
            <a:r>
              <a:rPr lang="en-IN" dirty="0" smtClean="0"/>
              <a:t>x1²</a:t>
            </a:r>
            <a:r>
              <a:rPr lang="en-IN" dirty="0"/>
              <a:t> </a:t>
            </a:r>
            <a:r>
              <a:rPr lang="en-IN" dirty="0" smtClean="0"/>
              <a:t>or</a:t>
            </a:r>
            <a:r>
              <a:rPr lang="en-IN" dirty="0"/>
              <a:t> </a:t>
            </a:r>
            <a:r>
              <a:rPr lang="en-IN" dirty="0" smtClean="0"/>
              <a:t>x1*x2, the interaction terms can </a:t>
            </a:r>
            <a:r>
              <a:rPr lang="en-IN" dirty="0"/>
              <a:t>turn a non-linear problem in 2D into a linear one in 3D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31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2313781"/>
            <a:ext cx="5537200" cy="30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8960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21" y="1491174"/>
            <a:ext cx="8820445" cy="481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127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Physical Intuition ( Why does it work 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0089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You are trading mathematical complexity for geometrical Complexity </a:t>
            </a:r>
          </a:p>
          <a:p>
            <a:r>
              <a:rPr lang="en-IN" dirty="0" smtClean="0"/>
              <a:t>Untie a messy knot </a:t>
            </a:r>
          </a:p>
          <a:p>
            <a:pPr lvl="1"/>
            <a:r>
              <a:rPr lang="en-IN" dirty="0" smtClean="0"/>
              <a:t>Simply use  your fingers (1D)</a:t>
            </a:r>
          </a:p>
          <a:p>
            <a:pPr lvl="1"/>
            <a:r>
              <a:rPr lang="en-IN" dirty="0" smtClean="0"/>
              <a:t>Put it on a Table  ( 2D ) </a:t>
            </a:r>
          </a:p>
          <a:p>
            <a:pPr lvl="1"/>
            <a:r>
              <a:rPr lang="en-IN" dirty="0" smtClean="0"/>
              <a:t>Hang it over strings (3D)</a:t>
            </a:r>
          </a:p>
          <a:p>
            <a:r>
              <a:rPr lang="en-IN" dirty="0" smtClean="0"/>
              <a:t>Stretching the distance </a:t>
            </a:r>
          </a:p>
          <a:p>
            <a:pPr lvl="1"/>
            <a:r>
              <a:rPr lang="en-IN" dirty="0" smtClean="0"/>
              <a:t>I</a:t>
            </a:r>
            <a:r>
              <a:rPr lang="en-IN" dirty="0"/>
              <a:t>n the 2D image, the red and blue dots are "on top of each other" from the perspective of a straight line. By adding a new feature </a:t>
            </a:r>
            <a:r>
              <a:rPr lang="en-IN" dirty="0" smtClean="0"/>
              <a:t>like z = x1^2 + x2^2 </a:t>
            </a:r>
            <a:r>
              <a:rPr lang="en-IN" dirty="0"/>
              <a:t>you are essentially reorganizing the data based on a specific characteristic </a:t>
            </a:r>
          </a:p>
          <a:p>
            <a:pPr lvl="1"/>
            <a:r>
              <a:rPr lang="en-IN" dirty="0"/>
              <a:t>This transformation "pushes" the blue dots up and keeps the red dots down.</a:t>
            </a:r>
          </a:p>
          <a:p>
            <a:pPr lvl="1"/>
            <a:r>
              <a:rPr lang="en-IN" dirty="0"/>
              <a:t>Because they are now at different "heights," the gap between them becomes massive and easy to find.</a:t>
            </a:r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38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015"/>
            <a:ext cx="8229600" cy="647113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Turning </a:t>
            </a:r>
            <a:r>
              <a:rPr lang="en-IN" b="1" dirty="0" smtClean="0"/>
              <a:t>Curves ( x^2) </a:t>
            </a:r>
            <a:r>
              <a:rPr lang="en-IN" b="1" dirty="0"/>
              <a:t>into Flat </a:t>
            </a:r>
            <a:r>
              <a:rPr lang="en-IN" b="1" dirty="0" smtClean="0"/>
              <a:t>( z) Surfaces</a:t>
            </a:r>
            <a:endParaRPr lang="en-IN" b="1" dirty="0"/>
          </a:p>
          <a:p>
            <a:pPr lvl="1"/>
            <a:r>
              <a:rPr lang="en-IN" dirty="0" smtClean="0"/>
              <a:t>When </a:t>
            </a:r>
            <a:r>
              <a:rPr lang="en-IN" dirty="0"/>
              <a:t>you explicitly include those higher-order terms as their own dimensions (like the </a:t>
            </a:r>
            <a:r>
              <a:rPr lang="en-IN" dirty="0" smtClean="0"/>
              <a:t>Z</a:t>
            </a:r>
            <a:r>
              <a:rPr lang="en-IN" dirty="0"/>
              <a:t> axis), you've already done the "curvy" work.</a:t>
            </a:r>
          </a:p>
          <a:p>
            <a:pPr lvl="1"/>
            <a:r>
              <a:rPr lang="en-IN" dirty="0"/>
              <a:t>The model doesn't have to "bend" the decision boundary anymore because the data itself has been "unbent" into a different space</a:t>
            </a:r>
            <a:r>
              <a:rPr lang="en-IN" dirty="0" smtClean="0"/>
              <a:t>.</a:t>
            </a:r>
          </a:p>
          <a:p>
            <a:pPr lvl="1"/>
            <a:endParaRPr lang="en-IN" dirty="0" smtClean="0"/>
          </a:p>
          <a:p>
            <a:r>
              <a:rPr lang="en-IN" b="1" dirty="0"/>
              <a:t>The "Shadow" </a:t>
            </a:r>
            <a:r>
              <a:rPr lang="en-IN" b="1" dirty="0" smtClean="0"/>
              <a:t>Analogy</a:t>
            </a:r>
          </a:p>
          <a:p>
            <a:pPr lvl="1"/>
            <a:r>
              <a:rPr lang="en-IN" dirty="0"/>
              <a:t>The </a:t>
            </a:r>
            <a:r>
              <a:rPr lang="en-IN" b="1" dirty="0"/>
              <a:t>3D Decision Boundary</a:t>
            </a:r>
            <a:r>
              <a:rPr lang="en-IN" dirty="0"/>
              <a:t> is a simple, flat sheet of glass (a linear hyperplane) cutting through the bowl.</a:t>
            </a:r>
          </a:p>
          <a:p>
            <a:pPr lvl="1"/>
            <a:r>
              <a:rPr lang="en-IN" dirty="0"/>
              <a:t>The </a:t>
            </a:r>
            <a:r>
              <a:rPr lang="en-IN" b="1" dirty="0"/>
              <a:t>2D Decision Boundary</a:t>
            </a:r>
            <a:r>
              <a:rPr lang="en-IN" dirty="0"/>
              <a:t> is just the </a:t>
            </a:r>
            <a:r>
              <a:rPr lang="en-IN" b="1" dirty="0"/>
              <a:t>shadow</a:t>
            </a:r>
            <a:r>
              <a:rPr lang="en-IN" dirty="0"/>
              <a:t> of where that glass hits the bowl</a:t>
            </a:r>
            <a:r>
              <a:rPr lang="en-IN" dirty="0" smtClean="0"/>
              <a:t>.</a:t>
            </a:r>
          </a:p>
          <a:p>
            <a:pPr lvl="1"/>
            <a:r>
              <a:rPr lang="en-IN" dirty="0"/>
              <a:t>Even though the "shadow" on the ground looks like a complex circle, the actual "cut" in the 3D space was perfectly flat and simple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51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Increase Model </a:t>
            </a:r>
            <a:r>
              <a:rPr lang="en-IN" dirty="0" smtClean="0"/>
              <a:t>Complexity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Fix 3: Train for More Epochs / Increase Model Capacity</a:t>
            </a:r>
            <a:endParaRPr lang="en-IN" dirty="0"/>
          </a:p>
          <a:p>
            <a:pPr lvl="1"/>
            <a:r>
              <a:rPr lang="en-IN" dirty="0"/>
              <a:t>You might have just stopped training too early. Let the optimizer run longer.</a:t>
            </a:r>
          </a:p>
          <a:p>
            <a:endParaRPr lang="en-IN" b="1" dirty="0" smtClean="0"/>
          </a:p>
          <a:p>
            <a:r>
              <a:rPr lang="en-IN" b="1" dirty="0" smtClean="0"/>
              <a:t>Fix </a:t>
            </a:r>
            <a:r>
              <a:rPr lang="en-IN" b="1" dirty="0"/>
              <a:t>4: Reduce (or Remove) Regularization</a:t>
            </a:r>
            <a:endParaRPr lang="en-IN" dirty="0"/>
          </a:p>
          <a:p>
            <a:pPr lvl="1"/>
            <a:r>
              <a:rPr lang="en-IN" dirty="0"/>
              <a:t>Will Discuss Regularization in detail l </a:t>
            </a:r>
            <a:r>
              <a:rPr lang="en-IN" dirty="0" smtClean="0"/>
              <a:t>later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b="1" i="1" dirty="0"/>
              <a:t>Goal : To bring down the Training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63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Diagnose &amp; Fix Overfitting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Detection </a:t>
            </a:r>
            <a:r>
              <a:rPr lang="en-IN" dirty="0" smtClean="0">
                <a:sym typeface="Wingdings" pitchFamily="2" charset="2"/>
              </a:rPr>
              <a:t> Math signature of Overfitting</a:t>
            </a:r>
          </a:p>
          <a:p>
            <a:pPr lvl="1"/>
            <a:r>
              <a:rPr lang="en-IN" dirty="0" smtClean="0">
                <a:sym typeface="Wingdings" pitchFamily="2" charset="2"/>
              </a:rPr>
              <a:t>High Testing Error ( High error on unseen data)</a:t>
            </a:r>
          </a:p>
          <a:p>
            <a:pPr lvl="1"/>
            <a:r>
              <a:rPr lang="en-IN" dirty="0" smtClean="0">
                <a:sym typeface="Wingdings" pitchFamily="2" charset="2"/>
              </a:rPr>
              <a:t>High gap between Training &amp; Testing error </a:t>
            </a:r>
          </a:p>
          <a:p>
            <a:r>
              <a:rPr lang="en-IN" dirty="0" smtClean="0">
                <a:sym typeface="Wingdings" pitchFamily="2" charset="2"/>
              </a:rPr>
              <a:t>Generalize the model </a:t>
            </a:r>
          </a:p>
          <a:p>
            <a:pPr lvl="1"/>
            <a:r>
              <a:rPr lang="en-IN" b="1" dirty="0"/>
              <a:t>Fix </a:t>
            </a:r>
            <a:r>
              <a:rPr lang="en-IN" b="1" dirty="0" smtClean="0"/>
              <a:t>1: </a:t>
            </a:r>
            <a:r>
              <a:rPr lang="en-IN" b="1" dirty="0"/>
              <a:t>Reduce Model Complexity</a:t>
            </a:r>
            <a:endParaRPr lang="en-IN" dirty="0"/>
          </a:p>
          <a:p>
            <a:pPr lvl="2"/>
            <a:r>
              <a:rPr lang="en-IN" dirty="0"/>
              <a:t>Explicitly cut down the number of parameters.</a:t>
            </a:r>
          </a:p>
          <a:p>
            <a:pPr lvl="2"/>
            <a:r>
              <a:rPr lang="en-IN" i="1" dirty="0"/>
              <a:t>Examples:</a:t>
            </a:r>
            <a:r>
              <a:rPr lang="en-IN" dirty="0"/>
              <a:t> Reduce the degree of a polynomial (go from x^10 down to x^3), reduce the depth of a tree, or reduce the number of layers in a neural network.</a:t>
            </a:r>
          </a:p>
          <a:p>
            <a:pPr lvl="1"/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98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Model Generalization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9602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Fix </a:t>
            </a:r>
            <a:r>
              <a:rPr lang="en-IN" b="1" dirty="0" smtClean="0"/>
              <a:t>2: </a:t>
            </a:r>
            <a:r>
              <a:rPr lang="en-IN" b="1" dirty="0"/>
              <a:t>Increase Training Data (The Gold Standard)</a:t>
            </a:r>
            <a:endParaRPr lang="en-IN" dirty="0"/>
          </a:p>
          <a:p>
            <a:pPr lvl="1"/>
            <a:r>
              <a:rPr lang="en-IN" dirty="0"/>
              <a:t>A model overfits when it has enough capacity to memorize the noise. If you give it more data, it becomes statistically harder to memorize everything; it is forced to generalize.</a:t>
            </a:r>
          </a:p>
          <a:p>
            <a:pPr lvl="1"/>
            <a:r>
              <a:rPr lang="en-IN" i="1" dirty="0"/>
              <a:t>Math:</a:t>
            </a:r>
            <a:r>
              <a:rPr lang="en-IN" dirty="0"/>
              <a:t> As the number of samples N increases, the model's variance decreases. The law of large numbers helps smooth out the noise.</a:t>
            </a:r>
          </a:p>
          <a:p>
            <a:r>
              <a:rPr lang="en-IN" b="1" dirty="0"/>
              <a:t>Fix </a:t>
            </a:r>
            <a:r>
              <a:rPr lang="en-IN" b="1" dirty="0" smtClean="0"/>
              <a:t>3: </a:t>
            </a:r>
            <a:r>
              <a:rPr lang="en-IN" b="1" dirty="0"/>
              <a:t>Early Stopping</a:t>
            </a:r>
            <a:endParaRPr lang="en-IN" dirty="0"/>
          </a:p>
          <a:p>
            <a:pPr lvl="1"/>
            <a:r>
              <a:rPr lang="en-IN" dirty="0"/>
              <a:t>Monitor the Validation Loss during training. The moment the Validation Loss stops decreasing and starts increasing (the inflection point), stop training.</a:t>
            </a:r>
          </a:p>
          <a:p>
            <a:pPr lvl="1"/>
            <a:r>
              <a:rPr lang="en-IN" i="1" dirty="0"/>
              <a:t>Math:</a:t>
            </a:r>
            <a:r>
              <a:rPr lang="en-IN" dirty="0"/>
              <a:t> This prevents the model from continuing to minimize Training Loss (which leads to overfitting) after it has already maximized its performance on unseen data</a:t>
            </a:r>
            <a:r>
              <a:rPr lang="en-IN" dirty="0" smtClean="0"/>
              <a:t>.</a:t>
            </a:r>
          </a:p>
          <a:p>
            <a:r>
              <a:rPr lang="en-IN" b="1" dirty="0"/>
              <a:t>Fix </a:t>
            </a:r>
            <a:r>
              <a:rPr lang="en-IN" b="1" dirty="0" smtClean="0"/>
              <a:t>4: </a:t>
            </a:r>
            <a:r>
              <a:rPr lang="en-IN" b="1" dirty="0"/>
              <a:t>Increase </a:t>
            </a:r>
            <a:r>
              <a:rPr lang="en-IN" b="1" dirty="0" smtClean="0"/>
              <a:t>Regularization</a:t>
            </a:r>
            <a:endParaRPr lang="en-IN" dirty="0"/>
          </a:p>
          <a:p>
            <a:pPr lvl="1"/>
            <a:r>
              <a:rPr lang="en-IN" dirty="0" smtClean="0"/>
              <a:t>Will Discuss regularization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825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Regularization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38225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Overfitting </a:t>
            </a:r>
            <a:r>
              <a:rPr lang="en-IN" dirty="0"/>
              <a:t>happens when a model becomes too complex and starts memorizing noise instead of learning the true pattern. This often results in </a:t>
            </a:r>
            <a:r>
              <a:rPr lang="en-IN" b="1" dirty="0"/>
              <a:t>extremely large model weights (coefficients)</a:t>
            </a:r>
            <a:r>
              <a:rPr lang="en-IN" dirty="0"/>
              <a:t> .</a:t>
            </a:r>
          </a:p>
          <a:p>
            <a:r>
              <a:rPr lang="en-IN" dirty="0"/>
              <a:t>The Core Idea of Regularization:</a:t>
            </a:r>
          </a:p>
          <a:p>
            <a:pPr lvl="1"/>
            <a:r>
              <a:rPr lang="en-IN" dirty="0"/>
              <a:t>We want to discourage the model from learning overly complex patterns.</a:t>
            </a:r>
          </a:p>
          <a:p>
            <a:pPr lvl="1"/>
            <a:r>
              <a:rPr lang="en-IN" dirty="0"/>
              <a:t>We do this by adding a </a:t>
            </a:r>
            <a:r>
              <a:rPr lang="en-IN" b="1" dirty="0"/>
              <a:t>penalty term</a:t>
            </a:r>
            <a:r>
              <a:rPr lang="en-IN" dirty="0"/>
              <a:t> to the loss function. This penalty grows with the size of the model's coefficients</a:t>
            </a:r>
            <a:r>
              <a:rPr lang="en-IN" dirty="0" smtClean="0"/>
              <a:t>.</a:t>
            </a:r>
          </a:p>
          <a:p>
            <a:pPr lvl="1"/>
            <a:endParaRPr lang="en-IN" dirty="0" smtClean="0"/>
          </a:p>
          <a:p>
            <a:pPr marL="0" indent="0">
              <a:buNone/>
            </a:pPr>
            <a:r>
              <a:rPr lang="en-IN" b="1" dirty="0" smtClean="0"/>
              <a:t>How to add penalty ? </a:t>
            </a:r>
            <a:r>
              <a:rPr lang="en-IN" b="1" dirty="0" smtClean="0">
                <a:sym typeface="Wingdings" pitchFamily="2" charset="2"/>
              </a:rPr>
              <a:t> </a:t>
            </a:r>
            <a:r>
              <a:rPr lang="en-IN" b="1" dirty="0" smtClean="0"/>
              <a:t>Loss ∝ Model-Complexity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89032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89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How to do it Mathematically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5754"/>
            <a:ext cx="8229600" cy="552860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y-GB" dirty="0" smtClean="0"/>
              <a:t>Lets start </a:t>
            </a:r>
            <a:r>
              <a:rPr lang="cy-GB" dirty="0"/>
              <a:t>with a standard loss function, </a:t>
            </a:r>
            <a:r>
              <a:rPr lang="cy-GB" b="1" dirty="0" smtClean="0"/>
              <a:t>Mean </a:t>
            </a:r>
            <a:r>
              <a:rPr lang="cy-GB" b="1" dirty="0"/>
              <a:t>Squared Error (MSE)</a:t>
            </a:r>
            <a:r>
              <a:rPr lang="cy-GB" dirty="0"/>
              <a:t> for regression</a:t>
            </a:r>
            <a:r>
              <a:rPr lang="cy-GB" dirty="0" smtClean="0"/>
              <a:t>:</a:t>
            </a:r>
          </a:p>
          <a:p>
            <a:pPr marL="0" indent="0">
              <a:buNone/>
            </a:pPr>
            <a:r>
              <a:rPr lang="cy-GB" dirty="0" smtClean="0"/>
              <a:t>Original </a:t>
            </a:r>
            <a:r>
              <a:rPr lang="cy-GB" dirty="0"/>
              <a:t>Loss = MSE = (1/n) * </a:t>
            </a:r>
            <a:r>
              <a:rPr lang="el-GR" dirty="0"/>
              <a:t>Σ (</a:t>
            </a:r>
            <a:r>
              <a:rPr lang="cy-GB" dirty="0"/>
              <a:t>yᵢ - ŷᵢ)²</a:t>
            </a:r>
          </a:p>
          <a:p>
            <a:pPr lvl="1"/>
            <a:r>
              <a:rPr lang="cy-GB" dirty="0"/>
              <a:t>Now, we add a </a:t>
            </a:r>
            <a:r>
              <a:rPr lang="cy-GB" b="1" dirty="0"/>
              <a:t>penalty term that depends on the model’s weights </a:t>
            </a:r>
            <a:r>
              <a:rPr lang="cy-GB" dirty="0"/>
              <a:t>(w₁, w₂, …, wₚ). </a:t>
            </a:r>
            <a:endParaRPr lang="cy-GB" dirty="0" smtClean="0"/>
          </a:p>
          <a:p>
            <a:pPr lvl="1"/>
            <a:r>
              <a:rPr lang="cy-GB" dirty="0" smtClean="0">
                <a:sym typeface="Wingdings" pitchFamily="2" charset="2"/>
              </a:rPr>
              <a:t>More the model weights/complexity  More the penalty </a:t>
            </a:r>
          </a:p>
          <a:p>
            <a:pPr lvl="1"/>
            <a:endParaRPr lang="cy-GB" dirty="0">
              <a:sym typeface="Wingdings" pitchFamily="2" charset="2"/>
            </a:endParaRPr>
          </a:p>
          <a:p>
            <a:r>
              <a:rPr lang="cy-GB" dirty="0" smtClean="0"/>
              <a:t>Lets use L2 Regularization Penalty = </a:t>
            </a:r>
            <a:r>
              <a:rPr lang="el-GR" dirty="0"/>
              <a:t>λ * Σ </a:t>
            </a:r>
            <a:r>
              <a:rPr lang="cy-GB" dirty="0" smtClean="0"/>
              <a:t>wⱼ²</a:t>
            </a:r>
          </a:p>
          <a:p>
            <a:pPr lvl="1"/>
            <a:r>
              <a:rPr lang="el-GR" b="1" dirty="0"/>
              <a:t>Σ </a:t>
            </a:r>
            <a:r>
              <a:rPr lang="en-IN" b="1" dirty="0"/>
              <a:t>wⱼ²</a:t>
            </a:r>
            <a:r>
              <a:rPr lang="en-IN" dirty="0"/>
              <a:t> is the sum of squares of all </a:t>
            </a:r>
            <a:r>
              <a:rPr lang="en-IN" dirty="0" smtClean="0"/>
              <a:t>coefficients ( </a:t>
            </a:r>
            <a:r>
              <a:rPr lang="en-IN" b="1" dirty="0" smtClean="0"/>
              <a:t>aka model complexity</a:t>
            </a:r>
            <a:r>
              <a:rPr lang="en-IN" dirty="0" smtClean="0"/>
              <a:t>)</a:t>
            </a:r>
            <a:endParaRPr lang="cy-GB" dirty="0" smtClean="0"/>
          </a:p>
          <a:p>
            <a:pPr lvl="1"/>
            <a:r>
              <a:rPr lang="el-GR" b="1" dirty="0"/>
              <a:t>λ = 0:</a:t>
            </a:r>
            <a:r>
              <a:rPr lang="el-GR" dirty="0"/>
              <a:t> </a:t>
            </a:r>
            <a:r>
              <a:rPr lang="en-IN" dirty="0"/>
              <a:t>No regularization (back to original loss).</a:t>
            </a:r>
          </a:p>
          <a:p>
            <a:pPr lvl="1"/>
            <a:r>
              <a:rPr lang="el-GR" b="1" dirty="0"/>
              <a:t>λ </a:t>
            </a:r>
            <a:r>
              <a:rPr lang="en-IN" b="1" dirty="0"/>
              <a:t>small:</a:t>
            </a:r>
            <a:r>
              <a:rPr lang="en-IN" dirty="0"/>
              <a:t> Mild penalty, slightly smoother model.</a:t>
            </a:r>
          </a:p>
          <a:p>
            <a:pPr lvl="1"/>
            <a:r>
              <a:rPr lang="el-GR" b="1" dirty="0"/>
              <a:t>λ </a:t>
            </a:r>
            <a:r>
              <a:rPr lang="en-IN" b="1" dirty="0"/>
              <a:t>large:</a:t>
            </a:r>
            <a:r>
              <a:rPr lang="en-IN" dirty="0"/>
              <a:t> Strong penalty, forces coefficients to be very small → much simpler model (can lead to underfitting if too large</a:t>
            </a:r>
            <a:r>
              <a:rPr lang="en-IN" dirty="0" smtClean="0"/>
              <a:t>).</a:t>
            </a:r>
          </a:p>
          <a:p>
            <a:pPr lvl="1"/>
            <a:endParaRPr lang="cy-GB" dirty="0"/>
          </a:p>
          <a:p>
            <a:pPr marL="0" indent="0">
              <a:buNone/>
            </a:pPr>
            <a:r>
              <a:rPr lang="cy-GB" dirty="0" smtClean="0"/>
              <a:t>New </a:t>
            </a:r>
            <a:r>
              <a:rPr lang="cy-GB" dirty="0"/>
              <a:t>Loss = MSE + </a:t>
            </a:r>
            <a:r>
              <a:rPr lang="el-GR" dirty="0"/>
              <a:t>λ * Σ </a:t>
            </a:r>
            <a:r>
              <a:rPr lang="cy-GB" dirty="0" smtClean="0"/>
              <a:t>wⱼ²</a:t>
            </a:r>
          </a:p>
        </p:txBody>
      </p:sp>
    </p:spTree>
    <p:extLst>
      <p:ext uri="{BB962C8B-B14F-4D97-AF65-F5344CB8AC3E}">
        <p14:creationId xmlns:p14="http://schemas.microsoft.com/office/powerpoint/2010/main" val="4180393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897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Chai Wala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1954"/>
          </a:xfrm>
        </p:spPr>
        <p:txBody>
          <a:bodyPr>
            <a:normAutofit fontScale="92500" lnSpcReduction="10000"/>
          </a:bodyPr>
          <a:lstStyle/>
          <a:p>
            <a:endParaRPr lang="cy-GB" dirty="0" smtClean="0"/>
          </a:p>
          <a:p>
            <a:endParaRPr lang="cy-GB" dirty="0"/>
          </a:p>
          <a:p>
            <a:endParaRPr lang="cy-GB" dirty="0" smtClean="0"/>
          </a:p>
          <a:p>
            <a:endParaRPr lang="cy-GB" dirty="0"/>
          </a:p>
          <a:p>
            <a:endParaRPr lang="cy-GB" dirty="0" smtClean="0"/>
          </a:p>
          <a:p>
            <a:endParaRPr lang="cy-GB" dirty="0" smtClean="0"/>
          </a:p>
          <a:p>
            <a:r>
              <a:rPr lang="cy-GB" dirty="0" smtClean="0"/>
              <a:t>We </a:t>
            </a:r>
            <a:r>
              <a:rPr lang="cy-GB" dirty="0"/>
              <a:t>suspect a </a:t>
            </a:r>
            <a:r>
              <a:rPr lang="cy-GB" b="1" dirty="0"/>
              <a:t>quadratic relationship</a:t>
            </a:r>
            <a:r>
              <a:rPr lang="cy-GB" dirty="0"/>
              <a:t> might fit well, but to illustrate overfitting, let's try fitting a </a:t>
            </a:r>
            <a:r>
              <a:rPr lang="cy-GB" b="1" dirty="0"/>
              <a:t>cubic </a:t>
            </a:r>
            <a:r>
              <a:rPr lang="cy-GB" b="1" dirty="0" smtClean="0"/>
              <a:t>polynomial</a:t>
            </a:r>
            <a:endParaRPr lang="cy-GB" dirty="0"/>
          </a:p>
          <a:p>
            <a:pPr marL="914400" lvl="2" indent="0">
              <a:buNone/>
            </a:pPr>
            <a:r>
              <a:rPr lang="cy-GB" sz="4000" b="1" dirty="0" smtClean="0"/>
              <a:t>ŷ </a:t>
            </a:r>
            <a:r>
              <a:rPr lang="cy-GB" sz="4000" b="1" dirty="0"/>
              <a:t>= w₀ + w₁x + w₂x² + w₃</a:t>
            </a:r>
            <a:r>
              <a:rPr lang="cy-GB" sz="4000" b="1" dirty="0" smtClean="0"/>
              <a:t>x³</a:t>
            </a:r>
            <a:endParaRPr lang="cy-GB" sz="40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314799"/>
              </p:ext>
            </p:extLst>
          </p:nvPr>
        </p:nvGraphicFramePr>
        <p:xfrm>
          <a:off x="677595" y="1344087"/>
          <a:ext cx="6468792" cy="2805881"/>
        </p:xfrm>
        <a:graphic>
          <a:graphicData uri="http://schemas.openxmlformats.org/drawingml/2006/table">
            <a:tbl>
              <a:tblPr/>
              <a:tblGrid>
                <a:gridCol w="2156264"/>
                <a:gridCol w="2156264"/>
                <a:gridCol w="2156264"/>
              </a:tblGrid>
              <a:tr h="831141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quote-cjk-patch"/>
                        </a:rPr>
                        <a:t>Day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  <a:latin typeface="quote-cjk-patch"/>
                        </a:rPr>
                        <a:t>Temperature (x)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quote-cjk-patch"/>
                        </a:rPr>
                        <a:t>Chai Cups Sold (y)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3685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15°C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100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3685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20°C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85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3685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25°C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70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3685"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effectLst/>
                          <a:latin typeface="quote-cjk-patch"/>
                        </a:rPr>
                        <a:t>30°C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effectLst/>
                          <a:latin typeface="quote-cjk-patch"/>
                        </a:rPr>
                        <a:t>55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599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Fitting the Model – With and Without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Model A </a:t>
            </a:r>
            <a:r>
              <a:rPr lang="en-IN" dirty="0"/>
              <a:t>(No </a:t>
            </a:r>
            <a:r>
              <a:rPr lang="en-IN" dirty="0" smtClean="0"/>
              <a:t>Regularization </a:t>
            </a:r>
            <a:r>
              <a:rPr lang="el-GR" dirty="0"/>
              <a:t>λ = 0): </a:t>
            </a:r>
            <a:r>
              <a:rPr lang="en-IN" dirty="0"/>
              <a:t>Minimizes only MSE. It will pass through all 4 points exactly.</a:t>
            </a:r>
          </a:p>
          <a:p>
            <a:r>
              <a:rPr lang="en-IN" b="1" dirty="0" smtClean="0"/>
              <a:t>Model </a:t>
            </a:r>
            <a:r>
              <a:rPr lang="en-IN" b="1" dirty="0"/>
              <a:t>B</a:t>
            </a:r>
            <a:r>
              <a:rPr lang="en-IN" dirty="0"/>
              <a:t> (With </a:t>
            </a:r>
            <a:r>
              <a:rPr lang="en-IN" dirty="0" smtClean="0"/>
              <a:t>Regularization </a:t>
            </a:r>
            <a:r>
              <a:rPr lang="el-GR" dirty="0" smtClean="0"/>
              <a:t>λ </a:t>
            </a:r>
            <a:r>
              <a:rPr lang="el-GR" dirty="0"/>
              <a:t>= 0.1</a:t>
            </a:r>
            <a:r>
              <a:rPr lang="el-GR" dirty="0" smtClean="0"/>
              <a:t>)</a:t>
            </a:r>
            <a:r>
              <a:rPr lang="en-IN" dirty="0" smtClean="0"/>
              <a:t>: </a:t>
            </a:r>
            <a:r>
              <a:rPr lang="el-GR" dirty="0"/>
              <a:t> </a:t>
            </a:r>
            <a:r>
              <a:rPr lang="en-IN" dirty="0"/>
              <a:t>Minimizes MSE + 0.1*(w₁² + w₂² + w₃²).</a:t>
            </a:r>
          </a:p>
          <a:p>
            <a:pPr marL="0" indent="0">
              <a:buNone/>
            </a:pPr>
            <a:r>
              <a:rPr lang="en-IN" dirty="0"/>
              <a:t>Resulting Coefficients (approximate, for illustration</a:t>
            </a:r>
            <a:r>
              <a:rPr lang="en-IN" dirty="0" smtClean="0"/>
              <a:t>):</a:t>
            </a:r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545794"/>
              </p:ext>
            </p:extLst>
          </p:nvPr>
        </p:nvGraphicFramePr>
        <p:xfrm>
          <a:off x="1266093" y="4241165"/>
          <a:ext cx="7090116" cy="1824384"/>
        </p:xfrm>
        <a:graphic>
          <a:graphicData uri="http://schemas.openxmlformats.org/drawingml/2006/table">
            <a:tbl>
              <a:tblPr/>
              <a:tblGrid>
                <a:gridCol w="2363372"/>
                <a:gridCol w="2363372"/>
                <a:gridCol w="2363372"/>
              </a:tblGrid>
              <a:tr h="620424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quote-cjk-patch"/>
                        </a:rPr>
                        <a:t>Coefficient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  <a:latin typeface="quote-cjk-patch"/>
                        </a:rPr>
                        <a:t>Without Reg. (</a:t>
                      </a:r>
                      <a:r>
                        <a:rPr lang="el-GR" b="1" dirty="0">
                          <a:effectLst/>
                          <a:latin typeface="quote-cjk-patch"/>
                        </a:rPr>
                        <a:t>λ=0)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effectLst/>
                          <a:latin typeface="quote-cjk-patch"/>
                        </a:rPr>
                        <a:t>With Reg. (</a:t>
                      </a:r>
                      <a:r>
                        <a:rPr lang="el-GR" b="1">
                          <a:effectLst/>
                          <a:latin typeface="quote-cjk-patch"/>
                        </a:rPr>
                        <a:t>λ=0.1)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52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w₁ (x term)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quote-cjk-patch"/>
                        </a:rPr>
                        <a:t>+150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+12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52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w₂ (x² term)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-12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-2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8522">
                <a:tc>
                  <a:txBody>
                    <a:bodyPr/>
                    <a:lstStyle/>
                    <a:p>
                      <a:r>
                        <a:rPr lang="en-IN" b="1">
                          <a:effectLst/>
                          <a:latin typeface="quote-cjk-patch"/>
                        </a:rPr>
                        <a:t>w₃ (x³ term)</a:t>
                      </a:r>
                    </a:p>
                  </a:txBody>
                  <a:tcPr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quote-cjk-patch"/>
                        </a:rPr>
                        <a:t>+0.3</a:t>
                      </a:r>
                    </a:p>
                  </a:txBody>
                  <a:tcPr marL="101600" marR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effectLst/>
                          <a:latin typeface="quote-cjk-patch"/>
                        </a:rPr>
                        <a:t>+0.02</a:t>
                      </a:r>
                    </a:p>
                  </a:txBody>
                  <a:tcPr marL="1016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584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Comparing with/without Reg.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Without regularization:</a:t>
            </a:r>
            <a:r>
              <a:rPr lang="en-IN" dirty="0"/>
              <a:t> The coefficients are large in magnitude, causing the curve to wiggle dramatically between points.</a:t>
            </a:r>
          </a:p>
          <a:p>
            <a:r>
              <a:rPr lang="en-IN" b="1" dirty="0"/>
              <a:t>With regularization:</a:t>
            </a:r>
            <a:r>
              <a:rPr lang="en-IN" dirty="0"/>
              <a:t> The coefficients are </a:t>
            </a:r>
            <a:r>
              <a:rPr lang="en-IN" b="1" dirty="0"/>
              <a:t>shrunk</a:t>
            </a:r>
            <a:r>
              <a:rPr lang="en-IN" dirty="0"/>
              <a:t> towards zero. The model still fits the data reasonably well, but the curve is much smoother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0958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Supervised learning learns mapping from inputs to outputs.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Key goals:</a:t>
            </a:r>
          </a:p>
          <a:p>
            <a:pPr lvl="1"/>
            <a:r>
              <a:rPr dirty="0"/>
              <a:t>Good generalization</a:t>
            </a:r>
          </a:p>
          <a:p>
            <a:pPr lvl="1"/>
            <a:r>
              <a:rPr dirty="0"/>
              <a:t>Low prediction error</a:t>
            </a:r>
          </a:p>
          <a:p>
            <a:pPr lvl="1"/>
            <a:r>
              <a:rPr dirty="0"/>
              <a:t>Robust modeling.</a:t>
            </a:r>
          </a:p>
        </p:txBody>
      </p:sp>
    </p:spTree>
    <p:extLst>
      <p:ext uri="{BB962C8B-B14F-4D97-AF65-F5344CB8AC3E}">
        <p14:creationId xmlns:p14="http://schemas.microsoft.com/office/powerpoint/2010/main" val="4173598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Metrics and evaluation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7284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Evaluation structure</a:t>
            </a:r>
            <a:r>
              <a:rPr dirty="0" smtClean="0"/>
              <a:t>:</a:t>
            </a:r>
            <a:endParaRPr dirty="0"/>
          </a:p>
          <a:p>
            <a:pPr lvl="1"/>
            <a:r>
              <a:rPr dirty="0"/>
              <a:t>Actual Positive / Negative vs </a:t>
            </a:r>
            <a:endParaRPr lang="en-IN" dirty="0" smtClean="0"/>
          </a:p>
          <a:p>
            <a:pPr lvl="1"/>
            <a:r>
              <a:rPr dirty="0" smtClean="0"/>
              <a:t>Predicted </a:t>
            </a:r>
            <a:r>
              <a:rPr dirty="0"/>
              <a:t>Positive / Negative</a:t>
            </a:r>
          </a:p>
          <a:p>
            <a:endParaRPr dirty="0"/>
          </a:p>
          <a:p>
            <a:r>
              <a:rPr dirty="0"/>
              <a:t>Metrics derived:</a:t>
            </a:r>
          </a:p>
          <a:p>
            <a:pPr lvl="1"/>
            <a:r>
              <a:rPr dirty="0"/>
              <a:t>TP = True </a:t>
            </a:r>
            <a:r>
              <a:rPr dirty="0" smtClean="0"/>
              <a:t>Positive</a:t>
            </a:r>
            <a:endParaRPr dirty="0"/>
          </a:p>
          <a:p>
            <a:pPr lvl="1"/>
            <a:r>
              <a:rPr dirty="0"/>
              <a:t>TN = True Negative</a:t>
            </a:r>
          </a:p>
          <a:p>
            <a:pPr lvl="1"/>
            <a:r>
              <a:rPr dirty="0"/>
              <a:t>FP = False Positive</a:t>
            </a:r>
          </a:p>
          <a:p>
            <a:pPr lvl="1"/>
            <a:r>
              <a:rPr dirty="0"/>
              <a:t>FN = False Negative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 = (TP + TN) / (TP + TN + FP + FN)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lvl="1"/>
            <a:r>
              <a:rPr dirty="0"/>
              <a:t>TP=40 TN=50 FP=5 FN=5</a:t>
            </a:r>
          </a:p>
          <a:p>
            <a:endParaRPr dirty="0"/>
          </a:p>
          <a:p>
            <a:r>
              <a:rPr dirty="0"/>
              <a:t>Accuracy = 90%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 and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Precision = TP / (TP + FP</a:t>
            </a:r>
            <a:r>
              <a:rPr dirty="0" smtClean="0"/>
              <a:t>)</a:t>
            </a:r>
            <a:endParaRPr lang="en-IN" dirty="0" smtClean="0"/>
          </a:p>
          <a:p>
            <a:pPr lvl="1"/>
            <a:r>
              <a:rPr lang="en-IN" dirty="0"/>
              <a:t>correctness of positive </a:t>
            </a:r>
            <a:r>
              <a:rPr lang="en-IN" dirty="0" smtClean="0"/>
              <a:t>predictions</a:t>
            </a:r>
            <a:endParaRPr dirty="0"/>
          </a:p>
          <a:p>
            <a:r>
              <a:rPr dirty="0"/>
              <a:t>Recall = TP / (TP + FN)</a:t>
            </a:r>
          </a:p>
          <a:p>
            <a:pPr lvl="1"/>
            <a:r>
              <a:rPr dirty="0" smtClean="0"/>
              <a:t>ability </a:t>
            </a:r>
            <a:r>
              <a:rPr dirty="0"/>
              <a:t>to detect </a:t>
            </a:r>
            <a:r>
              <a:rPr dirty="0" smtClean="0"/>
              <a:t>positives</a:t>
            </a:r>
            <a:endParaRPr lang="en-IN" dirty="0" smtClean="0"/>
          </a:p>
          <a:p>
            <a:pPr marL="457200" lvl="1" indent="0">
              <a:buNone/>
            </a:pPr>
            <a:endParaRPr lang="en-IN" dirty="0" smtClean="0"/>
          </a:p>
          <a:p>
            <a:r>
              <a:rPr lang="en-IN" dirty="0" smtClean="0"/>
              <a:t>Web Search Context ( Google/Bing/Amazon)</a:t>
            </a:r>
          </a:p>
          <a:p>
            <a:pPr lvl="1"/>
            <a:r>
              <a:rPr lang="en-IN" dirty="0" smtClean="0"/>
              <a:t>Precision </a:t>
            </a:r>
            <a:r>
              <a:rPr lang="en-IN" dirty="0" smtClean="0">
                <a:sym typeface="Wingdings" pitchFamily="2" charset="2"/>
              </a:rPr>
              <a:t> Correctness of </a:t>
            </a:r>
            <a:r>
              <a:rPr lang="en-IN" b="1" dirty="0" smtClean="0">
                <a:sym typeface="Wingdings" pitchFamily="2" charset="2"/>
              </a:rPr>
              <a:t>stuff shown </a:t>
            </a:r>
            <a:r>
              <a:rPr lang="en-IN" dirty="0" smtClean="0">
                <a:sym typeface="Wingdings" pitchFamily="2" charset="2"/>
              </a:rPr>
              <a:t>( might miss few )</a:t>
            </a:r>
          </a:p>
          <a:p>
            <a:pPr lvl="1"/>
            <a:r>
              <a:rPr lang="en-IN" dirty="0" smtClean="0">
                <a:sym typeface="Wingdings" pitchFamily="2" charset="2"/>
              </a:rPr>
              <a:t>Recall  Ability to </a:t>
            </a:r>
            <a:r>
              <a:rPr lang="en-IN" b="1" dirty="0" smtClean="0">
                <a:sym typeface="Wingdings" pitchFamily="2" charset="2"/>
              </a:rPr>
              <a:t>dig out</a:t>
            </a:r>
            <a:r>
              <a:rPr lang="en-IN" dirty="0" smtClean="0">
                <a:sym typeface="Wingdings" pitchFamily="2" charset="2"/>
              </a:rPr>
              <a:t> real information ( with </a:t>
            </a:r>
            <a:r>
              <a:rPr lang="en-IN" b="1" dirty="0" smtClean="0">
                <a:sym typeface="Wingdings" pitchFamily="2" charset="2"/>
              </a:rPr>
              <a:t>impurities</a:t>
            </a:r>
            <a:r>
              <a:rPr lang="en-IN" dirty="0" smtClean="0">
                <a:sym typeface="Wingdings" pitchFamily="2" charset="2"/>
              </a:rPr>
              <a:t> as well )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18534</TotalTime>
  <Words>1424</Words>
  <Application>Microsoft Office PowerPoint</Application>
  <PresentationFormat>On-screen Show (4:3)</PresentationFormat>
  <Paragraphs>364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Model Evaluation </vt:lpstr>
      <vt:lpstr>How to evaluate a Model</vt:lpstr>
      <vt:lpstr>training data partitioning</vt:lpstr>
      <vt:lpstr>Training and Testing Data</vt:lpstr>
      <vt:lpstr>Why Separate Training and Testing?</vt:lpstr>
      <vt:lpstr>Data Partitioning</vt:lpstr>
      <vt:lpstr>Data Split Example</vt:lpstr>
      <vt:lpstr>Holdout Method</vt:lpstr>
      <vt:lpstr>Limitations of Holdout</vt:lpstr>
      <vt:lpstr>k-Fold Cross Validation</vt:lpstr>
      <vt:lpstr>Example: 5-Fold Cross Validation</vt:lpstr>
      <vt:lpstr>Final production model</vt:lpstr>
      <vt:lpstr>generalization, overfitting and underfitting</vt:lpstr>
      <vt:lpstr>Goal of Supervised Learning </vt:lpstr>
      <vt:lpstr>Overfitting</vt:lpstr>
      <vt:lpstr>Underfitting</vt:lpstr>
      <vt:lpstr>Good Fit/Generalization</vt:lpstr>
      <vt:lpstr>PowerPoint Presentation</vt:lpstr>
      <vt:lpstr>Concept of Generalization</vt:lpstr>
      <vt:lpstr>Example : Chai wala Prediction </vt:lpstr>
      <vt:lpstr>PowerPoint Presentation</vt:lpstr>
      <vt:lpstr>Analyzing the fitting-ness</vt:lpstr>
      <vt:lpstr>Models with increasing complexity</vt:lpstr>
      <vt:lpstr>Diagnose &amp; Fix Underfitting </vt:lpstr>
      <vt:lpstr>Tunable Parameters in ML</vt:lpstr>
      <vt:lpstr>Increase Model Complexity </vt:lpstr>
      <vt:lpstr>PowerPoint Presentation</vt:lpstr>
      <vt:lpstr>PowerPoint Presentation</vt:lpstr>
      <vt:lpstr>Physical Intuition ( Why does it work ) </vt:lpstr>
      <vt:lpstr>PowerPoint Presentation</vt:lpstr>
      <vt:lpstr>Increase Model Complexity</vt:lpstr>
      <vt:lpstr>Diagnose &amp; Fix Overfitting</vt:lpstr>
      <vt:lpstr>Model Generalization </vt:lpstr>
      <vt:lpstr>Regularization</vt:lpstr>
      <vt:lpstr>How to do it Mathematically </vt:lpstr>
      <vt:lpstr>Chai Wala Example</vt:lpstr>
      <vt:lpstr>Fitting the Model – With and Without Regularization</vt:lpstr>
      <vt:lpstr>Comparing with/without Reg. </vt:lpstr>
      <vt:lpstr>Key Takeaways</vt:lpstr>
      <vt:lpstr>Metrics and evaluation</vt:lpstr>
      <vt:lpstr>Confusion Matrix</vt:lpstr>
      <vt:lpstr>Accuracy Metric</vt:lpstr>
      <vt:lpstr>Precision and Recall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Data Preparation and Evaluation Issues</dc:title>
  <dc:subject/>
  <dc:creator/>
  <cp:keywords/>
  <dc:description>generated using python-pptx</dc:description>
  <cp:lastModifiedBy>Prasenjit Mukherjee</cp:lastModifiedBy>
  <cp:revision>41</cp:revision>
  <dcterms:created xsi:type="dcterms:W3CDTF">2013-01-27T09:14:16Z</dcterms:created>
  <dcterms:modified xsi:type="dcterms:W3CDTF">2026-04-16T06:35:27Z</dcterms:modified>
  <cp:category/>
</cp:coreProperties>
</file>