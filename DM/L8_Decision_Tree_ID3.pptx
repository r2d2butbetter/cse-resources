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-92" y="-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Decision Trees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94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Problem: Ride Allocation </a:t>
            </a:r>
            <a:r>
              <a:rPr lang="en-IN" b="1" dirty="0" smtClean="0"/>
              <a:t>Optimization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A </a:t>
            </a:r>
            <a:r>
              <a:rPr lang="en-IN" dirty="0"/>
              <a:t>ride-sharing company wants to decide:</a:t>
            </a:r>
          </a:p>
          <a:p>
            <a:pPr lvl="1"/>
            <a:r>
              <a:rPr lang="en-IN" b="1" dirty="0"/>
              <a:t>Should we surge price in a region right now?</a:t>
            </a:r>
            <a:endParaRPr lang="en-IN" dirty="0"/>
          </a:p>
          <a:p>
            <a:r>
              <a:rPr lang="en-IN" b="1" dirty="0"/>
              <a:t>Available Features:</a:t>
            </a:r>
          </a:p>
          <a:p>
            <a:pPr lvl="1"/>
            <a:r>
              <a:rPr lang="en-IN" dirty="0"/>
              <a:t>Demand Level (High / Medium / Low) </a:t>
            </a:r>
          </a:p>
          <a:p>
            <a:pPr lvl="1"/>
            <a:r>
              <a:rPr lang="en-IN" dirty="0"/>
              <a:t>Driver Availability (High / Low) </a:t>
            </a:r>
          </a:p>
          <a:p>
            <a:pPr lvl="1"/>
            <a:r>
              <a:rPr lang="en-IN" dirty="0"/>
              <a:t>Time of Day (Peak / Non-Peak) </a:t>
            </a:r>
          </a:p>
          <a:p>
            <a:pPr lvl="1"/>
            <a:r>
              <a:rPr lang="en-IN" dirty="0"/>
              <a:t>Weather (Clear / Rainy) </a:t>
            </a:r>
          </a:p>
          <a:p>
            <a:r>
              <a:rPr lang="en-IN" b="1" dirty="0"/>
              <a:t>Target:</a:t>
            </a:r>
          </a:p>
          <a:p>
            <a:pPr lvl="1"/>
            <a:r>
              <a:rPr lang="en-IN" b="1" dirty="0"/>
              <a:t>Surge Pricing? (Yes / No)</a:t>
            </a: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This </a:t>
            </a:r>
            <a:r>
              <a:rPr lang="en-IN" dirty="0"/>
              <a:t>is a </a:t>
            </a:r>
            <a:r>
              <a:rPr lang="en-IN" b="1" dirty="0"/>
              <a:t>classification problem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4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Not Simple Rules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101225"/>
          </a:xfrm>
        </p:spPr>
        <p:txBody>
          <a:bodyPr>
            <a:normAutofit fontScale="85000" lnSpcReduction="10000"/>
          </a:bodyPr>
          <a:lstStyle/>
          <a:p>
            <a:r>
              <a:rPr lang="en-IN" sz="3600" dirty="0"/>
              <a:t>Naive rule:</a:t>
            </a:r>
          </a:p>
          <a:p>
            <a:pPr lvl="1"/>
            <a:r>
              <a:rPr lang="en-IN" sz="3200" dirty="0"/>
              <a:t>IF Demand = High → Surge = Yes </a:t>
            </a:r>
          </a:p>
          <a:p>
            <a:r>
              <a:rPr lang="en-IN" sz="3600" dirty="0" smtClean="0"/>
              <a:t>Problem</a:t>
            </a:r>
            <a:r>
              <a:rPr lang="en-IN" sz="3600" dirty="0"/>
              <a:t>:</a:t>
            </a:r>
          </a:p>
          <a:p>
            <a:pPr lvl="1"/>
            <a:r>
              <a:rPr lang="en-IN" sz="3200" dirty="0"/>
              <a:t>What if drivers are also high? </a:t>
            </a:r>
          </a:p>
          <a:p>
            <a:pPr lvl="1"/>
            <a:r>
              <a:rPr lang="en-IN" sz="3200" dirty="0"/>
              <a:t>What if it's non-peak? </a:t>
            </a:r>
          </a:p>
          <a:p>
            <a:pPr marL="0" indent="0">
              <a:buNone/>
            </a:pPr>
            <a:r>
              <a:rPr lang="en-IN" sz="3600" dirty="0" smtClean="0"/>
              <a:t>We </a:t>
            </a:r>
            <a:r>
              <a:rPr lang="en-IN" sz="3600" dirty="0"/>
              <a:t>need a </a:t>
            </a:r>
            <a:r>
              <a:rPr lang="en-IN" sz="3600" b="1" dirty="0"/>
              <a:t>systematic way to choose </a:t>
            </a:r>
            <a:r>
              <a:rPr lang="en-IN" sz="3600" b="1" dirty="0" smtClean="0"/>
              <a:t>rules</a:t>
            </a:r>
          </a:p>
          <a:p>
            <a:pPr marL="0" indent="0">
              <a:buNone/>
            </a:pPr>
            <a:endParaRPr lang="en-IN" sz="3600" b="1" dirty="0" smtClean="0"/>
          </a:p>
          <a:p>
            <a:pPr marL="0" indent="0">
              <a:buNone/>
            </a:pPr>
            <a:r>
              <a:rPr lang="en-IN" dirty="0"/>
              <a:t>We want to learn rules like:</a:t>
            </a:r>
          </a:p>
          <a:p>
            <a:pPr lvl="1"/>
            <a:r>
              <a:rPr lang="en-IN" sz="2400" dirty="0"/>
              <a:t>IF Demand = High AND Drivers = Low → Surge = Yes</a:t>
            </a:r>
            <a:br>
              <a:rPr lang="en-IN" sz="2400" dirty="0"/>
            </a:br>
            <a:r>
              <a:rPr lang="en-IN" sz="2400" dirty="0"/>
              <a:t>ELSE → </a:t>
            </a:r>
            <a:r>
              <a:rPr lang="en-IN" sz="2400" dirty="0" smtClean="0"/>
              <a:t>No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Represented as a </a:t>
            </a:r>
            <a:r>
              <a:rPr lang="en-IN" b="1" dirty="0" smtClean="0"/>
              <a:t>tree ( This is called Decision Trees)</a:t>
            </a:r>
            <a:endParaRPr lang="en-IN" dirty="0"/>
          </a:p>
          <a:p>
            <a:pPr marL="0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17723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5126"/>
          </a:xfrm>
        </p:spPr>
        <p:txBody>
          <a:bodyPr/>
          <a:lstStyle/>
          <a:p>
            <a:r>
              <a:rPr lang="en-IN" dirty="0" smtClean="0"/>
              <a:t>Example DataSet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63855"/>
          </a:xfrm>
        </p:spPr>
        <p:txBody>
          <a:bodyPr>
            <a:normAutofit fontScale="70000" lnSpcReduction="20000"/>
          </a:bodyPr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Which </a:t>
            </a:r>
            <a:r>
              <a:rPr lang="en-IN" dirty="0"/>
              <a:t>attribute should be the </a:t>
            </a:r>
            <a:r>
              <a:rPr lang="en-IN" b="1" dirty="0"/>
              <a:t>root node</a:t>
            </a:r>
            <a:r>
              <a:rPr lang="en-IN" dirty="0"/>
              <a:t>?</a:t>
            </a:r>
          </a:p>
          <a:p>
            <a:pPr lvl="1"/>
            <a:r>
              <a:rPr lang="en-IN" dirty="0"/>
              <a:t>Options:</a:t>
            </a:r>
          </a:p>
          <a:p>
            <a:pPr lvl="1"/>
            <a:r>
              <a:rPr lang="en-IN" dirty="0"/>
              <a:t>Demand? </a:t>
            </a:r>
          </a:p>
          <a:p>
            <a:pPr lvl="1"/>
            <a:r>
              <a:rPr lang="en-IN" dirty="0"/>
              <a:t>Drivers? </a:t>
            </a:r>
          </a:p>
          <a:p>
            <a:pPr lvl="1"/>
            <a:r>
              <a:rPr lang="en-IN" dirty="0"/>
              <a:t>Time? </a:t>
            </a:r>
          </a:p>
          <a:p>
            <a:pPr lvl="1"/>
            <a:r>
              <a:rPr lang="en-IN" dirty="0"/>
              <a:t>Weather? </a:t>
            </a:r>
          </a:p>
          <a:p>
            <a:r>
              <a:rPr lang="en-IN" dirty="0"/>
              <a:t>We need a </a:t>
            </a:r>
            <a:r>
              <a:rPr lang="en-IN" b="1" dirty="0"/>
              <a:t>quantitative criterion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240530"/>
              </p:ext>
            </p:extLst>
          </p:nvPr>
        </p:nvGraphicFramePr>
        <p:xfrm>
          <a:off x="457200" y="1274524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Demand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Drivers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Weather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Rainy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Rainy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NonPeak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NonPeak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Rainy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26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Idea: Purity of </a:t>
            </a:r>
            <a:r>
              <a:rPr lang="en-IN" b="1" dirty="0" smtClean="0"/>
              <a:t>Split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3542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A </a:t>
            </a:r>
            <a:r>
              <a:rPr lang="en-IN" dirty="0"/>
              <a:t>good split:</a:t>
            </a:r>
          </a:p>
          <a:p>
            <a:pPr lvl="1"/>
            <a:r>
              <a:rPr lang="en-IN" dirty="0"/>
              <a:t>Produces </a:t>
            </a:r>
            <a:r>
              <a:rPr lang="en-IN" b="1" dirty="0"/>
              <a:t>pure nodes</a:t>
            </a:r>
            <a:r>
              <a:rPr lang="en-IN" dirty="0"/>
              <a:t> (all Yes or all No) </a:t>
            </a:r>
          </a:p>
          <a:p>
            <a:r>
              <a:rPr lang="en-IN" dirty="0"/>
              <a:t>Bad split:</a:t>
            </a:r>
          </a:p>
          <a:p>
            <a:pPr lvl="1"/>
            <a:r>
              <a:rPr lang="en-IN" dirty="0"/>
              <a:t>Mixed </a:t>
            </a:r>
            <a:r>
              <a:rPr lang="en-IN" dirty="0" smtClean="0"/>
              <a:t>or impure labels</a:t>
            </a:r>
          </a:p>
          <a:p>
            <a:r>
              <a:rPr lang="en-IN" dirty="0" smtClean="0"/>
              <a:t>We need a measure of impurity/uncertainty</a:t>
            </a:r>
          </a:p>
          <a:p>
            <a:r>
              <a:rPr lang="en-IN" dirty="0" smtClean="0"/>
              <a:t>Entropy ( the target measure )  of the system</a:t>
            </a:r>
          </a:p>
          <a:p>
            <a:pPr marL="857250" lvl="2" indent="0">
              <a:buNone/>
            </a:pPr>
            <a:r>
              <a:rPr lang="en-IN" sz="3500" b="1" dirty="0" smtClean="0"/>
              <a:t>H(S) = - Σ</a:t>
            </a:r>
            <a:r>
              <a:rPr lang="en-IN" sz="3500" b="1" baseline="30000" dirty="0" smtClean="0"/>
              <a:t>c</a:t>
            </a:r>
            <a:r>
              <a:rPr lang="en-IN" sz="3500" b="1" baseline="-25000" dirty="0" smtClean="0"/>
              <a:t>i=1 </a:t>
            </a:r>
            <a:r>
              <a:rPr lang="en-IN" sz="3500" b="1" dirty="0" smtClean="0"/>
              <a:t>p</a:t>
            </a:r>
            <a:r>
              <a:rPr lang="en-IN" sz="3500" b="1" baseline="-25000" dirty="0" smtClean="0"/>
              <a:t>i</a:t>
            </a:r>
            <a:r>
              <a:rPr lang="en-IN" sz="3500" b="1" dirty="0" smtClean="0"/>
              <a:t> log</a:t>
            </a:r>
            <a:r>
              <a:rPr lang="en-IN" sz="3500" b="1" baseline="-25000" dirty="0" smtClean="0"/>
              <a:t>2</a:t>
            </a:r>
            <a:r>
              <a:rPr lang="en-IN" sz="3500" b="1" dirty="0" smtClean="0"/>
              <a:t> p</a:t>
            </a:r>
            <a:r>
              <a:rPr lang="en-IN" sz="3500" b="1" baseline="-25000" dirty="0" smtClean="0"/>
              <a:t>i</a:t>
            </a:r>
          </a:p>
          <a:p>
            <a:pPr lvl="1"/>
            <a:r>
              <a:rPr lang="en-IN" dirty="0" smtClean="0"/>
              <a:t>Where p</a:t>
            </a:r>
            <a:r>
              <a:rPr lang="en-IN" baseline="-25000" dirty="0" smtClean="0"/>
              <a:t>i</a:t>
            </a:r>
            <a:r>
              <a:rPr lang="en-IN" dirty="0" smtClean="0"/>
              <a:t> = probability of class i </a:t>
            </a:r>
            <a:endParaRPr lang="en-IN" dirty="0"/>
          </a:p>
          <a:p>
            <a:r>
              <a:rPr lang="en-IN" dirty="0" smtClean="0"/>
              <a:t>Interpretation </a:t>
            </a:r>
          </a:p>
          <a:p>
            <a:pPr lvl="1"/>
            <a:r>
              <a:rPr lang="en-IN" dirty="0" smtClean="0"/>
              <a:t>H = 0 </a:t>
            </a:r>
            <a:r>
              <a:rPr lang="en-IN" dirty="0" smtClean="0">
                <a:sym typeface="Wingdings" pitchFamily="2" charset="2"/>
              </a:rPr>
              <a:t> Pure Split</a:t>
            </a:r>
          </a:p>
          <a:p>
            <a:pPr lvl="1"/>
            <a:r>
              <a:rPr lang="en-IN" dirty="0" smtClean="0">
                <a:sym typeface="Wingdings" pitchFamily="2" charset="2"/>
              </a:rPr>
              <a:t>H = 1  100% Impure ( or confusing ) Split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01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7340"/>
          </a:xfrm>
        </p:spPr>
        <p:txBody>
          <a:bodyPr>
            <a:normAutofit fontScale="90000"/>
          </a:bodyPr>
          <a:lstStyle/>
          <a:p>
            <a:r>
              <a:rPr lang="en-IN" dirty="0"/>
              <a:t>Information Gain </a:t>
            </a:r>
            <a:r>
              <a:rPr lang="en-IN" dirty="0" smtClean="0"/>
              <a:t>for an Attribute Split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978"/>
            <a:ext cx="8229600" cy="5724395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 </a:t>
            </a:r>
            <a:r>
              <a:rPr lang="en-IN" b="1" dirty="0" smtClean="0"/>
              <a:t>Definition </a:t>
            </a:r>
          </a:p>
          <a:p>
            <a:endParaRPr lang="en-IN" dirty="0" smtClean="0"/>
          </a:p>
          <a:p>
            <a:pPr lvl="1"/>
            <a:r>
              <a:rPr lang="en-IN" dirty="0"/>
              <a:t>Reduction in </a:t>
            </a:r>
            <a:r>
              <a:rPr lang="en-IN" dirty="0" smtClean="0"/>
              <a:t>misinfo/entropy or Gain in info after split</a:t>
            </a:r>
          </a:p>
          <a:p>
            <a:r>
              <a:rPr lang="en-IN" dirty="0" smtClean="0"/>
              <a:t>Where </a:t>
            </a:r>
          </a:p>
          <a:p>
            <a:pPr lvl="1"/>
            <a:r>
              <a:rPr lang="en-IN" dirty="0" smtClean="0"/>
              <a:t>S</a:t>
            </a:r>
          </a:p>
          <a:p>
            <a:pPr lvl="2"/>
            <a:r>
              <a:rPr lang="en-IN" dirty="0" smtClean="0"/>
              <a:t>Entire Dataset ( All training examples ) </a:t>
            </a:r>
            <a:r>
              <a:rPr lang="en-IN" dirty="0" smtClean="0">
                <a:sym typeface="Wingdings" pitchFamily="2" charset="2"/>
              </a:rPr>
              <a:t> </a:t>
            </a:r>
            <a:r>
              <a:rPr lang="en-IN" dirty="0" smtClean="0"/>
              <a:t>6 rides </a:t>
            </a:r>
          </a:p>
          <a:p>
            <a:pPr lvl="1"/>
            <a:r>
              <a:rPr lang="en-IN" dirty="0" smtClean="0"/>
              <a:t>A</a:t>
            </a:r>
          </a:p>
          <a:p>
            <a:pPr lvl="2"/>
            <a:r>
              <a:rPr lang="en-IN" dirty="0"/>
              <a:t>Attribute we are </a:t>
            </a:r>
            <a:r>
              <a:rPr lang="en-IN" dirty="0" smtClean="0"/>
              <a:t>evaluating </a:t>
            </a:r>
            <a:r>
              <a:rPr lang="en-IN" dirty="0" smtClean="0">
                <a:sym typeface="Wingdings" pitchFamily="2" charset="2"/>
              </a:rPr>
              <a:t> </a:t>
            </a:r>
            <a:r>
              <a:rPr lang="en-IN" b="1" dirty="0" smtClean="0"/>
              <a:t>Demand</a:t>
            </a:r>
          </a:p>
          <a:p>
            <a:pPr lvl="1"/>
            <a:r>
              <a:rPr lang="en-IN" dirty="0" smtClean="0"/>
              <a:t>Values (A) </a:t>
            </a:r>
          </a:p>
          <a:p>
            <a:pPr lvl="2"/>
            <a:r>
              <a:rPr lang="en-IN" dirty="0"/>
              <a:t>All possible values of attribute </a:t>
            </a:r>
            <a:r>
              <a:rPr lang="en-IN" dirty="0" smtClean="0"/>
              <a:t>A </a:t>
            </a:r>
          </a:p>
          <a:p>
            <a:pPr lvl="3"/>
            <a:r>
              <a:rPr lang="en-IN" dirty="0" smtClean="0">
                <a:sym typeface="Wingdings" pitchFamily="2" charset="2"/>
              </a:rPr>
              <a:t>Here (A = Demand )  </a:t>
            </a:r>
            <a:r>
              <a:rPr lang="en-IN" dirty="0" smtClean="0"/>
              <a:t>{</a:t>
            </a:r>
            <a:r>
              <a:rPr lang="en-IN" dirty="0"/>
              <a:t>High, Medium, Low</a:t>
            </a:r>
            <a:r>
              <a:rPr lang="en-IN" dirty="0" smtClean="0"/>
              <a:t>}</a:t>
            </a:r>
          </a:p>
          <a:p>
            <a:pPr lvl="1"/>
            <a:r>
              <a:rPr lang="en-IN" dirty="0" smtClean="0"/>
              <a:t>v ∈ Values(A)</a:t>
            </a:r>
          </a:p>
          <a:p>
            <a:pPr lvl="2"/>
            <a:r>
              <a:rPr lang="en-IN" dirty="0" smtClean="0"/>
              <a:t>We evaluate split for each v ( i.e. High Medium Low ) 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403" y="1404763"/>
            <a:ext cx="4509562" cy="61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52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228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ID3 in Action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926"/>
            <a:ext cx="8229600" cy="5736922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Compute H(S)</a:t>
            </a:r>
          </a:p>
          <a:p>
            <a:pPr lvl="1"/>
            <a:r>
              <a:rPr lang="en-IN" dirty="0"/>
              <a:t>Class distribution:</a:t>
            </a:r>
          </a:p>
          <a:p>
            <a:pPr lvl="2"/>
            <a:r>
              <a:rPr lang="en-IN" dirty="0"/>
              <a:t>Yes = 3, No = </a:t>
            </a:r>
            <a:r>
              <a:rPr lang="en-IN" dirty="0" smtClean="0"/>
              <a:t>3</a:t>
            </a:r>
            <a:endParaRPr lang="en-IN" dirty="0"/>
          </a:p>
          <a:p>
            <a:pPr lvl="2"/>
            <a:r>
              <a:rPr lang="en-IN" dirty="0"/>
              <a:t>P</a:t>
            </a:r>
            <a:r>
              <a:rPr lang="en-IN" baseline="-25000" dirty="0"/>
              <a:t>yes</a:t>
            </a:r>
            <a:r>
              <a:rPr lang="en-IN" dirty="0"/>
              <a:t> = 3/6, P</a:t>
            </a:r>
            <a:r>
              <a:rPr lang="en-IN" baseline="-25000" dirty="0"/>
              <a:t>no</a:t>
            </a:r>
            <a:r>
              <a:rPr lang="en-IN" dirty="0"/>
              <a:t> = </a:t>
            </a:r>
            <a:r>
              <a:rPr lang="en-IN" dirty="0" smtClean="0"/>
              <a:t>3/6, p</a:t>
            </a:r>
            <a:r>
              <a:rPr lang="en-IN" baseline="-25000" dirty="0" smtClean="0"/>
              <a:t>no = </a:t>
            </a:r>
            <a:r>
              <a:rPr lang="en-IN" dirty="0" smtClean="0"/>
              <a:t>p</a:t>
            </a:r>
            <a:r>
              <a:rPr lang="en-IN" baseline="-25000" dirty="0" smtClean="0"/>
              <a:t>yes</a:t>
            </a:r>
            <a:r>
              <a:rPr lang="en-IN" dirty="0" smtClean="0"/>
              <a:t> = 1/2 </a:t>
            </a:r>
            <a:endParaRPr lang="en-IN" dirty="0"/>
          </a:p>
          <a:p>
            <a:pPr lvl="1"/>
            <a:r>
              <a:rPr lang="en-IN" dirty="0"/>
              <a:t>H(S) = - Σ</a:t>
            </a:r>
            <a:r>
              <a:rPr lang="en-IN" baseline="30000" dirty="0"/>
              <a:t>c</a:t>
            </a:r>
            <a:r>
              <a:rPr lang="en-IN" baseline="-25000" dirty="0"/>
              <a:t>i=1 </a:t>
            </a:r>
            <a:r>
              <a:rPr lang="en-IN" dirty="0"/>
              <a:t>p</a:t>
            </a:r>
            <a:r>
              <a:rPr lang="en-IN" baseline="-25000" dirty="0"/>
              <a:t>i</a:t>
            </a:r>
            <a:r>
              <a:rPr lang="en-IN" dirty="0"/>
              <a:t> log</a:t>
            </a:r>
            <a:r>
              <a:rPr lang="en-IN" baseline="-25000" dirty="0"/>
              <a:t>2</a:t>
            </a:r>
            <a:r>
              <a:rPr lang="en-IN" dirty="0"/>
              <a:t> p</a:t>
            </a:r>
            <a:r>
              <a:rPr lang="en-IN" baseline="-25000" dirty="0"/>
              <a:t>i </a:t>
            </a:r>
            <a:r>
              <a:rPr lang="en-IN" dirty="0" smtClean="0"/>
              <a:t> </a:t>
            </a:r>
          </a:p>
          <a:p>
            <a:pPr marL="914400" lvl="2" indent="0">
              <a:buNone/>
            </a:pPr>
            <a:r>
              <a:rPr lang="en-IN" dirty="0" smtClean="0"/>
              <a:t>-p</a:t>
            </a:r>
            <a:r>
              <a:rPr lang="en-IN" baseline="-25000" dirty="0" smtClean="0"/>
              <a:t>yes</a:t>
            </a:r>
            <a:r>
              <a:rPr lang="en-IN" dirty="0" smtClean="0"/>
              <a:t>log</a:t>
            </a:r>
            <a:r>
              <a:rPr lang="en-IN" baseline="-25000" dirty="0" smtClean="0"/>
              <a:t>2 </a:t>
            </a:r>
            <a:r>
              <a:rPr lang="en-IN" dirty="0"/>
              <a:t>(p</a:t>
            </a:r>
            <a:r>
              <a:rPr lang="en-IN" baseline="-25000" dirty="0"/>
              <a:t>yes</a:t>
            </a:r>
            <a:r>
              <a:rPr lang="en-IN" dirty="0"/>
              <a:t>)  - p</a:t>
            </a:r>
            <a:r>
              <a:rPr lang="en-IN" baseline="-25000" dirty="0"/>
              <a:t>no</a:t>
            </a:r>
            <a:r>
              <a:rPr lang="en-IN" dirty="0"/>
              <a:t>log</a:t>
            </a:r>
            <a:r>
              <a:rPr lang="en-IN" baseline="-25000" dirty="0"/>
              <a:t>2</a:t>
            </a:r>
            <a:r>
              <a:rPr lang="en-IN" dirty="0"/>
              <a:t>(p</a:t>
            </a:r>
            <a:r>
              <a:rPr lang="en-IN" baseline="-25000" dirty="0"/>
              <a:t>no</a:t>
            </a:r>
            <a:r>
              <a:rPr lang="en-IN" dirty="0"/>
              <a:t>) </a:t>
            </a:r>
          </a:p>
          <a:p>
            <a:pPr marL="914400" lvl="2" indent="0">
              <a:buNone/>
            </a:pPr>
            <a:r>
              <a:rPr lang="en-IN" dirty="0" smtClean="0"/>
              <a:t>-2*1/2 log</a:t>
            </a:r>
            <a:r>
              <a:rPr lang="en-IN" baseline="-25000" dirty="0" smtClean="0"/>
              <a:t>2</a:t>
            </a:r>
            <a:r>
              <a:rPr lang="en-IN" dirty="0" smtClean="0"/>
              <a:t>(1/2</a:t>
            </a:r>
            <a:r>
              <a:rPr lang="en-IN" dirty="0"/>
              <a:t>) = -log</a:t>
            </a:r>
            <a:r>
              <a:rPr lang="en-IN" baseline="-25000" dirty="0"/>
              <a:t>2</a:t>
            </a:r>
            <a:r>
              <a:rPr lang="en-IN" dirty="0"/>
              <a:t>1 + log</a:t>
            </a:r>
            <a:r>
              <a:rPr lang="en-IN" baseline="-25000" dirty="0"/>
              <a:t>2</a:t>
            </a:r>
            <a:r>
              <a:rPr lang="en-IN" dirty="0"/>
              <a:t>2 = 0 + 1 </a:t>
            </a:r>
          </a:p>
          <a:p>
            <a:pPr marL="914400" lvl="2" indent="0">
              <a:buNone/>
            </a:pPr>
            <a:r>
              <a:rPr lang="en-IN" dirty="0" smtClean="0"/>
              <a:t> = 1</a:t>
            </a:r>
            <a:endParaRPr lang="en-IN" dirty="0"/>
          </a:p>
          <a:p>
            <a:r>
              <a:rPr lang="en-IN" b="1" dirty="0" smtClean="0"/>
              <a:t>Define Sets </a:t>
            </a:r>
            <a:r>
              <a:rPr lang="en-IN" b="1" dirty="0"/>
              <a:t>Clearly</a:t>
            </a:r>
          </a:p>
          <a:p>
            <a:pPr lvl="1"/>
            <a:r>
              <a:rPr lang="en-IN" dirty="0" smtClean="0"/>
              <a:t>A (attribute) = Demand</a:t>
            </a:r>
            <a:endParaRPr lang="en-IN" dirty="0"/>
          </a:p>
          <a:p>
            <a:pPr lvl="1"/>
            <a:r>
              <a:rPr lang="en-IN" dirty="0" smtClean="0"/>
              <a:t>Values(A=Demand)</a:t>
            </a:r>
          </a:p>
          <a:p>
            <a:pPr lvl="2"/>
            <a:r>
              <a:rPr lang="en-IN" dirty="0" smtClean="0"/>
              <a:t>{High,Medium,Low</a:t>
            </a:r>
            <a:r>
              <a:rPr lang="en-IN" dirty="0"/>
              <a:t>}</a:t>
            </a:r>
          </a:p>
          <a:p>
            <a:pPr lvl="1"/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622942"/>
              </p:ext>
            </p:extLst>
          </p:nvPr>
        </p:nvGraphicFramePr>
        <p:xfrm>
          <a:off x="5617922" y="4140758"/>
          <a:ext cx="3331924" cy="2560320"/>
        </p:xfrm>
        <a:graphic>
          <a:graphicData uri="http://schemas.openxmlformats.org/drawingml/2006/table">
            <a:tbl>
              <a:tblPr/>
              <a:tblGrid>
                <a:gridCol w="1665962"/>
                <a:gridCol w="1665962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438" y="926926"/>
            <a:ext cx="4509562" cy="61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167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32" y="136851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H(S</a:t>
            </a:r>
            <a:r>
              <a:rPr lang="en-IN" baseline="-25000" dirty="0" smtClean="0"/>
              <a:t>v</a:t>
            </a:r>
            <a:r>
              <a:rPr lang="en-IN" dirty="0" smtClean="0"/>
              <a:t>) for Demand=High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Construct Subsets S</a:t>
            </a:r>
            <a:r>
              <a:rPr lang="en-IN" baseline="-25000" dirty="0" smtClean="0"/>
              <a:t>v </a:t>
            </a:r>
            <a:r>
              <a:rPr lang="en-IN" dirty="0" smtClean="0"/>
              <a:t>for Attribute = Demand</a:t>
            </a:r>
          </a:p>
          <a:p>
            <a:pPr marL="0" indent="0">
              <a:buNone/>
            </a:pPr>
            <a:r>
              <a:rPr lang="en-IN" dirty="0" smtClean="0"/>
              <a:t>V = high, medium, low </a:t>
            </a:r>
            <a:endParaRPr lang="en-IN" baseline="-25000" dirty="0" smtClean="0"/>
          </a:p>
          <a:p>
            <a:r>
              <a:rPr lang="en-IN" dirty="0" smtClean="0"/>
              <a:t>Case v = High, Subset S</a:t>
            </a:r>
            <a:r>
              <a:rPr lang="en-IN" baseline="-25000" dirty="0" smtClean="0"/>
              <a:t>d=high</a:t>
            </a:r>
          </a:p>
          <a:p>
            <a:pPr lvl="1"/>
            <a:r>
              <a:rPr lang="en-IN" dirty="0" smtClean="0"/>
              <a:t>|S</a:t>
            </a:r>
            <a:r>
              <a:rPr lang="en-IN" baseline="-25000" dirty="0" smtClean="0"/>
              <a:t>high</a:t>
            </a:r>
            <a:r>
              <a:rPr lang="en-IN" dirty="0" smtClean="0"/>
              <a:t>| = 3 ( Yes = 2, No = 1 ) </a:t>
            </a:r>
          </a:p>
          <a:p>
            <a:pPr lvl="1"/>
            <a:r>
              <a:rPr lang="en-IN" dirty="0"/>
              <a:t>p</a:t>
            </a:r>
            <a:r>
              <a:rPr lang="en-IN" baseline="-25000" dirty="0" smtClean="0"/>
              <a:t>yes</a:t>
            </a:r>
            <a:r>
              <a:rPr lang="en-IN" dirty="0" smtClean="0"/>
              <a:t> = 2/3, p</a:t>
            </a:r>
            <a:r>
              <a:rPr lang="en-IN" baseline="-25000" dirty="0" smtClean="0"/>
              <a:t>no</a:t>
            </a:r>
            <a:r>
              <a:rPr lang="en-IN" dirty="0" smtClean="0"/>
              <a:t> = 1/3</a:t>
            </a:r>
          </a:p>
          <a:p>
            <a:r>
              <a:rPr lang="en-IN" dirty="0" smtClean="0"/>
              <a:t>H(S</a:t>
            </a:r>
            <a:r>
              <a:rPr lang="en-IN" baseline="-25000" dirty="0" smtClean="0"/>
              <a:t>high</a:t>
            </a:r>
            <a:r>
              <a:rPr lang="en-IN" dirty="0" smtClean="0"/>
              <a:t>) = </a:t>
            </a:r>
          </a:p>
          <a:p>
            <a:pPr lvl="1">
              <a:buFontTx/>
              <a:buChar char="-"/>
            </a:pPr>
            <a:r>
              <a:rPr lang="en-IN" dirty="0" smtClean="0"/>
              <a:t>( p</a:t>
            </a:r>
            <a:r>
              <a:rPr lang="en-IN" baseline="-25000" dirty="0" smtClean="0"/>
              <a:t>yes</a:t>
            </a: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p</a:t>
            </a:r>
            <a:r>
              <a:rPr lang="en-IN" baseline="-25000" dirty="0" smtClean="0"/>
              <a:t>yes </a:t>
            </a:r>
            <a:r>
              <a:rPr lang="en-IN" dirty="0" smtClean="0"/>
              <a:t> + p</a:t>
            </a:r>
            <a:r>
              <a:rPr lang="en-IN" baseline="-25000" dirty="0" smtClean="0"/>
              <a:t>no</a:t>
            </a: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p</a:t>
            </a:r>
            <a:r>
              <a:rPr lang="en-IN" baseline="-25000" dirty="0" smtClean="0"/>
              <a:t>no </a:t>
            </a:r>
            <a:r>
              <a:rPr lang="en-IN" dirty="0" smtClean="0"/>
              <a:t>)</a:t>
            </a:r>
            <a:r>
              <a:rPr lang="en-IN" baseline="-25000" dirty="0" smtClean="0"/>
              <a:t> </a:t>
            </a:r>
          </a:p>
          <a:p>
            <a:pPr lvl="1">
              <a:buFontTx/>
              <a:buChar char="-"/>
            </a:pPr>
            <a:r>
              <a:rPr lang="en-IN" dirty="0" smtClean="0"/>
              <a:t>2/3*log</a:t>
            </a:r>
            <a:r>
              <a:rPr lang="en-IN" baseline="-25000" dirty="0" smtClean="0"/>
              <a:t>2</a:t>
            </a:r>
            <a:r>
              <a:rPr lang="en-IN" dirty="0" smtClean="0"/>
              <a:t>2/3 + 1/3*log</a:t>
            </a:r>
            <a:r>
              <a:rPr lang="en-IN" baseline="-25000" dirty="0" smtClean="0"/>
              <a:t>2</a:t>
            </a:r>
            <a:r>
              <a:rPr lang="en-IN" dirty="0" smtClean="0"/>
              <a:t>1/3</a:t>
            </a:r>
            <a:endParaRPr lang="en-IN" dirty="0"/>
          </a:p>
          <a:p>
            <a:pPr lvl="1">
              <a:buFontTx/>
              <a:buChar char="-"/>
            </a:pPr>
            <a:r>
              <a:rPr lang="en-IN" dirty="0" smtClean="0"/>
              <a:t>0.918</a:t>
            </a:r>
          </a:p>
          <a:p>
            <a:endParaRPr lang="en-IN" dirty="0" smtClean="0"/>
          </a:p>
          <a:p>
            <a:endParaRPr lang="en-IN" baseline="-25000" dirty="0" smtClean="0"/>
          </a:p>
          <a:p>
            <a:pPr lvl="1"/>
            <a:endParaRPr lang="en-IN" dirty="0" smtClean="0"/>
          </a:p>
          <a:p>
            <a:pPr lvl="1"/>
            <a:endParaRPr lang="en-IN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044252"/>
              </p:ext>
            </p:extLst>
          </p:nvPr>
        </p:nvGraphicFramePr>
        <p:xfrm>
          <a:off x="6438377" y="2931244"/>
          <a:ext cx="2536522" cy="1463040"/>
        </p:xfrm>
        <a:graphic>
          <a:graphicData uri="http://schemas.openxmlformats.org/drawingml/2006/table">
            <a:tbl>
              <a:tblPr/>
              <a:tblGrid>
                <a:gridCol w="1268261"/>
                <a:gridCol w="1268261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Demand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37" y="847921"/>
            <a:ext cx="4509562" cy="61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065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H(S</a:t>
            </a:r>
            <a:r>
              <a:rPr lang="en-IN" baseline="-25000" dirty="0" smtClean="0"/>
              <a:t>v</a:t>
            </a:r>
            <a:r>
              <a:rPr lang="en-IN" dirty="0" smtClean="0"/>
              <a:t>) for Demand=Medium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Case v = medium, Subset S</a:t>
            </a:r>
            <a:r>
              <a:rPr lang="en-IN" baseline="-25000" dirty="0" smtClean="0"/>
              <a:t>d=medium</a:t>
            </a:r>
          </a:p>
          <a:p>
            <a:pPr lvl="1"/>
            <a:r>
              <a:rPr lang="en-IN" dirty="0" smtClean="0"/>
              <a:t>|S</a:t>
            </a:r>
            <a:r>
              <a:rPr lang="en-IN" baseline="-25000" dirty="0" smtClean="0"/>
              <a:t>medium</a:t>
            </a:r>
            <a:r>
              <a:rPr lang="en-IN" dirty="0" smtClean="0"/>
              <a:t>| = 2 </a:t>
            </a:r>
          </a:p>
          <a:p>
            <a:pPr lvl="1"/>
            <a:r>
              <a:rPr lang="en-IN" dirty="0" smtClean="0"/>
              <a:t>Yes = 1, No = 1</a:t>
            </a:r>
          </a:p>
          <a:p>
            <a:pPr lvl="1"/>
            <a:r>
              <a:rPr lang="en-IN" dirty="0"/>
              <a:t>p</a:t>
            </a:r>
            <a:r>
              <a:rPr lang="en-IN" baseline="-25000" dirty="0" smtClean="0"/>
              <a:t>yes</a:t>
            </a:r>
            <a:r>
              <a:rPr lang="en-IN" dirty="0" smtClean="0"/>
              <a:t> = 1/2, p</a:t>
            </a:r>
            <a:r>
              <a:rPr lang="en-IN" baseline="-25000" dirty="0" smtClean="0"/>
              <a:t>no</a:t>
            </a:r>
            <a:r>
              <a:rPr lang="en-IN" dirty="0" smtClean="0"/>
              <a:t> = 1/2</a:t>
            </a:r>
          </a:p>
          <a:p>
            <a:endParaRPr lang="en-IN" dirty="0" smtClean="0"/>
          </a:p>
          <a:p>
            <a:r>
              <a:rPr lang="en-IN" dirty="0" smtClean="0"/>
              <a:t>H(S</a:t>
            </a:r>
            <a:r>
              <a:rPr lang="en-IN" baseline="-25000" dirty="0" smtClean="0"/>
              <a:t>medium</a:t>
            </a:r>
            <a:r>
              <a:rPr lang="en-IN" dirty="0" smtClean="0"/>
              <a:t>) = </a:t>
            </a:r>
          </a:p>
          <a:p>
            <a:pPr lvl="1">
              <a:buFontTx/>
              <a:buChar char="-"/>
            </a:pPr>
            <a:r>
              <a:rPr lang="en-IN" dirty="0" smtClean="0"/>
              <a:t>( p</a:t>
            </a:r>
            <a:r>
              <a:rPr lang="en-IN" baseline="-25000" dirty="0" smtClean="0"/>
              <a:t>yes</a:t>
            </a: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p</a:t>
            </a:r>
            <a:r>
              <a:rPr lang="en-IN" baseline="-25000" dirty="0" smtClean="0"/>
              <a:t>yes </a:t>
            </a:r>
            <a:r>
              <a:rPr lang="en-IN" dirty="0" smtClean="0"/>
              <a:t> + p</a:t>
            </a:r>
            <a:r>
              <a:rPr lang="en-IN" baseline="-25000" dirty="0" smtClean="0"/>
              <a:t>no</a:t>
            </a: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p</a:t>
            </a:r>
            <a:r>
              <a:rPr lang="en-IN" baseline="-25000" dirty="0" smtClean="0"/>
              <a:t>no </a:t>
            </a:r>
            <a:r>
              <a:rPr lang="en-IN" dirty="0" smtClean="0"/>
              <a:t>)</a:t>
            </a:r>
            <a:r>
              <a:rPr lang="en-IN" baseline="-25000" dirty="0" smtClean="0"/>
              <a:t> </a:t>
            </a:r>
          </a:p>
          <a:p>
            <a:pPr lvl="1">
              <a:buFontTx/>
              <a:buChar char="-"/>
            </a:pPr>
            <a:r>
              <a:rPr lang="en-IN" dirty="0"/>
              <a:t>1</a:t>
            </a:r>
            <a:endParaRPr lang="en-IN" dirty="0" smtClean="0"/>
          </a:p>
          <a:p>
            <a:endParaRPr lang="en-IN" baseline="-25000" dirty="0" smtClean="0"/>
          </a:p>
          <a:p>
            <a:pPr lvl="1"/>
            <a:endParaRPr lang="en-IN" dirty="0" smtClean="0"/>
          </a:p>
          <a:p>
            <a:pPr lvl="1"/>
            <a:endParaRPr lang="en-IN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025226"/>
              </p:ext>
            </p:extLst>
          </p:nvPr>
        </p:nvGraphicFramePr>
        <p:xfrm>
          <a:off x="5386190" y="2994028"/>
          <a:ext cx="2536522" cy="1097280"/>
        </p:xfrm>
        <a:graphic>
          <a:graphicData uri="http://schemas.openxmlformats.org/drawingml/2006/table">
            <a:tbl>
              <a:tblPr/>
              <a:tblGrid>
                <a:gridCol w="1268261"/>
                <a:gridCol w="1268261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Demand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medium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medium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921" y="1080934"/>
            <a:ext cx="4509562" cy="61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099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H(S</a:t>
            </a:r>
            <a:r>
              <a:rPr lang="en-IN" baseline="-25000" dirty="0" smtClean="0"/>
              <a:t>v</a:t>
            </a:r>
            <a:r>
              <a:rPr lang="en-IN" dirty="0" smtClean="0"/>
              <a:t>) for Demand = Low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Case v = low, Subset S</a:t>
            </a:r>
            <a:r>
              <a:rPr lang="en-IN" baseline="-25000" dirty="0" smtClean="0"/>
              <a:t>d=low</a:t>
            </a:r>
          </a:p>
          <a:p>
            <a:pPr lvl="1"/>
            <a:r>
              <a:rPr lang="en-IN" dirty="0" smtClean="0"/>
              <a:t>|S</a:t>
            </a:r>
            <a:r>
              <a:rPr lang="en-IN" baseline="-25000" dirty="0" smtClean="0"/>
              <a:t>low</a:t>
            </a:r>
            <a:r>
              <a:rPr lang="en-IN" dirty="0" smtClean="0"/>
              <a:t>| = 1 </a:t>
            </a:r>
          </a:p>
          <a:p>
            <a:pPr lvl="1"/>
            <a:r>
              <a:rPr lang="en-IN" dirty="0" smtClean="0"/>
              <a:t>No = 1</a:t>
            </a:r>
          </a:p>
          <a:p>
            <a:pPr lvl="1"/>
            <a:r>
              <a:rPr lang="en-IN" dirty="0"/>
              <a:t>p</a:t>
            </a:r>
            <a:r>
              <a:rPr lang="en-IN" baseline="-25000" dirty="0" smtClean="0"/>
              <a:t>yes</a:t>
            </a:r>
            <a:r>
              <a:rPr lang="en-IN" dirty="0" smtClean="0"/>
              <a:t> = 0, p</a:t>
            </a:r>
            <a:r>
              <a:rPr lang="en-IN" baseline="-25000" dirty="0" smtClean="0"/>
              <a:t>no</a:t>
            </a:r>
            <a:r>
              <a:rPr lang="en-IN" dirty="0" smtClean="0"/>
              <a:t> = 1</a:t>
            </a:r>
          </a:p>
          <a:p>
            <a:endParaRPr lang="en-IN" dirty="0" smtClean="0"/>
          </a:p>
          <a:p>
            <a:r>
              <a:rPr lang="en-IN" dirty="0" smtClean="0"/>
              <a:t>H(S</a:t>
            </a:r>
            <a:r>
              <a:rPr lang="en-IN" baseline="-25000" dirty="0" smtClean="0"/>
              <a:t>low</a:t>
            </a:r>
            <a:r>
              <a:rPr lang="en-IN" dirty="0" smtClean="0"/>
              <a:t>) = </a:t>
            </a:r>
          </a:p>
          <a:p>
            <a:pPr lvl="1">
              <a:buFontTx/>
              <a:buChar char="-"/>
            </a:pPr>
            <a:r>
              <a:rPr lang="en-IN" dirty="0" smtClean="0"/>
              <a:t>( p</a:t>
            </a:r>
            <a:r>
              <a:rPr lang="en-IN" baseline="-25000" dirty="0" smtClean="0"/>
              <a:t>yes</a:t>
            </a: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p</a:t>
            </a:r>
            <a:r>
              <a:rPr lang="en-IN" baseline="-25000" dirty="0" smtClean="0"/>
              <a:t>yes </a:t>
            </a:r>
            <a:r>
              <a:rPr lang="en-IN" dirty="0" smtClean="0"/>
              <a:t> + p</a:t>
            </a:r>
            <a:r>
              <a:rPr lang="en-IN" baseline="-25000" dirty="0" smtClean="0"/>
              <a:t>no</a:t>
            </a:r>
            <a:r>
              <a:rPr lang="en-IN" dirty="0" smtClean="0"/>
              <a:t>log</a:t>
            </a:r>
            <a:r>
              <a:rPr lang="en-IN" baseline="-25000" dirty="0" smtClean="0"/>
              <a:t>2</a:t>
            </a:r>
            <a:r>
              <a:rPr lang="en-IN" dirty="0" smtClean="0"/>
              <a:t>p</a:t>
            </a:r>
            <a:r>
              <a:rPr lang="en-IN" baseline="-25000" dirty="0" smtClean="0"/>
              <a:t>no </a:t>
            </a:r>
            <a:r>
              <a:rPr lang="en-IN" dirty="0" smtClean="0"/>
              <a:t>)</a:t>
            </a:r>
            <a:r>
              <a:rPr lang="en-IN" baseline="-25000" dirty="0" smtClean="0"/>
              <a:t> </a:t>
            </a:r>
          </a:p>
          <a:p>
            <a:pPr lvl="1">
              <a:buFontTx/>
              <a:buChar char="-"/>
            </a:pPr>
            <a:r>
              <a:rPr lang="en-IN" dirty="0" smtClean="0"/>
              <a:t>0</a:t>
            </a:r>
            <a:endParaRPr lang="en-IN" dirty="0" smtClean="0"/>
          </a:p>
          <a:p>
            <a:endParaRPr lang="en-IN" baseline="-25000" dirty="0" smtClean="0"/>
          </a:p>
          <a:p>
            <a:pPr lvl="1"/>
            <a:endParaRPr lang="en-IN" dirty="0" smtClean="0"/>
          </a:p>
          <a:p>
            <a:pPr lvl="1"/>
            <a:endParaRPr lang="en-IN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65068"/>
              </p:ext>
            </p:extLst>
          </p:nvPr>
        </p:nvGraphicFramePr>
        <p:xfrm>
          <a:off x="5386190" y="2994028"/>
          <a:ext cx="2536522" cy="731520"/>
        </p:xfrm>
        <a:graphic>
          <a:graphicData uri="http://schemas.openxmlformats.org/drawingml/2006/table">
            <a:tbl>
              <a:tblPr/>
              <a:tblGrid>
                <a:gridCol w="1268261"/>
                <a:gridCol w="1268261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Demand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low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921" y="1080934"/>
            <a:ext cx="4509562" cy="61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650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Information Gain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Compute </a:t>
            </a:r>
            <a:r>
              <a:rPr lang="en-IN" dirty="0"/>
              <a:t>Weighted Entropy</a:t>
            </a:r>
            <a:endParaRPr lang="en-IN" dirty="0" smtClean="0"/>
          </a:p>
          <a:p>
            <a:pPr lvl="1"/>
            <a:r>
              <a:rPr lang="en-IN" dirty="0" smtClean="0"/>
              <a:t>Σ (|S</a:t>
            </a:r>
            <a:r>
              <a:rPr lang="en-IN" baseline="-25000" dirty="0" smtClean="0"/>
              <a:t>v</a:t>
            </a:r>
            <a:r>
              <a:rPr lang="en-IN" dirty="0" smtClean="0"/>
              <a:t>|/|S|) * H(S</a:t>
            </a:r>
            <a:r>
              <a:rPr lang="en-IN" baseline="-25000" dirty="0" smtClean="0"/>
              <a:t>v</a:t>
            </a:r>
            <a:r>
              <a:rPr lang="en-IN" dirty="0" smtClean="0"/>
              <a:t>)</a:t>
            </a:r>
          </a:p>
          <a:p>
            <a:pPr marL="857250" lvl="2" indent="0">
              <a:buNone/>
            </a:pPr>
            <a:r>
              <a:rPr lang="en-IN" dirty="0" smtClean="0"/>
              <a:t>= 3/6 * 0.918 + 2/6 * 1 + 1/6 * 0 </a:t>
            </a:r>
          </a:p>
          <a:p>
            <a:pPr marL="857250" lvl="2" indent="0">
              <a:buNone/>
            </a:pPr>
            <a:r>
              <a:rPr lang="en-IN" dirty="0" smtClean="0"/>
              <a:t>= 0.792 </a:t>
            </a:r>
          </a:p>
          <a:p>
            <a:pPr marL="400050"/>
            <a:r>
              <a:rPr lang="en-IN" dirty="0" smtClean="0"/>
              <a:t>Final Information Gain </a:t>
            </a:r>
          </a:p>
          <a:p>
            <a:pPr marL="800100" lvl="1"/>
            <a:r>
              <a:rPr lang="en-IN" dirty="0" smtClean="0"/>
              <a:t>IG(S,Demand) = H(S) – 0.792 = 0.208 </a:t>
            </a:r>
            <a:endParaRPr lang="en-IN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47" y="1858829"/>
            <a:ext cx="4509562" cy="61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7887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Final </a:t>
            </a:r>
            <a:r>
              <a:rPr lang="en-IN" b="1" dirty="0" smtClean="0"/>
              <a:t>Interpretation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Information </a:t>
            </a:r>
            <a:r>
              <a:rPr lang="en-IN" dirty="0"/>
              <a:t>Gain for Demand = </a:t>
            </a:r>
            <a:r>
              <a:rPr lang="en-IN" b="1" dirty="0"/>
              <a:t>0.208 </a:t>
            </a:r>
            <a:r>
              <a:rPr lang="en-IN" b="1" dirty="0" smtClean="0"/>
              <a:t>(moderate)</a:t>
            </a:r>
            <a:endParaRPr lang="en-IN" dirty="0"/>
          </a:p>
          <a:p>
            <a:pPr lvl="1"/>
            <a:r>
              <a:rPr lang="en-IN" dirty="0"/>
              <a:t>Does NOT reduce uncertainty much </a:t>
            </a:r>
          </a:p>
          <a:p>
            <a:pPr lvl="1"/>
            <a:r>
              <a:rPr lang="en-IN" dirty="0"/>
              <a:t>Produces </a:t>
            </a:r>
            <a:r>
              <a:rPr lang="en-IN" b="1" dirty="0"/>
              <a:t>impure </a:t>
            </a:r>
            <a:r>
              <a:rPr lang="en-IN" b="1" dirty="0" smtClean="0"/>
              <a:t>splits</a:t>
            </a:r>
          </a:p>
          <a:p>
            <a:pPr lvl="1"/>
            <a:endParaRPr lang="en-IN" dirty="0" smtClean="0"/>
          </a:p>
          <a:p>
            <a:r>
              <a:rPr lang="en-IN" b="1" dirty="0" smtClean="0"/>
              <a:t>Split</a:t>
            </a:r>
            <a:r>
              <a:rPr lang="en-IN" b="1" dirty="0"/>
              <a:t>:</a:t>
            </a:r>
          </a:p>
          <a:p>
            <a:pPr lvl="1"/>
            <a:r>
              <a:rPr lang="en-IN" dirty="0"/>
              <a:t>High → (Yes, No, Yes) </a:t>
            </a:r>
          </a:p>
          <a:p>
            <a:pPr lvl="1"/>
            <a:r>
              <a:rPr lang="en-IN" dirty="0"/>
              <a:t>Medium → (Yes, No) </a:t>
            </a:r>
          </a:p>
          <a:p>
            <a:pPr lvl="1"/>
            <a:r>
              <a:rPr lang="en-IN" dirty="0"/>
              <a:t>Low → (No) </a:t>
            </a:r>
          </a:p>
          <a:p>
            <a:r>
              <a:rPr lang="en-IN" dirty="0"/>
              <a:t>Compute entropy per split:</a:t>
            </a:r>
          </a:p>
          <a:p>
            <a:pPr lvl="1"/>
            <a:r>
              <a:rPr lang="en-IN" dirty="0"/>
              <a:t>High → mixed → high entropy </a:t>
            </a:r>
          </a:p>
          <a:p>
            <a:pPr lvl="1"/>
            <a:r>
              <a:rPr lang="en-IN" dirty="0"/>
              <a:t>Medium → mixed </a:t>
            </a:r>
          </a:p>
          <a:p>
            <a:pPr lvl="1"/>
            <a:r>
              <a:rPr lang="en-IN" dirty="0"/>
              <a:t>Low → pure → entropy = 0 </a:t>
            </a:r>
          </a:p>
          <a:p>
            <a:pPr marL="0" indent="0">
              <a:buNone/>
            </a:pPr>
            <a:r>
              <a:rPr lang="en-IN" dirty="0" smtClean="0"/>
              <a:t>Gain </a:t>
            </a:r>
            <a:r>
              <a:rPr lang="en-IN" dirty="0"/>
              <a:t>is </a:t>
            </a:r>
            <a:r>
              <a:rPr lang="en-IN" b="1" dirty="0" smtClean="0"/>
              <a:t>moderate</a:t>
            </a:r>
            <a:endParaRPr lang="en-IN" dirty="0" smtClean="0"/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831657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Compute Gain for “Drivers”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3542"/>
          </a:xfrm>
        </p:spPr>
        <p:txBody>
          <a:bodyPr>
            <a:normAutofit/>
          </a:bodyPr>
          <a:lstStyle/>
          <a:p>
            <a:r>
              <a:rPr lang="en-IN" dirty="0"/>
              <a:t>Information Gain with other </a:t>
            </a:r>
            <a:r>
              <a:rPr lang="en-IN" dirty="0" smtClean="0"/>
              <a:t>Attribute=Drivers: </a:t>
            </a:r>
            <a:endParaRPr lang="en-IN" dirty="0"/>
          </a:p>
          <a:p>
            <a:pPr marL="800100" lvl="1"/>
            <a:r>
              <a:rPr lang="en-IN" dirty="0" smtClean="0"/>
              <a:t>IG(S,Drivers</a:t>
            </a:r>
            <a:r>
              <a:rPr lang="en-IN" dirty="0"/>
              <a:t>) </a:t>
            </a:r>
            <a:r>
              <a:rPr lang="en-IN" dirty="0" smtClean="0"/>
              <a:t> = </a:t>
            </a:r>
            <a:r>
              <a:rPr lang="en-IN" dirty="0"/>
              <a:t>H(S) – Weighted Σ H(S</a:t>
            </a:r>
            <a:r>
              <a:rPr lang="en-IN" baseline="-25000" dirty="0"/>
              <a:t>v ∈ driver</a:t>
            </a:r>
            <a:r>
              <a:rPr lang="en-IN" dirty="0" smtClean="0"/>
              <a:t>)</a:t>
            </a:r>
          </a:p>
          <a:p>
            <a:r>
              <a:rPr lang="en-IN" b="1" dirty="0"/>
              <a:t>Split:</a:t>
            </a:r>
          </a:p>
          <a:p>
            <a:pPr lvl="1"/>
            <a:r>
              <a:rPr lang="en-IN" dirty="0"/>
              <a:t>Low → (Yes, Yes, Yes) → Pure </a:t>
            </a:r>
          </a:p>
          <a:p>
            <a:pPr lvl="1"/>
            <a:r>
              <a:rPr lang="en-IN" dirty="0"/>
              <a:t>High → (No, No, No) → Pure </a:t>
            </a:r>
          </a:p>
          <a:p>
            <a:r>
              <a:rPr lang="en-IN" b="1" dirty="0" smtClean="0"/>
              <a:t>Entropy</a:t>
            </a:r>
            <a:r>
              <a:rPr lang="en-IN" dirty="0" smtClean="0"/>
              <a:t> </a:t>
            </a:r>
            <a:r>
              <a:rPr lang="en-IN" dirty="0"/>
              <a:t>= 0</a:t>
            </a:r>
          </a:p>
          <a:p>
            <a:pPr lvl="1"/>
            <a:r>
              <a:rPr lang="en-IN" dirty="0"/>
              <a:t>IG=1−</a:t>
            </a:r>
            <a:r>
              <a:rPr lang="en-IN" dirty="0" smtClean="0"/>
              <a:t>0</a:t>
            </a:r>
          </a:p>
          <a:p>
            <a:pPr marL="0" indent="0">
              <a:buNone/>
            </a:pPr>
            <a:r>
              <a:rPr lang="en-IN" b="1" dirty="0" smtClean="0"/>
              <a:t>Perfect </a:t>
            </a:r>
            <a:r>
              <a:rPr lang="en-IN" b="1" dirty="0"/>
              <a:t>split!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457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Root Node Selected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71700" lvl="5" indent="0">
              <a:buNone/>
            </a:pPr>
            <a:r>
              <a:rPr lang="en-IN" dirty="0"/>
              <a:t> </a:t>
            </a:r>
            <a:r>
              <a:rPr lang="en-IN" dirty="0" smtClean="0"/>
              <a:t>	        </a:t>
            </a:r>
            <a:r>
              <a:rPr lang="en-IN" sz="3600" dirty="0" smtClean="0"/>
              <a:t>Drivers</a:t>
            </a:r>
            <a:r>
              <a:rPr lang="en-IN" sz="3600" dirty="0"/>
              <a:t>?</a:t>
            </a:r>
          </a:p>
          <a:p>
            <a:pPr marL="2171700" lvl="5" indent="0">
              <a:buNone/>
            </a:pPr>
            <a:r>
              <a:rPr lang="en-IN" sz="3600" dirty="0"/>
              <a:t>       /        \</a:t>
            </a:r>
          </a:p>
          <a:p>
            <a:pPr marL="2171700" lvl="5" indent="0">
              <a:buNone/>
            </a:pPr>
            <a:r>
              <a:rPr lang="en-IN" sz="3600" dirty="0"/>
              <a:t>    Low          High</a:t>
            </a:r>
          </a:p>
          <a:p>
            <a:pPr marL="2171700" lvl="5" indent="0">
              <a:buNone/>
            </a:pPr>
            <a:r>
              <a:rPr lang="en-IN" sz="3600" dirty="0"/>
              <a:t>   Yes           No</a:t>
            </a:r>
            <a:endParaRPr lang="en-IN" sz="3600" dirty="0" smtClean="0"/>
          </a:p>
          <a:p>
            <a:endParaRPr lang="en-IN" dirty="0" smtClean="0"/>
          </a:p>
          <a:p>
            <a:r>
              <a:rPr lang="en-IN" dirty="0" smtClean="0"/>
              <a:t>Tree </a:t>
            </a:r>
            <a:r>
              <a:rPr lang="en-IN" dirty="0"/>
              <a:t>stops here (perfect classification)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374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ID3 Algorithm (Step-by-Step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Algorithm</a:t>
            </a:r>
            <a:r>
              <a:rPr lang="en-IN" b="1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Compute entropy of dataset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For each attribute: </a:t>
            </a:r>
          </a:p>
          <a:p>
            <a:pPr lvl="1"/>
            <a:r>
              <a:rPr lang="en-IN" dirty="0"/>
              <a:t>Compute Information Gain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Select attribute with </a:t>
            </a:r>
            <a:r>
              <a:rPr lang="en-IN" b="1" dirty="0"/>
              <a:t>highest gain</a:t>
            </a:r>
            <a:r>
              <a:rPr lang="en-IN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Split dataset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Repeat recursively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Stop when: </a:t>
            </a:r>
          </a:p>
          <a:p>
            <a:pPr lvl="1"/>
            <a:r>
              <a:rPr lang="en-IN" dirty="0"/>
              <a:t>Node is pure OR </a:t>
            </a:r>
          </a:p>
          <a:p>
            <a:pPr lvl="1"/>
            <a:r>
              <a:rPr lang="en-IN" dirty="0"/>
              <a:t>No attributes left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744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Salient Points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6068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ID3 </a:t>
            </a:r>
            <a:r>
              <a:rPr lang="en-IN" dirty="0"/>
              <a:t>is </a:t>
            </a:r>
            <a:r>
              <a:rPr lang="en-IN" b="1" dirty="0"/>
              <a:t>greedy</a:t>
            </a:r>
            <a:endParaRPr lang="en-IN" dirty="0"/>
          </a:p>
          <a:p>
            <a:pPr lvl="1"/>
            <a:r>
              <a:rPr lang="en-IN" dirty="0"/>
              <a:t>Chooses </a:t>
            </a:r>
            <a:r>
              <a:rPr lang="en-IN" b="1" dirty="0"/>
              <a:t>best attribute NOW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Does NOT look ahead </a:t>
            </a:r>
          </a:p>
          <a:p>
            <a:r>
              <a:rPr lang="en-IN" dirty="0" smtClean="0"/>
              <a:t>Works </a:t>
            </a:r>
            <a:r>
              <a:rPr lang="en-IN" dirty="0"/>
              <a:t>well because:</a:t>
            </a:r>
          </a:p>
          <a:p>
            <a:pPr lvl="1"/>
            <a:r>
              <a:rPr lang="en-IN" dirty="0"/>
              <a:t>Information Gain aligns with </a:t>
            </a:r>
            <a:r>
              <a:rPr lang="en-IN" b="1" dirty="0"/>
              <a:t>uncertainty </a:t>
            </a:r>
            <a:r>
              <a:rPr lang="en-IN" b="1" dirty="0" smtClean="0"/>
              <a:t>reduction</a:t>
            </a:r>
            <a:endParaRPr lang="en-IN" b="1" dirty="0"/>
          </a:p>
          <a:p>
            <a:r>
              <a:rPr lang="en-IN" b="1" dirty="0" smtClean="0"/>
              <a:t>Limitations</a:t>
            </a:r>
          </a:p>
          <a:p>
            <a:pPr lvl="1"/>
            <a:r>
              <a:rPr lang="en-IN" dirty="0"/>
              <a:t>Biased toward attributes with many </a:t>
            </a:r>
            <a:r>
              <a:rPr lang="en-IN" dirty="0" smtClean="0"/>
              <a:t>values</a:t>
            </a:r>
          </a:p>
          <a:p>
            <a:pPr lvl="1"/>
            <a:r>
              <a:rPr lang="en-IN" dirty="0" smtClean="0"/>
              <a:t>Overfitting </a:t>
            </a:r>
            <a:r>
              <a:rPr lang="en-IN" dirty="0"/>
              <a:t>possible </a:t>
            </a:r>
            <a:endParaRPr lang="en-IN" dirty="0" smtClean="0"/>
          </a:p>
          <a:p>
            <a:pPr lvl="1"/>
            <a:r>
              <a:rPr lang="en-IN" dirty="0" smtClean="0"/>
              <a:t>Needs pruning</a:t>
            </a:r>
          </a:p>
        </p:txBody>
      </p:sp>
    </p:spTree>
    <p:extLst>
      <p:ext uri="{BB962C8B-B14F-4D97-AF65-F5344CB8AC3E}">
        <p14:creationId xmlns:p14="http://schemas.microsoft.com/office/powerpoint/2010/main" val="2813541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Comparative Study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38803"/>
          </a:xfrm>
        </p:spPr>
        <p:txBody>
          <a:bodyPr>
            <a:normAutofit fontScale="92500"/>
          </a:bodyPr>
          <a:lstStyle/>
          <a:p>
            <a:r>
              <a:rPr lang="en-IN" dirty="0" smtClean="0"/>
              <a:t>Decisition Trees vs Neural Nets Vs SVMs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Trees </a:t>
            </a:r>
            <a:r>
              <a:rPr lang="en-IN" dirty="0"/>
              <a:t>= </a:t>
            </a:r>
            <a:r>
              <a:rPr lang="en-IN" b="1" dirty="0"/>
              <a:t>logical </a:t>
            </a:r>
            <a:r>
              <a:rPr lang="en-IN" b="1" dirty="0" smtClean="0"/>
              <a:t>decisions = Ask Questions </a:t>
            </a:r>
            <a:endParaRPr lang="en-IN" dirty="0" smtClean="0"/>
          </a:p>
          <a:p>
            <a:r>
              <a:rPr lang="en-IN" dirty="0" smtClean="0"/>
              <a:t>SVM </a:t>
            </a:r>
            <a:r>
              <a:rPr lang="en-IN" dirty="0"/>
              <a:t>= </a:t>
            </a:r>
            <a:r>
              <a:rPr lang="en-IN" b="1" dirty="0"/>
              <a:t>geometric </a:t>
            </a:r>
            <a:r>
              <a:rPr lang="en-IN" b="1" dirty="0" smtClean="0"/>
              <a:t>boundaries = Draws boundary</a:t>
            </a:r>
            <a:endParaRPr lang="en-IN" dirty="0" smtClean="0"/>
          </a:p>
          <a:p>
            <a:r>
              <a:rPr lang="en-IN" dirty="0" smtClean="0"/>
              <a:t>NN </a:t>
            </a:r>
            <a:r>
              <a:rPr lang="en-IN" dirty="0"/>
              <a:t>= </a:t>
            </a:r>
            <a:r>
              <a:rPr lang="en-IN" b="1" dirty="0"/>
              <a:t>universal </a:t>
            </a:r>
            <a:r>
              <a:rPr lang="en-IN" b="1" dirty="0" smtClean="0"/>
              <a:t>approximator = learns representation via non linear functions 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911064"/>
              </p:ext>
            </p:extLst>
          </p:nvPr>
        </p:nvGraphicFramePr>
        <p:xfrm>
          <a:off x="970763" y="2147269"/>
          <a:ext cx="7020841" cy="1572322"/>
        </p:xfrm>
        <a:graphic>
          <a:graphicData uri="http://schemas.openxmlformats.org/drawingml/2006/table">
            <a:tbl>
              <a:tblPr/>
              <a:tblGrid>
                <a:gridCol w="1794567"/>
                <a:gridCol w="5226274"/>
              </a:tblGrid>
              <a:tr h="271453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453">
                <a:tc>
                  <a:txBody>
                    <a:bodyPr/>
                    <a:lstStyle/>
                    <a:p>
                      <a:r>
                        <a:rPr lang="en-IN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Rule-based (axis-aligned splits)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453">
                <a:tc>
                  <a:txBody>
                    <a:bodyPr/>
                    <a:lstStyle/>
                    <a:p>
                      <a:r>
                        <a:rPr lang="en-IN" dirty="0"/>
                        <a:t>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Margin-based (geometric separation)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042">
                <a:tc>
                  <a:txBody>
                    <a:bodyPr/>
                    <a:lstStyle/>
                    <a:p>
                      <a:r>
                        <a:rPr lang="en-IN"/>
                        <a:t>Neural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Function approximation (nonlinear mapping)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643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When to Use Decision </a:t>
            </a:r>
            <a:r>
              <a:rPr lang="en-IN" b="1" dirty="0" smtClean="0"/>
              <a:t>Trees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smtClean="0"/>
              <a:t>Use </a:t>
            </a:r>
            <a:r>
              <a:rPr lang="en-IN" dirty="0"/>
              <a:t>Decision Trees when:</a:t>
            </a:r>
          </a:p>
          <a:p>
            <a:r>
              <a:rPr lang="en-IN" b="1" dirty="0" smtClean="0"/>
              <a:t>Interpretability </a:t>
            </a:r>
            <a:r>
              <a:rPr lang="en-IN" b="1" dirty="0"/>
              <a:t>is critical</a:t>
            </a:r>
          </a:p>
          <a:p>
            <a:pPr lvl="1"/>
            <a:r>
              <a:rPr lang="en-IN" dirty="0" smtClean="0"/>
              <a:t>Fraud Detection in Banking, Income Tax etc. </a:t>
            </a:r>
          </a:p>
          <a:p>
            <a:pPr lvl="2"/>
            <a:r>
              <a:rPr lang="en-IN" dirty="0"/>
              <a:t>IF Amount &gt; 50k AND Location mismatch → </a:t>
            </a:r>
            <a:r>
              <a:rPr lang="en-IN" dirty="0" smtClean="0"/>
              <a:t>Fraud</a:t>
            </a:r>
          </a:p>
          <a:p>
            <a:pPr lvl="1"/>
            <a:r>
              <a:rPr lang="en-IN" dirty="0" smtClean="0"/>
              <a:t>Vs Ranking of a product for a given query </a:t>
            </a:r>
            <a:endParaRPr lang="en-IN" dirty="0"/>
          </a:p>
          <a:p>
            <a:pPr lvl="1"/>
            <a:r>
              <a:rPr lang="en-IN" dirty="0" smtClean="0"/>
              <a:t>Business </a:t>
            </a:r>
            <a:r>
              <a:rPr lang="en-IN" dirty="0"/>
              <a:t>rules needed </a:t>
            </a:r>
          </a:p>
          <a:p>
            <a:pPr lvl="1"/>
            <a:r>
              <a:rPr lang="en-IN" dirty="0"/>
              <a:t>Explainable AI required </a:t>
            </a:r>
          </a:p>
          <a:p>
            <a:r>
              <a:rPr lang="en-IN" b="1" dirty="0" smtClean="0"/>
              <a:t>Data </a:t>
            </a:r>
            <a:r>
              <a:rPr lang="en-IN" b="1" dirty="0"/>
              <a:t>is tabular</a:t>
            </a:r>
          </a:p>
          <a:p>
            <a:pPr lvl="1"/>
            <a:r>
              <a:rPr lang="en-IN" dirty="0"/>
              <a:t>Structured features </a:t>
            </a:r>
          </a:p>
          <a:p>
            <a:pPr lvl="1"/>
            <a:r>
              <a:rPr lang="en-IN" dirty="0"/>
              <a:t>Mixed types (categorical + numeric) </a:t>
            </a:r>
          </a:p>
          <a:p>
            <a:r>
              <a:rPr lang="en-IN" b="1" dirty="0" smtClean="0"/>
              <a:t>Nonlinear </a:t>
            </a:r>
            <a:r>
              <a:rPr lang="en-IN" b="1" dirty="0"/>
              <a:t>but simple boundaries</a:t>
            </a:r>
          </a:p>
          <a:p>
            <a:pPr lvl="1"/>
            <a:r>
              <a:rPr lang="en-IN" dirty="0"/>
              <a:t>Axis-aligned splits sufficient</a:t>
            </a:r>
          </a:p>
        </p:txBody>
      </p:sp>
    </p:spTree>
    <p:extLst>
      <p:ext uri="{BB962C8B-B14F-4D97-AF65-F5344CB8AC3E}">
        <p14:creationId xmlns:p14="http://schemas.microsoft.com/office/powerpoint/2010/main" val="1295268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When NOT to Use Decision </a:t>
            </a:r>
            <a:r>
              <a:rPr lang="en-IN" b="1" dirty="0" smtClean="0"/>
              <a:t>Trees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3880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 smtClean="0"/>
              <a:t>Avoid </a:t>
            </a:r>
            <a:r>
              <a:rPr lang="en-IN" b="1" dirty="0"/>
              <a:t>when:</a:t>
            </a:r>
          </a:p>
          <a:p>
            <a:pPr lvl="1"/>
            <a:r>
              <a:rPr lang="en-IN" dirty="0"/>
              <a:t>Complex feature interactions </a:t>
            </a:r>
            <a:r>
              <a:rPr lang="en-IN" dirty="0" smtClean="0"/>
              <a:t>( Ranking of results ) </a:t>
            </a:r>
            <a:endParaRPr lang="en-IN" dirty="0"/>
          </a:p>
          <a:p>
            <a:pPr lvl="1"/>
            <a:r>
              <a:rPr lang="en-IN" dirty="0"/>
              <a:t>High-dimensional continuous data </a:t>
            </a:r>
          </a:p>
          <a:p>
            <a:pPr lvl="1"/>
            <a:r>
              <a:rPr lang="en-IN" dirty="0"/>
              <a:t>Smooth decision boundary required </a:t>
            </a:r>
          </a:p>
          <a:p>
            <a:r>
              <a:rPr lang="en-IN" b="1" dirty="0" smtClean="0"/>
              <a:t>Use </a:t>
            </a:r>
            <a:r>
              <a:rPr lang="en-IN" b="1" dirty="0"/>
              <a:t>SVM when:</a:t>
            </a:r>
          </a:p>
          <a:p>
            <a:pPr lvl="1"/>
            <a:r>
              <a:rPr lang="en-IN" dirty="0"/>
              <a:t>Clear margin separation exists </a:t>
            </a:r>
            <a:r>
              <a:rPr lang="en-IN" dirty="0" smtClean="0"/>
              <a:t>( binary ) </a:t>
            </a:r>
            <a:endParaRPr lang="en-IN" dirty="0"/>
          </a:p>
          <a:p>
            <a:pPr lvl="1"/>
            <a:r>
              <a:rPr lang="en-IN" dirty="0"/>
              <a:t>High-dimensional data </a:t>
            </a:r>
          </a:p>
          <a:p>
            <a:pPr lvl="1"/>
            <a:r>
              <a:rPr lang="en-IN" dirty="0"/>
              <a:t>Small to medium dataset </a:t>
            </a:r>
            <a:endParaRPr lang="en-IN" dirty="0" smtClean="0"/>
          </a:p>
          <a:p>
            <a:r>
              <a:rPr lang="en-IN" b="1" dirty="0" smtClean="0"/>
              <a:t>Use </a:t>
            </a:r>
            <a:r>
              <a:rPr lang="en-IN" b="1" dirty="0"/>
              <a:t>Neural Networks when:</a:t>
            </a:r>
          </a:p>
          <a:p>
            <a:pPr lvl="1"/>
            <a:r>
              <a:rPr lang="en-IN" dirty="0"/>
              <a:t>Large dataset </a:t>
            </a:r>
          </a:p>
          <a:p>
            <a:pPr lvl="1"/>
            <a:r>
              <a:rPr lang="en-IN" dirty="0"/>
              <a:t>Complex patterns </a:t>
            </a:r>
          </a:p>
          <a:p>
            <a:pPr lvl="1"/>
            <a:r>
              <a:rPr lang="en-IN" dirty="0"/>
              <a:t>Unstructured data: </a:t>
            </a:r>
          </a:p>
          <a:p>
            <a:pPr lvl="2"/>
            <a:r>
              <a:rPr lang="en-IN" dirty="0"/>
              <a:t>Images </a:t>
            </a:r>
          </a:p>
          <a:p>
            <a:pPr lvl="2"/>
            <a:r>
              <a:rPr lang="en-IN" dirty="0"/>
              <a:t>Text </a:t>
            </a:r>
          </a:p>
          <a:p>
            <a:pPr lvl="2"/>
            <a:r>
              <a:rPr lang="en-IN" dirty="0"/>
              <a:t>Speech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069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18" y="11591"/>
            <a:ext cx="8229600" cy="58965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Comparison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228527"/>
              </p:ext>
            </p:extLst>
          </p:nvPr>
        </p:nvGraphicFramePr>
        <p:xfrm>
          <a:off x="93945" y="898741"/>
          <a:ext cx="8090322" cy="5959258"/>
        </p:xfrm>
        <a:graphic>
          <a:graphicData uri="http://schemas.openxmlformats.org/drawingml/2006/table">
            <a:tbl>
              <a:tblPr/>
              <a:tblGrid>
                <a:gridCol w="929785"/>
                <a:gridCol w="1063487"/>
                <a:gridCol w="1093305"/>
                <a:gridCol w="1113182"/>
                <a:gridCol w="1401418"/>
                <a:gridCol w="2489145"/>
              </a:tblGrid>
              <a:tr h="1270006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Requirements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Overfitting behavior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Visual Intuition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Mimic Analogy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Quick Summary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6">
                <a:tc>
                  <a:txBody>
                    <a:bodyPr/>
                    <a:lstStyle/>
                    <a:p>
                      <a:r>
                        <a:rPr lang="en-IN" dirty="0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Interpretability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Overfits</a:t>
                      </a:r>
                      <a:r>
                        <a:rPr lang="en-IN" baseline="0" dirty="0" smtClean="0"/>
                        <a:t> easily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rectangular regions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human reasoning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Easy to explain</a:t>
                      </a:r>
                      <a:br>
                        <a:rPr lang="en-IN" dirty="0" smtClean="0"/>
                      </a:br>
                      <a:r>
                        <a:rPr lang="en-IN" dirty="0" smtClean="0"/>
                        <a:t>❌ May miss subtle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6">
                <a:tc>
                  <a:txBody>
                    <a:bodyPr/>
                    <a:lstStyle/>
                    <a:p>
                      <a:r>
                        <a:rPr lang="en-IN"/>
                        <a:t>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Small clean dataset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Controlled via margin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linear/</a:t>
                      </a:r>
                    </a:p>
                    <a:p>
                      <a:r>
                        <a:rPr lang="en-IN" dirty="0" smtClean="0"/>
                        <a:t>curved boundary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mimics </a:t>
                      </a:r>
                      <a:r>
                        <a:rPr lang="en-IN" b="1" dirty="0" smtClean="0"/>
                        <a:t>geometry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Finds optimal separating boundary </a:t>
                      </a:r>
                    </a:p>
                    <a:p>
                      <a:r>
                        <a:rPr lang="en-IN" dirty="0" smtClean="0"/>
                        <a:t>✅ Better generalization</a:t>
                      </a:r>
                      <a:br>
                        <a:rPr lang="en-IN" dirty="0" smtClean="0"/>
                      </a:br>
                      <a:r>
                        <a:rPr lang="en-IN" dirty="0" smtClean="0"/>
                        <a:t>❌ Hard to interpret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9240">
                <a:tc>
                  <a:txBody>
                    <a:bodyPr/>
                    <a:lstStyle/>
                    <a:p>
                      <a:r>
                        <a:rPr lang="en-IN" dirty="0"/>
                        <a:t>Neural 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Complex patterns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Needs regularization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Function predictio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brain-like</a:t>
                      </a:r>
                      <a:r>
                        <a:rPr lang="en-IN" b="1" baseline="0" dirty="0" smtClean="0"/>
                        <a:t> rep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Learns hidden patterns </a:t>
                      </a:r>
                    </a:p>
                    <a:p>
                      <a:r>
                        <a:rPr lang="en-IN" dirty="0" smtClean="0"/>
                        <a:t>✅ Highest accuracy (often)</a:t>
                      </a:r>
                      <a:br>
                        <a:rPr lang="en-IN" dirty="0" smtClean="0"/>
                      </a:br>
                      <a:r>
                        <a:rPr lang="en-IN" dirty="0" smtClean="0"/>
                        <a:t>❌ Black box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030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Beyond ID3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Problem with a Single Decision Tree</a:t>
            </a:r>
          </a:p>
          <a:p>
            <a:pPr lvl="1"/>
            <a:r>
              <a:rPr lang="en-IN" dirty="0"/>
              <a:t>High variance → unstable </a:t>
            </a:r>
          </a:p>
          <a:p>
            <a:pPr lvl="1"/>
            <a:r>
              <a:rPr lang="en-IN" dirty="0"/>
              <a:t>Overfits easily </a:t>
            </a:r>
          </a:p>
          <a:p>
            <a:pPr lvl="1"/>
            <a:r>
              <a:rPr lang="en-IN" dirty="0"/>
              <a:t>Greedy → locally optimal splits </a:t>
            </a:r>
          </a:p>
          <a:p>
            <a:r>
              <a:rPr lang="en-IN" dirty="0" smtClean="0"/>
              <a:t>In </a:t>
            </a:r>
            <a:r>
              <a:rPr lang="en-IN" dirty="0"/>
              <a:t>industry:</a:t>
            </a:r>
          </a:p>
          <a:p>
            <a:pPr lvl="1"/>
            <a:r>
              <a:rPr lang="en-IN" dirty="0"/>
              <a:t>Data is noisy </a:t>
            </a:r>
          </a:p>
          <a:p>
            <a:pPr lvl="1"/>
            <a:r>
              <a:rPr lang="en-IN" dirty="0"/>
              <a:t>Patterns are subtle </a:t>
            </a:r>
          </a:p>
          <a:p>
            <a:pPr lvl="1"/>
            <a:r>
              <a:rPr lang="en-IN" dirty="0"/>
              <a:t>Single tree is often insufficient</a:t>
            </a:r>
          </a:p>
        </p:txBody>
      </p:sp>
    </p:spTree>
    <p:extLst>
      <p:ext uri="{BB962C8B-B14F-4D97-AF65-F5344CB8AC3E}">
        <p14:creationId xmlns:p14="http://schemas.microsoft.com/office/powerpoint/2010/main" val="1944677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Idea of Ensemble </a:t>
            </a:r>
            <a:r>
              <a:rPr lang="en-IN" b="1" dirty="0" smtClean="0"/>
              <a:t>Learning &amp; Boosting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38386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 smtClean="0"/>
              <a:t>Key </a:t>
            </a:r>
            <a:r>
              <a:rPr lang="en-IN" sz="2400" b="1" dirty="0"/>
              <a:t>Insight</a:t>
            </a:r>
          </a:p>
          <a:p>
            <a:pPr lvl="1"/>
            <a:r>
              <a:rPr lang="en-IN" sz="2000" dirty="0"/>
              <a:t>Instead of one model → use </a:t>
            </a:r>
            <a:r>
              <a:rPr lang="en-IN" sz="2000" b="1" dirty="0"/>
              <a:t>many weak models</a:t>
            </a:r>
            <a:endParaRPr lang="en-IN" sz="2000" dirty="0"/>
          </a:p>
          <a:p>
            <a:r>
              <a:rPr lang="en-IN" sz="2400" dirty="0"/>
              <a:t>Types:</a:t>
            </a:r>
          </a:p>
          <a:p>
            <a:pPr lvl="1"/>
            <a:r>
              <a:rPr lang="en-IN" sz="2000" dirty="0"/>
              <a:t>Bagging (Random Forest) </a:t>
            </a:r>
          </a:p>
          <a:p>
            <a:pPr lvl="1"/>
            <a:r>
              <a:rPr lang="en-IN" sz="2000" dirty="0"/>
              <a:t>Boosting (Gradient Boosting) </a:t>
            </a:r>
          </a:p>
          <a:p>
            <a:r>
              <a:rPr lang="en-IN" sz="2400" dirty="0" smtClean="0"/>
              <a:t>Focus</a:t>
            </a:r>
            <a:r>
              <a:rPr lang="en-IN" sz="2400" dirty="0"/>
              <a:t>: </a:t>
            </a:r>
            <a:r>
              <a:rPr lang="en-IN" sz="2400" b="1" dirty="0" smtClean="0"/>
              <a:t>Boosting. Core Idea of Boosting</a:t>
            </a:r>
            <a:endParaRPr lang="en-IN" sz="2400" dirty="0" smtClean="0"/>
          </a:p>
          <a:p>
            <a:pPr lvl="1"/>
            <a:r>
              <a:rPr lang="en-IN" sz="2000" dirty="0"/>
              <a:t>Learn models </a:t>
            </a:r>
            <a:r>
              <a:rPr lang="en-IN" sz="2000" b="1" dirty="0"/>
              <a:t>sequentially</a:t>
            </a:r>
            <a:r>
              <a:rPr lang="en-IN" sz="2000" dirty="0"/>
              <a:t>, each correcting previous mistakes</a:t>
            </a:r>
          </a:p>
          <a:p>
            <a:pPr lvl="1"/>
            <a:r>
              <a:rPr lang="en-IN" sz="2000" dirty="0"/>
              <a:t>Model 1 → initial prediction </a:t>
            </a:r>
          </a:p>
          <a:p>
            <a:pPr lvl="1"/>
            <a:r>
              <a:rPr lang="en-IN" sz="2000" dirty="0"/>
              <a:t>Model 2 → focuses on errors of Model 1 </a:t>
            </a:r>
          </a:p>
          <a:p>
            <a:pPr lvl="1"/>
            <a:r>
              <a:rPr lang="en-IN" sz="2000" dirty="0"/>
              <a:t>Model 3 → fixes remaining errors </a:t>
            </a:r>
          </a:p>
          <a:p>
            <a:r>
              <a:rPr lang="en-IN" sz="2400" dirty="0" smtClean="0"/>
              <a:t>Final </a:t>
            </a:r>
            <a:r>
              <a:rPr lang="en-IN" sz="2400" dirty="0"/>
              <a:t>prediction = </a:t>
            </a:r>
            <a:r>
              <a:rPr lang="en-IN" sz="2400" b="1" dirty="0"/>
              <a:t>sum of all </a:t>
            </a:r>
            <a:r>
              <a:rPr lang="en-IN" sz="2400" b="1" dirty="0" smtClean="0"/>
              <a:t>models</a:t>
            </a:r>
          </a:p>
          <a:p>
            <a:r>
              <a:rPr lang="en-IN" sz="2400" dirty="0" smtClean="0"/>
              <a:t>Instead </a:t>
            </a:r>
            <a:r>
              <a:rPr lang="en-IN" sz="2400" dirty="0"/>
              <a:t>of one big </a:t>
            </a:r>
            <a:r>
              <a:rPr lang="en-IN" sz="2400" dirty="0" smtClean="0"/>
              <a:t>tree: Build </a:t>
            </a:r>
            <a:r>
              <a:rPr lang="en-IN" sz="2400" dirty="0"/>
              <a:t>many </a:t>
            </a:r>
            <a:r>
              <a:rPr lang="en-IN" sz="2400" b="1" dirty="0"/>
              <a:t>small shallow </a:t>
            </a:r>
            <a:r>
              <a:rPr lang="en-IN" sz="2400" b="1" dirty="0" smtClean="0"/>
              <a:t>trees</a:t>
            </a:r>
            <a:endParaRPr lang="en-IN" sz="2400" dirty="0"/>
          </a:p>
          <a:p>
            <a:r>
              <a:rPr lang="en-IN" sz="2400" dirty="0"/>
              <a:t>Each tree:</a:t>
            </a:r>
          </a:p>
          <a:p>
            <a:pPr lvl="1"/>
            <a:r>
              <a:rPr lang="en-IN" sz="2000" dirty="0"/>
              <a:t>Learns </a:t>
            </a:r>
            <a:r>
              <a:rPr lang="en-IN" sz="2000" b="1" dirty="0"/>
              <a:t>residual errors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Improves previous </a:t>
            </a:r>
            <a:r>
              <a:rPr lang="en-IN" sz="2000" dirty="0" smtClean="0"/>
              <a:t>prediction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3794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Boosted  Decision Trees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63855"/>
          </a:xfrm>
        </p:spPr>
        <p:txBody>
          <a:bodyPr>
            <a:normAutofit/>
          </a:bodyPr>
          <a:lstStyle/>
          <a:p>
            <a:r>
              <a:rPr lang="en-IN" dirty="0" smtClean="0"/>
              <a:t>We Model </a:t>
            </a:r>
          </a:p>
          <a:p>
            <a:pPr lvl="1"/>
            <a:r>
              <a:rPr lang="en-IN" dirty="0" smtClean="0"/>
              <a:t>Add trees stage-wise</a:t>
            </a:r>
          </a:p>
          <a:p>
            <a:pPr lvl="1"/>
            <a:r>
              <a:rPr lang="en-IN" dirty="0" smtClean="0"/>
              <a:t>Weights γ</a:t>
            </a:r>
            <a:r>
              <a:rPr lang="en-IN" baseline="-25000" dirty="0" smtClean="0"/>
              <a:t>m </a:t>
            </a:r>
            <a:r>
              <a:rPr lang="en-IN" dirty="0" smtClean="0"/>
              <a:t>are learned </a:t>
            </a:r>
          </a:p>
          <a:p>
            <a:r>
              <a:rPr lang="en-IN" dirty="0" smtClean="0"/>
              <a:t>High level Working </a:t>
            </a:r>
          </a:p>
          <a:p>
            <a:pPr lvl="1"/>
            <a:r>
              <a:rPr lang="en-IN" dirty="0" smtClean="0"/>
              <a:t>Build First Tree using ID3</a:t>
            </a:r>
          </a:p>
          <a:p>
            <a:pPr lvl="1"/>
            <a:r>
              <a:rPr lang="en-IN" dirty="0" smtClean="0"/>
              <a:t>First Tree learns errors </a:t>
            </a:r>
            <a:r>
              <a:rPr lang="en-IN" dirty="0" smtClean="0">
                <a:sym typeface="Wingdings" pitchFamily="2" charset="2"/>
              </a:rPr>
              <a:t> Compute Residuals</a:t>
            </a:r>
          </a:p>
          <a:p>
            <a:pPr lvl="1"/>
            <a:r>
              <a:rPr lang="en-IN" dirty="0" smtClean="0">
                <a:sym typeface="Wingdings" pitchFamily="2" charset="2"/>
              </a:rPr>
              <a:t>Update Predictions</a:t>
            </a:r>
          </a:p>
          <a:p>
            <a:pPr lvl="2"/>
            <a:r>
              <a:rPr lang="en-IN" dirty="0" smtClean="0">
                <a:sym typeface="Wingdings" pitchFamily="2" charset="2"/>
              </a:rPr>
              <a:t>New Model F</a:t>
            </a:r>
            <a:r>
              <a:rPr lang="en-IN" baseline="-25000" dirty="0" smtClean="0">
                <a:sym typeface="Wingdings" pitchFamily="2" charset="2"/>
              </a:rPr>
              <a:t>1</a:t>
            </a:r>
            <a:r>
              <a:rPr lang="en-IN" dirty="0" smtClean="0">
                <a:sym typeface="Wingdings" pitchFamily="2" charset="2"/>
              </a:rPr>
              <a:t>(x) = F</a:t>
            </a:r>
            <a:r>
              <a:rPr lang="en-IN" baseline="-25000" dirty="0" smtClean="0">
                <a:sym typeface="Wingdings" pitchFamily="2" charset="2"/>
              </a:rPr>
              <a:t>0</a:t>
            </a:r>
            <a:r>
              <a:rPr lang="en-IN" dirty="0" smtClean="0">
                <a:sym typeface="Wingdings" pitchFamily="2" charset="2"/>
              </a:rPr>
              <a:t>(x) + </a:t>
            </a:r>
            <a:r>
              <a:rPr lang="en-IN" dirty="0" smtClean="0"/>
              <a:t>γ</a:t>
            </a:r>
            <a:r>
              <a:rPr lang="en-IN" baseline="-25000" dirty="0" smtClean="0"/>
              <a:t>1</a:t>
            </a:r>
            <a:r>
              <a:rPr lang="en-IN" dirty="0" smtClean="0"/>
              <a:t>h</a:t>
            </a:r>
            <a:r>
              <a:rPr lang="en-IN" baseline="-25000" dirty="0" smtClean="0"/>
              <a:t>1</a:t>
            </a:r>
            <a:r>
              <a:rPr lang="en-IN" dirty="0" smtClean="0"/>
              <a:t>(x)</a:t>
            </a:r>
          </a:p>
          <a:p>
            <a:pPr lvl="2"/>
            <a:r>
              <a:rPr lang="en-IN" dirty="0" smtClean="0"/>
              <a:t>Predictions Improve, Reduce Loss, Residuals Shrink</a:t>
            </a:r>
          </a:p>
          <a:p>
            <a:pPr lvl="2"/>
            <a:r>
              <a:rPr lang="en-IN" dirty="0" smtClean="0"/>
              <a:t>Second tree focuses on : </a:t>
            </a:r>
            <a:r>
              <a:rPr lang="en-IN" b="1" i="1" dirty="0" smtClean="0"/>
              <a:t>Remaining Mistakes </a:t>
            </a:r>
            <a:endParaRPr lang="en-IN" b="1" i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296" y="1575148"/>
            <a:ext cx="3520725" cy="2220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2473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Core Idea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Each step:</a:t>
            </a:r>
          </a:p>
          <a:p>
            <a:pPr lvl="1"/>
            <a:r>
              <a:rPr lang="en-IN" dirty="0"/>
              <a:t>Fit tree on residuals </a:t>
            </a:r>
          </a:p>
          <a:p>
            <a:pPr lvl="1"/>
            <a:r>
              <a:rPr lang="en-IN" dirty="0"/>
              <a:t>Update model </a:t>
            </a:r>
          </a:p>
          <a:p>
            <a:pPr lvl="1"/>
            <a:r>
              <a:rPr lang="en-IN" dirty="0"/>
              <a:t>Reduce loss </a:t>
            </a:r>
          </a:p>
          <a:p>
            <a:r>
              <a:rPr lang="en-IN" dirty="0" smtClean="0"/>
              <a:t>Eventually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Very accurate model </a:t>
            </a:r>
          </a:p>
          <a:p>
            <a:pPr lvl="1"/>
            <a:r>
              <a:rPr lang="en-IN" dirty="0"/>
              <a:t>Captures complex interactions</a:t>
            </a:r>
          </a:p>
        </p:txBody>
      </p:sp>
    </p:spTree>
    <p:extLst>
      <p:ext uri="{BB962C8B-B14F-4D97-AF65-F5344CB8AC3E}">
        <p14:creationId xmlns:p14="http://schemas.microsoft.com/office/powerpoint/2010/main" val="1938234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High Level Summary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5148"/>
            <a:ext cx="8229600" cy="515132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Why SGBT Works </a:t>
            </a:r>
            <a:r>
              <a:rPr lang="en-IN" b="1" dirty="0" smtClean="0"/>
              <a:t>Better</a:t>
            </a:r>
          </a:p>
          <a:p>
            <a:pPr lvl="1"/>
            <a:r>
              <a:rPr lang="en-IN" dirty="0" smtClean="0"/>
              <a:t>Handles </a:t>
            </a:r>
            <a:r>
              <a:rPr lang="en-IN" dirty="0"/>
              <a:t>Complex Patterns</a:t>
            </a:r>
          </a:p>
          <a:p>
            <a:pPr lvl="2"/>
            <a:r>
              <a:rPr lang="en-IN" dirty="0"/>
              <a:t>Captures interactions missed by single tree </a:t>
            </a:r>
          </a:p>
          <a:p>
            <a:pPr lvl="1"/>
            <a:r>
              <a:rPr lang="en-IN" dirty="0" smtClean="0"/>
              <a:t>Robust </a:t>
            </a:r>
            <a:r>
              <a:rPr lang="en-IN" dirty="0"/>
              <a:t>to Noise</a:t>
            </a:r>
          </a:p>
          <a:p>
            <a:pPr lvl="2"/>
            <a:r>
              <a:rPr lang="en-IN" dirty="0"/>
              <a:t>Sequential correction </a:t>
            </a:r>
          </a:p>
          <a:p>
            <a:pPr lvl="1"/>
            <a:r>
              <a:rPr lang="en-IN" dirty="0" smtClean="0"/>
              <a:t>High </a:t>
            </a:r>
            <a:r>
              <a:rPr lang="en-IN" dirty="0"/>
              <a:t>Accuracy</a:t>
            </a:r>
          </a:p>
          <a:p>
            <a:pPr lvl="2"/>
            <a:r>
              <a:rPr lang="en-IN" dirty="0"/>
              <a:t>State-of-the-art in tabular data </a:t>
            </a:r>
            <a:endParaRPr lang="en-IN" dirty="0" smtClean="0"/>
          </a:p>
          <a:p>
            <a:r>
              <a:rPr lang="en-IN" b="1" dirty="0"/>
              <a:t>Intuition Summary</a:t>
            </a:r>
          </a:p>
          <a:p>
            <a:pPr lvl="1"/>
            <a:r>
              <a:rPr lang="en-IN" dirty="0" smtClean="0"/>
              <a:t>ID3:“</a:t>
            </a:r>
            <a:r>
              <a:rPr lang="en-IN" dirty="0"/>
              <a:t>Ask best question </a:t>
            </a:r>
            <a:r>
              <a:rPr lang="en-IN" dirty="0" smtClean="0"/>
              <a:t>now”</a:t>
            </a:r>
          </a:p>
          <a:p>
            <a:pPr lvl="1"/>
            <a:r>
              <a:rPr lang="en-IN" dirty="0" smtClean="0"/>
              <a:t>BT: “</a:t>
            </a:r>
            <a:r>
              <a:rPr lang="en-IN" dirty="0"/>
              <a:t>Correct mistakes gradually</a:t>
            </a:r>
            <a:r>
              <a:rPr lang="en-IN" dirty="0" smtClean="0"/>
              <a:t>”</a:t>
            </a:r>
          </a:p>
          <a:p>
            <a:r>
              <a:rPr lang="en-IN" b="1" dirty="0"/>
              <a:t>Key Takeaway</a:t>
            </a:r>
          </a:p>
          <a:p>
            <a:pPr lvl="1"/>
            <a:r>
              <a:rPr lang="en-IN" dirty="0"/>
              <a:t>Gradient Boosting </a:t>
            </a:r>
            <a:r>
              <a:rPr lang="en-IN" dirty="0" smtClean="0"/>
              <a:t>= </a:t>
            </a:r>
            <a:r>
              <a:rPr lang="en-IN" b="1" dirty="0" smtClean="0"/>
              <a:t>Optimization </a:t>
            </a:r>
            <a:r>
              <a:rPr lang="en-IN" b="1" dirty="0"/>
              <a:t>+ Ensemble + Trees</a:t>
            </a:r>
            <a:endParaRPr lang="en-IN" dirty="0"/>
          </a:p>
          <a:p>
            <a:pPr lvl="1"/>
            <a:r>
              <a:rPr lang="en-IN" dirty="0" smtClean="0"/>
              <a:t>Used </a:t>
            </a:r>
            <a:r>
              <a:rPr lang="en-IN" dirty="0"/>
              <a:t>in </a:t>
            </a:r>
            <a:r>
              <a:rPr lang="en-IN" b="1" dirty="0"/>
              <a:t>XGBoost, LightGBM, CatBoost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Dominates </a:t>
            </a:r>
            <a:r>
              <a:rPr lang="en-IN" b="1" dirty="0"/>
              <a:t>tabular ML </a:t>
            </a:r>
            <a:r>
              <a:rPr lang="en-IN" b="1" dirty="0" smtClean="0"/>
              <a:t>problems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66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6563</TotalTime>
  <Words>1323</Words>
  <Application>Microsoft Office PowerPoint</Application>
  <PresentationFormat>On-screen Show (4:3)</PresentationFormat>
  <Paragraphs>376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Decision Trees</vt:lpstr>
      <vt:lpstr>Problem: Ride Allocation Optimization</vt:lpstr>
      <vt:lpstr>Why Not Simple Rules</vt:lpstr>
      <vt:lpstr>Example DataSet</vt:lpstr>
      <vt:lpstr>Idea: Purity of Split</vt:lpstr>
      <vt:lpstr>Information Gain for an Attribute Split</vt:lpstr>
      <vt:lpstr>ID3 in Action </vt:lpstr>
      <vt:lpstr>H(Sv) for Demand=High</vt:lpstr>
      <vt:lpstr>H(Sv) for Demand=Medium</vt:lpstr>
      <vt:lpstr>H(Sv) for Demand = Low </vt:lpstr>
      <vt:lpstr>Information Gain </vt:lpstr>
      <vt:lpstr>Final Interpretation</vt:lpstr>
      <vt:lpstr>Compute Gain for “Drivers”</vt:lpstr>
      <vt:lpstr>Root Node Selected</vt:lpstr>
      <vt:lpstr>ID3 Algorithm (Step-by-Step)</vt:lpstr>
      <vt:lpstr>Salient Points </vt:lpstr>
      <vt:lpstr>Comparative Study</vt:lpstr>
      <vt:lpstr>When to Use Decision Trees</vt:lpstr>
      <vt:lpstr>When NOT to Use Decision Trees</vt:lpstr>
      <vt:lpstr>Comparison</vt:lpstr>
      <vt:lpstr>Beyond ID3</vt:lpstr>
      <vt:lpstr>Idea of Ensemble Learning &amp; Boosting</vt:lpstr>
      <vt:lpstr>Boosted  Decision Trees</vt:lpstr>
      <vt:lpstr>Core Idea </vt:lpstr>
      <vt:lpstr>High Level Summary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Prasenjit Mukherjee</dc:creator>
  <dc:description>generated using python-pptx</dc:description>
  <cp:lastModifiedBy>Prasenjit Mukherjee</cp:lastModifiedBy>
  <cp:revision>26</cp:revision>
  <dcterms:created xsi:type="dcterms:W3CDTF">2013-01-27T09:14:16Z</dcterms:created>
  <dcterms:modified xsi:type="dcterms:W3CDTF">2026-04-16T04:57:24Z</dcterms:modified>
</cp:coreProperties>
</file>