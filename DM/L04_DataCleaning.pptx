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6" r:id="rId7"/>
    <p:sldId id="265" r:id="rId8"/>
    <p:sldId id="259" r:id="rId9"/>
    <p:sldId id="260" r:id="rId10"/>
    <p:sldId id="261" r:id="rId11"/>
    <p:sldId id="267" r:id="rId12"/>
    <p:sldId id="268" r:id="rId13"/>
    <p:sldId id="269" r:id="rId14"/>
    <p:sldId id="270" r:id="rId15"/>
    <p:sldId id="26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0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22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52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19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5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8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50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38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7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62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85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34C19-8E96-49AF-9F86-A5B95A5E17D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31885-B047-4571-A6F9-176D8E5AB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Data Cleaning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Where Are We in KDD Process</a:t>
            </a:r>
            <a:r>
              <a:rPr lang="en-IN" b="1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KDD Process Recap</a:t>
            </a:r>
            <a:r>
              <a:rPr lang="en-IN" b="1" dirty="0" smtClean="0"/>
              <a:t>: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Data Selection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Data Preprocessing (Our Focus</a:t>
            </a:r>
            <a:r>
              <a:rPr lang="en-IN" b="1" dirty="0" smtClean="0"/>
              <a:t>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b="1" dirty="0" smtClean="0"/>
              <a:t>0 Data Summarization 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b="1" dirty="0"/>
              <a:t>Data </a:t>
            </a:r>
            <a:r>
              <a:rPr lang="en-IN" b="1" dirty="0" smtClean="0"/>
              <a:t>Cleaning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Data Integration (Next)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Data Transformation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Data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Mining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Pattern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Knowledge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97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Data Quality </a:t>
            </a:r>
            <a:r>
              <a:rPr lang="en-IN" b="1" dirty="0" smtClean="0"/>
              <a:t>Iceberg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Visible Problems (20%):</a:t>
            </a:r>
          </a:p>
          <a:p>
            <a:pPr marL="0" indent="0">
              <a:buNone/>
            </a:pPr>
            <a:r>
              <a:rPr lang="en-IN" dirty="0"/>
              <a:t>- Syntax errors</a:t>
            </a:r>
          </a:p>
          <a:p>
            <a:pPr marL="0" indent="0">
              <a:buNone/>
            </a:pPr>
            <a:r>
              <a:rPr lang="en-IN" dirty="0"/>
              <a:t>- Format issues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Hidden Problems (80%):</a:t>
            </a:r>
          </a:p>
          <a:p>
            <a:pPr marL="0" indent="0">
              <a:buNone/>
            </a:pPr>
            <a:r>
              <a:rPr lang="en-IN" dirty="0"/>
              <a:t>- Missing values</a:t>
            </a:r>
          </a:p>
          <a:p>
            <a:pPr marL="0" indent="0">
              <a:buNone/>
            </a:pPr>
            <a:r>
              <a:rPr lang="en-IN" dirty="0"/>
              <a:t>- Inconsistencies</a:t>
            </a:r>
          </a:p>
          <a:p>
            <a:pPr marL="0" indent="0">
              <a:buNone/>
            </a:pPr>
            <a:r>
              <a:rPr lang="en-IN" dirty="0"/>
              <a:t>- Noise</a:t>
            </a:r>
          </a:p>
          <a:p>
            <a:pPr marL="0" indent="0">
              <a:buNone/>
            </a:pPr>
            <a:r>
              <a:rPr lang="en-IN" dirty="0"/>
              <a:t>- Outliers</a:t>
            </a:r>
          </a:p>
        </p:txBody>
      </p:sp>
    </p:spTree>
    <p:extLst>
      <p:ext uri="{BB962C8B-B14F-4D97-AF65-F5344CB8AC3E}">
        <p14:creationId xmlns:p14="http://schemas.microsoft.com/office/powerpoint/2010/main" val="266499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Data Cleaning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Real-World Statistics:</a:t>
            </a:r>
            <a:endParaRPr lang="en-IN" dirty="0"/>
          </a:p>
          <a:p>
            <a:pPr lvl="1"/>
            <a:r>
              <a:rPr lang="en-IN" dirty="0"/>
              <a:t>Data scientists spend 60-80% of time on data preparation</a:t>
            </a:r>
          </a:p>
          <a:p>
            <a:pPr lvl="1"/>
            <a:r>
              <a:rPr lang="en-IN" dirty="0"/>
              <a:t>Dirty data costs US businesses $3.1 trillion annually</a:t>
            </a:r>
          </a:p>
          <a:p>
            <a:pPr lvl="1"/>
            <a:r>
              <a:rPr lang="en-IN" dirty="0"/>
              <a:t>1 in 3 business leaders don't trust their own data</a:t>
            </a:r>
          </a:p>
          <a:p>
            <a:r>
              <a:rPr lang="en-IN" b="1" dirty="0"/>
              <a:t>Consequences of Dirty Data:</a:t>
            </a:r>
            <a:endParaRPr lang="en-IN" dirty="0"/>
          </a:p>
          <a:p>
            <a:pPr lvl="1"/>
            <a:r>
              <a:rPr lang="en-IN" dirty="0"/>
              <a:t>Misleading analytics</a:t>
            </a:r>
          </a:p>
          <a:p>
            <a:pPr lvl="1"/>
            <a:r>
              <a:rPr lang="en-IN" dirty="0"/>
              <a:t>Poor model performance</a:t>
            </a:r>
          </a:p>
          <a:p>
            <a:pPr lvl="1"/>
            <a:r>
              <a:rPr lang="en-IN" dirty="0"/>
              <a:t>Wrong business decisions</a:t>
            </a:r>
          </a:p>
          <a:p>
            <a:pPr lvl="1"/>
            <a:r>
              <a:rPr lang="en-IN" dirty="0"/>
              <a:t>Wasted </a:t>
            </a:r>
            <a:r>
              <a:rPr lang="en-IN" dirty="0" smtClean="0"/>
              <a:t>resources</a:t>
            </a:r>
          </a:p>
          <a:p>
            <a:pPr marL="0" indent="0">
              <a:buNone/>
            </a:pPr>
            <a:r>
              <a:rPr lang="en-IN" b="1" dirty="0" smtClean="0"/>
              <a:t>Case Example:</a:t>
            </a:r>
            <a:r>
              <a:rPr lang="en-IN" dirty="0" smtClean="0"/>
              <a:t> NASA's Mars Climate Orbiter ($327M loss) due to unit mismatch (pound-seconds vs newton-seconds)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45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Data Quality Problems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785149"/>
              </p:ext>
            </p:extLst>
          </p:nvPr>
        </p:nvGraphicFramePr>
        <p:xfrm>
          <a:off x="755576" y="1600200"/>
          <a:ext cx="7488832" cy="4525962"/>
        </p:xfrm>
        <a:graphic>
          <a:graphicData uri="http://schemas.openxmlformats.org/drawingml/2006/table">
            <a:tbl>
              <a:tblPr/>
              <a:tblGrid>
                <a:gridCol w="1800200"/>
                <a:gridCol w="2486210"/>
                <a:gridCol w="3202422"/>
              </a:tblGrid>
              <a:tr h="468811"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  <a:latin typeface="quote-cjk-patch"/>
                        </a:rPr>
                        <a:t>Problem Type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  <a:latin typeface="quote-cjk-patch"/>
                        </a:rPr>
                        <a:t>Examples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9155"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Missing Values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effectLst/>
                          <a:latin typeface="quote-cjk-patch"/>
                        </a:rPr>
                        <a:t>No data value stored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NULL, N/A, blank fields</a:t>
                      </a:r>
                    </a:p>
                  </a:txBody>
                  <a:tcPr marL="70498" marR="6344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9155"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Noise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effectLst/>
                          <a:latin typeface="quote-cjk-patch"/>
                        </a:rPr>
                        <a:t>Random error/variance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Measurement errors, typos</a:t>
                      </a:r>
                    </a:p>
                  </a:txBody>
                  <a:tcPr marL="70498" marR="6344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9499"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Outliers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Far from other observations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Fraud, errors, rare events</a:t>
                      </a:r>
                    </a:p>
                  </a:txBody>
                  <a:tcPr marL="70498" marR="6344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39843"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Inconsistencies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Contradictory data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"M" vs "Male", different date formats</a:t>
                      </a:r>
                    </a:p>
                  </a:txBody>
                  <a:tcPr marL="70498" marR="6344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9499"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Duplicates</a:t>
                      </a:r>
                    </a:p>
                  </a:txBody>
                  <a:tcPr marL="6344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effectLst/>
                          <a:latin typeface="quote-cjk-patch"/>
                        </a:rPr>
                        <a:t>Repeated records</a:t>
                      </a:r>
                    </a:p>
                  </a:txBody>
                  <a:tcPr marL="70498" marR="7049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effectLst/>
                          <a:latin typeface="quote-cjk-patch"/>
                        </a:rPr>
                        <a:t>Same customer entered twice</a:t>
                      </a:r>
                    </a:p>
                  </a:txBody>
                  <a:tcPr marL="70498" marR="63448" marT="44061" marB="440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07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Missing values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5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Missing Values -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Why Do Values Go Missing?</a:t>
            </a:r>
            <a:endParaRPr lang="en-IN" dirty="0"/>
          </a:p>
          <a:p>
            <a:pPr lvl="1"/>
            <a:r>
              <a:rPr lang="en-IN" dirty="0"/>
              <a:t>Equipment malfunction</a:t>
            </a:r>
          </a:p>
          <a:p>
            <a:pPr lvl="1"/>
            <a:r>
              <a:rPr lang="en-IN" dirty="0"/>
              <a:t>Data entry errors</a:t>
            </a:r>
          </a:p>
          <a:p>
            <a:pPr lvl="1"/>
            <a:r>
              <a:rPr lang="en-IN" dirty="0"/>
              <a:t>Refusal to answer</a:t>
            </a:r>
          </a:p>
          <a:p>
            <a:pPr lvl="1"/>
            <a:r>
              <a:rPr lang="en-IN" dirty="0"/>
              <a:t>Data not applicable</a:t>
            </a:r>
          </a:p>
          <a:p>
            <a:pPr lvl="1"/>
            <a:r>
              <a:rPr lang="en-IN" dirty="0"/>
              <a:t>Integration problems</a:t>
            </a:r>
          </a:p>
          <a:p>
            <a:r>
              <a:rPr lang="en-IN" b="1" dirty="0"/>
              <a:t>Types of Missingness (Rubin, 1976):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b="1" dirty="0"/>
              <a:t>MCAR</a:t>
            </a:r>
            <a:r>
              <a:rPr lang="en-IN" dirty="0"/>
              <a:t> (Missing Completely At Random): No systematic reason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b="1" dirty="0"/>
              <a:t>MAR</a:t>
            </a:r>
            <a:r>
              <a:rPr lang="en-IN" dirty="0"/>
              <a:t> (Missing At Random): Depends on observed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b="1" dirty="0"/>
              <a:t>MNAR</a:t>
            </a:r>
            <a:r>
              <a:rPr lang="en-IN" dirty="0"/>
              <a:t> (Missing Not At Random): Depends on unobserved data</a:t>
            </a:r>
          </a:p>
          <a:p>
            <a:pPr marL="0" indent="0">
              <a:buNone/>
            </a:pPr>
            <a:r>
              <a:rPr lang="en-IN" b="1" dirty="0"/>
              <a:t>Impact:</a:t>
            </a:r>
            <a:r>
              <a:rPr lang="en-IN" dirty="0"/>
              <a:t> Biased estimates, reduced statistical power, complications in </a:t>
            </a:r>
            <a:r>
              <a:rPr lang="en-IN" dirty="0" smtClean="0"/>
              <a:t>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70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Missing </a:t>
            </a:r>
            <a:r>
              <a:rPr lang="en-IN" b="1" dirty="0"/>
              <a:t>Values - Ignoring &amp; </a:t>
            </a:r>
            <a:r>
              <a:rPr lang="en-IN" b="1" dirty="0" smtClean="0"/>
              <a:t>Deleting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Method 1: Ignore the Problem</a:t>
            </a:r>
            <a:endParaRPr lang="en-IN" dirty="0"/>
          </a:p>
          <a:p>
            <a:pPr lvl="1"/>
            <a:r>
              <a:rPr lang="en-IN" dirty="0"/>
              <a:t>Works only if algorithms handle missing data</a:t>
            </a:r>
          </a:p>
          <a:p>
            <a:pPr lvl="1"/>
            <a:r>
              <a:rPr lang="en-IN" dirty="0"/>
              <a:t>Example: Some decision tree implementations</a:t>
            </a:r>
          </a:p>
          <a:p>
            <a:pPr lvl="1"/>
            <a:r>
              <a:rPr lang="en-IN" b="1" dirty="0"/>
              <a:t>Risk:</a:t>
            </a:r>
            <a:r>
              <a:rPr lang="en-IN" dirty="0"/>
              <a:t> Unknown biases, hidden problems</a:t>
            </a:r>
          </a:p>
          <a:p>
            <a:r>
              <a:rPr lang="en-IN" b="1" dirty="0"/>
              <a:t>Method 2: Delete Records (Listwise Deletion)</a:t>
            </a:r>
            <a:endParaRPr lang="en-IN" dirty="0"/>
          </a:p>
          <a:p>
            <a:pPr lvl="1"/>
            <a:r>
              <a:rPr lang="en-IN" b="1" dirty="0"/>
              <a:t>When to use:</a:t>
            </a:r>
            <a:r>
              <a:rPr lang="en-IN" dirty="0"/>
              <a:t> &lt;5% missing, MCAR assumption</a:t>
            </a:r>
          </a:p>
          <a:p>
            <a:pPr lvl="1"/>
            <a:r>
              <a:rPr lang="en-IN" b="1" dirty="0"/>
              <a:t>Pros:</a:t>
            </a:r>
            <a:r>
              <a:rPr lang="en-IN" dirty="0"/>
              <a:t> Simple, no imputation bias</a:t>
            </a:r>
          </a:p>
          <a:p>
            <a:pPr lvl="1"/>
            <a:r>
              <a:rPr lang="en-IN" b="1" dirty="0"/>
              <a:t>Cons:</a:t>
            </a:r>
            <a:r>
              <a:rPr lang="en-IN" dirty="0"/>
              <a:t> Loss of information, reduced sample size</a:t>
            </a:r>
          </a:p>
          <a:p>
            <a:r>
              <a:rPr lang="en-IN" b="1" dirty="0"/>
              <a:t>Method 3: Delete Attributes (Column Removal)</a:t>
            </a:r>
            <a:endParaRPr lang="en-IN" dirty="0"/>
          </a:p>
          <a:p>
            <a:pPr lvl="1"/>
            <a:r>
              <a:rPr lang="en-IN" dirty="0"/>
              <a:t>Remove variables with high missing percentage (&gt;40%)</a:t>
            </a:r>
          </a:p>
          <a:p>
            <a:pPr lvl="1"/>
            <a:r>
              <a:rPr lang="en-IN" dirty="0"/>
              <a:t>Decision based on importance vs missing rate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09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Missing Values - Imputation Methods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Method </a:t>
            </a:r>
            <a:r>
              <a:rPr lang="en-IN" b="1" dirty="0"/>
              <a:t>4: Mean/Median/Mode </a:t>
            </a:r>
            <a:r>
              <a:rPr lang="en-IN" b="1" dirty="0" smtClean="0"/>
              <a:t>Imputation</a:t>
            </a:r>
          </a:p>
          <a:p>
            <a:pPr marL="914400" lvl="2" indent="0">
              <a:buNone/>
            </a:pPr>
            <a:endParaRPr lang="en-IN" sz="2200" dirty="0" smtClean="0">
              <a:latin typeface="Bookman Old Style" pitchFamily="18" charset="0"/>
            </a:endParaRPr>
          </a:p>
          <a:p>
            <a:pPr marL="914400" lvl="2" indent="0">
              <a:buNone/>
            </a:pPr>
            <a:r>
              <a:rPr lang="en-IN" sz="2200" dirty="0" smtClean="0">
                <a:latin typeface="Bookman Old Style" pitchFamily="18" charset="0"/>
              </a:rPr>
              <a:t># </a:t>
            </a:r>
            <a:r>
              <a:rPr lang="en-IN" sz="2200" dirty="0" smtClean="0">
                <a:latin typeface="Bookman Old Style" pitchFamily="18" charset="0"/>
              </a:rPr>
              <a:t>For numeric columns</a:t>
            </a:r>
          </a:p>
          <a:p>
            <a:pPr marL="914400" lvl="2" indent="0">
              <a:buNone/>
            </a:pPr>
            <a:r>
              <a:rPr lang="en-IN" sz="2200" b="1" dirty="0" smtClean="0">
                <a:latin typeface="Bookman Old Style" pitchFamily="18" charset="0"/>
              </a:rPr>
              <a:t>data</a:t>
            </a:r>
            <a:r>
              <a:rPr lang="en-IN" sz="2200" b="1" dirty="0">
                <a:latin typeface="Bookman Old Style" pitchFamily="18" charset="0"/>
              </a:rPr>
              <a:t>['age'].fillna(data['age'].mean(), inplace=True)</a:t>
            </a:r>
          </a:p>
          <a:p>
            <a:pPr marL="914400" lvl="2" indent="0">
              <a:buNone/>
            </a:pPr>
            <a:r>
              <a:rPr lang="en-IN" sz="2200" dirty="0">
                <a:latin typeface="Bookman Old Style" pitchFamily="18" charset="0"/>
              </a:rPr>
              <a:t># For categorical columns</a:t>
            </a:r>
          </a:p>
          <a:p>
            <a:pPr marL="914400" lvl="2" indent="0">
              <a:buNone/>
            </a:pPr>
            <a:r>
              <a:rPr lang="en-IN" sz="2200" b="1" dirty="0">
                <a:latin typeface="Bookman Old Style" pitchFamily="18" charset="0"/>
              </a:rPr>
              <a:t>data['gender'].fillna(data['gender'].mode()[0], inplace=True</a:t>
            </a:r>
            <a:r>
              <a:rPr lang="en-IN" sz="2200" b="1" dirty="0" smtClean="0">
                <a:latin typeface="Bookman Old Style" pitchFamily="18" charset="0"/>
              </a:rPr>
              <a:t>)</a:t>
            </a:r>
            <a:endParaRPr lang="en-IN" sz="2200" b="1" dirty="0">
              <a:latin typeface="Bookman Old Style" pitchFamily="18" charset="0"/>
            </a:endParaRPr>
          </a:p>
          <a:p>
            <a:pPr marL="914400" lvl="2" indent="0">
              <a:buNone/>
            </a:pPr>
            <a:endParaRPr lang="en-IN" sz="1600" dirty="0">
              <a:latin typeface="Bookman Old Style" pitchFamily="18" charset="0"/>
            </a:endParaRPr>
          </a:p>
          <a:p>
            <a:pPr lvl="1"/>
            <a:r>
              <a:rPr lang="en-IN" b="1" dirty="0"/>
              <a:t>Mean:</a:t>
            </a:r>
            <a:r>
              <a:rPr lang="en-IN" dirty="0"/>
              <a:t> For symmetric, continuous data</a:t>
            </a:r>
          </a:p>
          <a:p>
            <a:pPr lvl="1"/>
            <a:r>
              <a:rPr lang="en-IN" b="1" dirty="0"/>
              <a:t>Median:</a:t>
            </a:r>
            <a:r>
              <a:rPr lang="en-IN" dirty="0"/>
              <a:t> For skewed data, ordinal variables</a:t>
            </a:r>
          </a:p>
          <a:p>
            <a:pPr lvl="1"/>
            <a:r>
              <a:rPr lang="en-IN" b="1" dirty="0"/>
              <a:t>Mode:</a:t>
            </a:r>
            <a:r>
              <a:rPr lang="en-IN" dirty="0"/>
              <a:t> For categorical data</a:t>
            </a:r>
          </a:p>
          <a:p>
            <a:pPr lvl="1"/>
            <a:r>
              <a:rPr lang="en-IN" b="1" dirty="0"/>
              <a:t>Pros:</a:t>
            </a:r>
            <a:r>
              <a:rPr lang="en-IN" dirty="0"/>
              <a:t> Simple, preserves sample size</a:t>
            </a:r>
          </a:p>
          <a:p>
            <a:pPr lvl="1"/>
            <a:r>
              <a:rPr lang="en-IN" b="1" dirty="0"/>
              <a:t>Cons:</a:t>
            </a:r>
            <a:r>
              <a:rPr lang="en-IN" dirty="0"/>
              <a:t> Reduces variance, distorts correlations</a:t>
            </a:r>
          </a:p>
          <a:p>
            <a:pPr marL="914400" lvl="2" indent="0">
              <a:buNone/>
            </a:pPr>
            <a:endParaRPr lang="en-IN" sz="16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29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Missing Values - Imputation Methods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Method 5: Regression Imputation</a:t>
            </a:r>
            <a:endParaRPr lang="en-IN" dirty="0"/>
          </a:p>
          <a:p>
            <a:pPr lvl="1"/>
            <a:r>
              <a:rPr lang="en-IN" dirty="0"/>
              <a:t>Predict missing values using other variables</a:t>
            </a:r>
          </a:p>
          <a:p>
            <a:pPr lvl="1"/>
            <a:r>
              <a:rPr lang="en-IN" dirty="0"/>
              <a:t>Linear regression for continuous variables</a:t>
            </a:r>
          </a:p>
          <a:p>
            <a:pPr lvl="1"/>
            <a:r>
              <a:rPr lang="en-IN" dirty="0"/>
              <a:t>Logistic regression for categorical variables</a:t>
            </a:r>
          </a:p>
          <a:p>
            <a:r>
              <a:rPr lang="en-IN" b="1" dirty="0"/>
              <a:t>Method 6: k-Nearest Neighbors (k-NN) Imputation</a:t>
            </a:r>
            <a:endParaRPr lang="en-IN" dirty="0"/>
          </a:p>
          <a:p>
            <a:pPr marL="457200" lvl="1" indent="0">
              <a:buNone/>
            </a:pPr>
            <a:r>
              <a:rPr lang="en-IN" dirty="0" smtClean="0">
                <a:latin typeface="Book Antiqua" pitchFamily="18" charset="0"/>
              </a:rPr>
              <a:t>For </a:t>
            </a:r>
            <a:r>
              <a:rPr lang="en-IN" dirty="0">
                <a:latin typeface="Book Antiqua" pitchFamily="18" charset="0"/>
              </a:rPr>
              <a:t>each missing value in record R: </a:t>
            </a:r>
            <a:endParaRPr lang="en-IN" dirty="0" smtClean="0">
              <a:latin typeface="Book Antiqua" pitchFamily="18" charset="0"/>
            </a:endParaRPr>
          </a:p>
          <a:p>
            <a:pPr marL="914400" lvl="2" indent="0">
              <a:buNone/>
            </a:pPr>
            <a:r>
              <a:rPr lang="en-IN" dirty="0" smtClean="0">
                <a:latin typeface="Book Antiqua" pitchFamily="18" charset="0"/>
              </a:rPr>
              <a:t>1</a:t>
            </a:r>
            <a:r>
              <a:rPr lang="en-IN" dirty="0">
                <a:latin typeface="Book Antiqua" pitchFamily="18" charset="0"/>
              </a:rPr>
              <a:t>. Find k most similar complete records </a:t>
            </a:r>
            <a:endParaRPr lang="en-IN" dirty="0" smtClean="0">
              <a:latin typeface="Book Antiqua" pitchFamily="18" charset="0"/>
            </a:endParaRPr>
          </a:p>
          <a:p>
            <a:pPr marL="914400" lvl="2" indent="0">
              <a:buNone/>
            </a:pPr>
            <a:r>
              <a:rPr lang="en-IN" dirty="0" smtClean="0">
                <a:latin typeface="Book Antiqua" pitchFamily="18" charset="0"/>
              </a:rPr>
              <a:t>2</a:t>
            </a:r>
            <a:r>
              <a:rPr lang="en-IN" dirty="0">
                <a:latin typeface="Book Antiqua" pitchFamily="18" charset="0"/>
              </a:rPr>
              <a:t>. Use their values (weighted average) to impute</a:t>
            </a:r>
          </a:p>
          <a:p>
            <a:pPr lvl="1"/>
            <a:r>
              <a:rPr lang="en-IN" b="1" dirty="0"/>
              <a:t>Pros:</a:t>
            </a:r>
            <a:r>
              <a:rPr lang="en-IN" dirty="0"/>
              <a:t> Uses multivariate information</a:t>
            </a:r>
          </a:p>
          <a:p>
            <a:pPr lvl="1"/>
            <a:r>
              <a:rPr lang="en-IN" b="1" dirty="0"/>
              <a:t>Cons:</a:t>
            </a:r>
            <a:r>
              <a:rPr lang="en-IN" dirty="0"/>
              <a:t> Computationally expensive, choice of k matters</a:t>
            </a:r>
          </a:p>
          <a:p>
            <a:r>
              <a:rPr lang="en-IN" b="1" dirty="0"/>
              <a:t>Method 7: Multiple Imputation</a:t>
            </a:r>
            <a:endParaRPr lang="en-IN" dirty="0"/>
          </a:p>
          <a:p>
            <a:pPr lvl="1"/>
            <a:r>
              <a:rPr lang="en-IN" dirty="0"/>
              <a:t>Create multiple complete datasets</a:t>
            </a:r>
          </a:p>
          <a:p>
            <a:pPr lvl="1"/>
            <a:r>
              <a:rPr lang="en-IN" dirty="0"/>
              <a:t>Analyze each separately</a:t>
            </a:r>
          </a:p>
          <a:p>
            <a:pPr lvl="1"/>
            <a:r>
              <a:rPr lang="en-IN" dirty="0"/>
              <a:t>Combine results</a:t>
            </a:r>
          </a:p>
          <a:p>
            <a:pPr lvl="1"/>
            <a:r>
              <a:rPr lang="en-IN" dirty="0"/>
              <a:t>Gold standard but </a:t>
            </a:r>
            <a:r>
              <a:rPr lang="en-IN" dirty="0" smtClean="0"/>
              <a:t>complex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18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Missing Values - Special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Time Series Data:</a:t>
            </a:r>
            <a:endParaRPr lang="en-IN" dirty="0"/>
          </a:p>
          <a:p>
            <a:pPr lvl="1"/>
            <a:r>
              <a:rPr lang="en-IN" dirty="0"/>
              <a:t>Forward fill/Backward </a:t>
            </a:r>
            <a:r>
              <a:rPr lang="en-IN" dirty="0" smtClean="0"/>
              <a:t>fill</a:t>
            </a:r>
          </a:p>
          <a:p>
            <a:pPr lvl="2"/>
            <a:r>
              <a:rPr lang="en-IN" dirty="0"/>
              <a:t>data.fillna(method='ffill') </a:t>
            </a:r>
            <a:r>
              <a:rPr lang="en-IN" i="1" dirty="0"/>
              <a:t># Forward fill</a:t>
            </a:r>
            <a:endParaRPr lang="en-IN" dirty="0" smtClean="0"/>
          </a:p>
          <a:p>
            <a:pPr lvl="3"/>
            <a:r>
              <a:rPr lang="en-IN" dirty="0"/>
              <a:t>f</a:t>
            </a:r>
            <a:r>
              <a:rPr lang="en-IN" dirty="0" smtClean="0"/>
              <a:t>fill </a:t>
            </a:r>
            <a:r>
              <a:rPr lang="en-IN" dirty="0" smtClean="0">
                <a:sym typeface="Wingdings" pitchFamily="2" charset="2"/>
              </a:rPr>
              <a:t> </a:t>
            </a:r>
            <a:r>
              <a:rPr lang="en-IN" dirty="0" smtClean="0"/>
              <a:t>Propagates </a:t>
            </a:r>
            <a:r>
              <a:rPr lang="en-IN" dirty="0"/>
              <a:t>the last valid observation forward</a:t>
            </a:r>
            <a:r>
              <a:rPr lang="en-IN" dirty="0" smtClean="0"/>
              <a:t>.</a:t>
            </a:r>
          </a:p>
          <a:p>
            <a:pPr lvl="3"/>
            <a:r>
              <a:rPr lang="en-IN" dirty="0"/>
              <a:t>b</a:t>
            </a:r>
            <a:r>
              <a:rPr lang="en-IN" dirty="0" smtClean="0"/>
              <a:t>fill </a:t>
            </a:r>
            <a:r>
              <a:rPr lang="en-IN" dirty="0" smtClean="0">
                <a:sym typeface="Wingdings" pitchFamily="2" charset="2"/>
              </a:rPr>
              <a:t> </a:t>
            </a:r>
            <a:r>
              <a:rPr lang="en-IN" dirty="0" smtClean="0"/>
              <a:t>Uses </a:t>
            </a:r>
            <a:r>
              <a:rPr lang="en-IN" dirty="0"/>
              <a:t>the next valid observation to fill the gap.</a:t>
            </a:r>
            <a:endParaRPr lang="en-IN" dirty="0"/>
          </a:p>
          <a:p>
            <a:pPr lvl="1"/>
            <a:r>
              <a:rPr lang="en-IN" dirty="0"/>
              <a:t>Interpolation (linear, polynomial)</a:t>
            </a:r>
          </a:p>
          <a:p>
            <a:pPr marL="914400" lvl="2" indent="0">
              <a:buNone/>
            </a:pPr>
            <a:r>
              <a:rPr lang="en-IN" dirty="0" smtClean="0"/>
              <a:t>data.interpolate(method</a:t>
            </a:r>
            <a:r>
              <a:rPr lang="en-IN" dirty="0"/>
              <a:t>='linear') </a:t>
            </a:r>
            <a:r>
              <a:rPr lang="en-IN" i="1" dirty="0"/>
              <a:t># Linear interpolation</a:t>
            </a:r>
            <a:endParaRPr lang="en-IN" dirty="0"/>
          </a:p>
          <a:p>
            <a:r>
              <a:rPr lang="en-IN" b="1" dirty="0"/>
              <a:t>Categorical Data:</a:t>
            </a:r>
            <a:endParaRPr lang="en-IN" dirty="0"/>
          </a:p>
          <a:p>
            <a:pPr lvl="1"/>
            <a:r>
              <a:rPr lang="en-IN" dirty="0"/>
              <a:t>Create "Missing" as a new category</a:t>
            </a:r>
          </a:p>
          <a:p>
            <a:pPr lvl="1"/>
            <a:r>
              <a:rPr lang="en-IN" dirty="0"/>
              <a:t>Preserves information about missingness pattern</a:t>
            </a:r>
          </a:p>
          <a:p>
            <a:r>
              <a:rPr lang="en-IN" b="1" dirty="0"/>
              <a:t>Advanced Methods (Mention only):</a:t>
            </a:r>
            <a:endParaRPr lang="en-IN" dirty="0"/>
          </a:p>
          <a:p>
            <a:pPr lvl="1"/>
            <a:r>
              <a:rPr lang="en-IN" dirty="0"/>
              <a:t>Expectation Maximization (EM)</a:t>
            </a:r>
          </a:p>
          <a:p>
            <a:pPr lvl="1"/>
            <a:r>
              <a:rPr lang="en-IN" dirty="0"/>
              <a:t>MICE (Multiple Imputation by Chained Equations</a:t>
            </a:r>
            <a:r>
              <a:rPr lang="en-IN" dirty="0" smtClean="0"/>
              <a:t>)</a:t>
            </a:r>
          </a:p>
          <a:p>
            <a:pPr lvl="1"/>
            <a:r>
              <a:rPr lang="en-IN" dirty="0"/>
              <a:t>Deep learning </a:t>
            </a:r>
            <a:r>
              <a:rPr lang="en-IN" dirty="0" smtClean="0"/>
              <a:t>approaches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23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Noisy data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118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Noisy </a:t>
            </a:r>
            <a:r>
              <a:rPr lang="en-IN" b="1" dirty="0"/>
              <a:t>Data - Understanding the </a:t>
            </a:r>
            <a:r>
              <a:rPr lang="en-IN" b="1" dirty="0" smtClean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What is Noise?</a:t>
            </a:r>
            <a:endParaRPr lang="en-IN" dirty="0"/>
          </a:p>
          <a:p>
            <a:pPr lvl="1"/>
            <a:r>
              <a:rPr lang="en-IN" dirty="0"/>
              <a:t>Random errors in attribute values</a:t>
            </a:r>
          </a:p>
          <a:p>
            <a:pPr lvl="1"/>
            <a:r>
              <a:rPr lang="en-IN" dirty="0"/>
              <a:t>Can be systematic or random</a:t>
            </a:r>
          </a:p>
          <a:p>
            <a:pPr lvl="1"/>
            <a:r>
              <a:rPr lang="en-IN" dirty="0"/>
              <a:t>Different from outliers (which are rare</a:t>
            </a:r>
            <a:r>
              <a:rPr lang="en-IN" dirty="0" smtClean="0"/>
              <a:t>)</a:t>
            </a:r>
          </a:p>
          <a:p>
            <a:pPr lvl="2"/>
            <a:r>
              <a:rPr lang="en-IN" dirty="0" smtClean="0"/>
              <a:t>Outliers can be genuinely correct rare data, but noise are actually incorrect data </a:t>
            </a:r>
            <a:endParaRPr lang="en-IN" dirty="0"/>
          </a:p>
          <a:p>
            <a:r>
              <a:rPr lang="en-IN" b="1" dirty="0"/>
              <a:t>Sources of Noise:</a:t>
            </a:r>
            <a:endParaRPr lang="en-IN" dirty="0"/>
          </a:p>
          <a:p>
            <a:pPr lvl="1"/>
            <a:r>
              <a:rPr lang="en-IN" dirty="0"/>
              <a:t>Data collection instruments</a:t>
            </a:r>
          </a:p>
          <a:p>
            <a:pPr lvl="1"/>
            <a:r>
              <a:rPr lang="en-IN" dirty="0"/>
              <a:t>Data entry processes</a:t>
            </a:r>
          </a:p>
          <a:p>
            <a:pPr lvl="1"/>
            <a:r>
              <a:rPr lang="en-IN" dirty="0"/>
              <a:t>Data transmission errors</a:t>
            </a:r>
          </a:p>
          <a:p>
            <a:pPr lvl="1"/>
            <a:r>
              <a:rPr lang="en-IN" dirty="0"/>
              <a:t>Technology limitations</a:t>
            </a:r>
          </a:p>
          <a:p>
            <a:r>
              <a:rPr lang="en-IN" b="1" dirty="0"/>
              <a:t>Effects on Mining:</a:t>
            </a:r>
            <a:endParaRPr lang="en-IN" dirty="0"/>
          </a:p>
          <a:p>
            <a:pPr lvl="1"/>
            <a:r>
              <a:rPr lang="en-IN" dirty="0"/>
              <a:t>Obscures patterns</a:t>
            </a:r>
          </a:p>
          <a:p>
            <a:pPr lvl="1"/>
            <a:r>
              <a:rPr lang="en-IN" dirty="0"/>
              <a:t>Increases model complexity</a:t>
            </a:r>
          </a:p>
          <a:p>
            <a:pPr lvl="1"/>
            <a:r>
              <a:rPr lang="en-IN" dirty="0"/>
              <a:t>Reduces accuracy</a:t>
            </a:r>
          </a:p>
          <a:p>
            <a:pPr lvl="1"/>
            <a:r>
              <a:rPr lang="en-IN" dirty="0"/>
              <a:t>Decreases </a:t>
            </a:r>
            <a:r>
              <a:rPr lang="en-IN" dirty="0" smtClean="0"/>
              <a:t>reliability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81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Noisy </a:t>
            </a:r>
            <a:r>
              <a:rPr lang="en-IN" b="1" dirty="0"/>
              <a:t>Data - Smoothing </a:t>
            </a:r>
            <a:r>
              <a:rPr lang="en-IN" b="1" dirty="0" smtClean="0"/>
              <a:t>Techniques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Binning Methods:</a:t>
            </a:r>
            <a:endParaRPr lang="en-IN" dirty="0"/>
          </a:p>
          <a:p>
            <a:pPr lvl="1"/>
            <a:r>
              <a:rPr lang="en-IN" b="1" dirty="0"/>
              <a:t>Equal-width binning:</a:t>
            </a:r>
            <a:r>
              <a:rPr lang="en-IN" dirty="0"/>
              <a:t> Equal range per bin</a:t>
            </a:r>
          </a:p>
          <a:p>
            <a:pPr lvl="1"/>
            <a:r>
              <a:rPr lang="en-IN" b="1" dirty="0"/>
              <a:t>Equal-frequency binning:</a:t>
            </a:r>
            <a:r>
              <a:rPr lang="en-IN" dirty="0"/>
              <a:t> Equal observations per bin</a:t>
            </a:r>
          </a:p>
          <a:p>
            <a:pPr lvl="1"/>
            <a:r>
              <a:rPr lang="en-IN" b="1" dirty="0"/>
              <a:t>Smoothing by bin means/medians/boundaries</a:t>
            </a:r>
            <a:endParaRPr lang="en-IN" dirty="0"/>
          </a:p>
          <a:p>
            <a:r>
              <a:rPr lang="en-IN" b="1" dirty="0"/>
              <a:t>Example</a:t>
            </a:r>
            <a:r>
              <a:rPr lang="en-IN" b="1" dirty="0" smtClean="0"/>
              <a:t>:</a:t>
            </a:r>
            <a:endParaRPr lang="en-IN" dirty="0"/>
          </a:p>
          <a:p>
            <a:pPr marL="914400" lvl="2" indent="0">
              <a:buNone/>
            </a:pPr>
            <a:r>
              <a:rPr lang="en-IN" dirty="0">
                <a:latin typeface="Book Antiqua" pitchFamily="18" charset="0"/>
              </a:rPr>
              <a:t>Original: 4, 8, 9, 15, 21, 24, 25, 28, 34 </a:t>
            </a:r>
            <a:endParaRPr lang="en-IN" dirty="0" smtClean="0">
              <a:latin typeface="Book Antiqua" pitchFamily="18" charset="0"/>
            </a:endParaRPr>
          </a:p>
          <a:p>
            <a:pPr marL="914400" lvl="2" indent="0">
              <a:buNone/>
            </a:pPr>
            <a:r>
              <a:rPr lang="en-IN" dirty="0" smtClean="0">
                <a:latin typeface="Book Antiqua" pitchFamily="18" charset="0"/>
              </a:rPr>
              <a:t>Bin </a:t>
            </a:r>
            <a:r>
              <a:rPr lang="en-IN" dirty="0">
                <a:latin typeface="Book Antiqua" pitchFamily="18" charset="0"/>
              </a:rPr>
              <a:t>1 (4,8,9) → Mean = 7 → (7,7,7) </a:t>
            </a:r>
            <a:endParaRPr lang="en-IN" dirty="0" smtClean="0">
              <a:latin typeface="Book Antiqua" pitchFamily="18" charset="0"/>
            </a:endParaRPr>
          </a:p>
          <a:p>
            <a:pPr marL="914400" lvl="2" indent="0">
              <a:buNone/>
            </a:pPr>
            <a:r>
              <a:rPr lang="en-IN" dirty="0" smtClean="0">
                <a:latin typeface="Book Antiqua" pitchFamily="18" charset="0"/>
              </a:rPr>
              <a:t>Bin </a:t>
            </a:r>
            <a:r>
              <a:rPr lang="en-IN" dirty="0">
                <a:latin typeface="Book Antiqua" pitchFamily="18" charset="0"/>
              </a:rPr>
              <a:t>2 (15,21,24) → Mean = 20 → (20,20,20) </a:t>
            </a:r>
            <a:endParaRPr lang="en-IN" dirty="0" smtClean="0">
              <a:latin typeface="Book Antiqua" pitchFamily="18" charset="0"/>
            </a:endParaRPr>
          </a:p>
          <a:p>
            <a:pPr marL="914400" lvl="2" indent="0">
              <a:buNone/>
            </a:pPr>
            <a:r>
              <a:rPr lang="en-IN" dirty="0" smtClean="0">
                <a:latin typeface="Book Antiqua" pitchFamily="18" charset="0"/>
              </a:rPr>
              <a:t>Bin </a:t>
            </a:r>
            <a:r>
              <a:rPr lang="en-IN" dirty="0">
                <a:latin typeface="Book Antiqua" pitchFamily="18" charset="0"/>
              </a:rPr>
              <a:t>3 (25,28,34) → Mean = 29 → (29,29,29)</a:t>
            </a:r>
          </a:p>
        </p:txBody>
      </p:sp>
    </p:spTree>
    <p:extLst>
      <p:ext uri="{BB962C8B-B14F-4D97-AF65-F5344CB8AC3E}">
        <p14:creationId xmlns:p14="http://schemas.microsoft.com/office/powerpoint/2010/main" val="374548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Noisy </a:t>
            </a:r>
            <a:r>
              <a:rPr lang="en-IN" b="1" dirty="0"/>
              <a:t>Data - Regression &amp; </a:t>
            </a:r>
            <a:r>
              <a:rPr lang="en-IN" b="1" dirty="0" smtClean="0"/>
              <a:t>Clustering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Regression-Based Smoothing:</a:t>
            </a:r>
            <a:endParaRPr lang="en-IN" dirty="0"/>
          </a:p>
          <a:p>
            <a:pPr lvl="1"/>
            <a:r>
              <a:rPr lang="en-IN" dirty="0"/>
              <a:t>Fit function to data</a:t>
            </a:r>
          </a:p>
          <a:p>
            <a:pPr lvl="1"/>
            <a:r>
              <a:rPr lang="en-IN" dirty="0"/>
              <a:t>Replace values with predicted values</a:t>
            </a:r>
          </a:p>
          <a:p>
            <a:pPr lvl="1"/>
            <a:r>
              <a:rPr lang="en-IN" dirty="0"/>
              <a:t>Linear, polynomial, or other regression forms</a:t>
            </a:r>
          </a:p>
          <a:p>
            <a:r>
              <a:rPr lang="en-IN" b="1" dirty="0"/>
              <a:t>Clustering for Noise Handling:</a:t>
            </a:r>
            <a:endParaRPr lang="en-IN" dirty="0"/>
          </a:p>
          <a:p>
            <a:pPr lvl="1"/>
            <a:r>
              <a:rPr lang="en-IN" dirty="0"/>
              <a:t>Group similar data into clusters</a:t>
            </a:r>
          </a:p>
          <a:p>
            <a:pPr lvl="1"/>
            <a:r>
              <a:rPr lang="en-IN" dirty="0"/>
              <a:t>Detect and handle values far from cluster centroids</a:t>
            </a:r>
          </a:p>
          <a:p>
            <a:pPr lvl="1"/>
            <a:r>
              <a:rPr lang="en-IN" dirty="0"/>
              <a:t>Can identify noise as small clusters</a:t>
            </a:r>
          </a:p>
          <a:p>
            <a:r>
              <a:rPr lang="en-IN" b="1" dirty="0"/>
              <a:t>Example</a:t>
            </a:r>
            <a:r>
              <a:rPr lang="en-IN" b="1" dirty="0" smtClean="0"/>
              <a:t>:</a:t>
            </a:r>
          </a:p>
          <a:p>
            <a:pPr marL="457200" lvl="1" indent="0">
              <a:buNone/>
            </a:pPr>
            <a:r>
              <a:rPr lang="en-IN" dirty="0"/>
              <a:t>Data: Customer purchase amounts</a:t>
            </a:r>
          </a:p>
          <a:p>
            <a:pPr marL="457200" lvl="1" indent="0">
              <a:buNone/>
            </a:pPr>
            <a:r>
              <a:rPr lang="en-IN" dirty="0"/>
              <a:t>Clusters identified: </a:t>
            </a:r>
          </a:p>
          <a:p>
            <a:pPr marL="457200" lvl="1" indent="0">
              <a:buNone/>
            </a:pPr>
            <a:r>
              <a:rPr lang="en-IN" dirty="0"/>
              <a:t>- Regular purchases ($10-$100)</a:t>
            </a:r>
          </a:p>
          <a:p>
            <a:pPr marL="457200" lvl="1" indent="0">
              <a:buNone/>
            </a:pPr>
            <a:r>
              <a:rPr lang="en-IN" dirty="0"/>
              <a:t>- High-value purchases ($200-$500)</a:t>
            </a:r>
          </a:p>
          <a:p>
            <a:pPr marL="457200" lvl="1" indent="0">
              <a:buNone/>
            </a:pPr>
            <a:r>
              <a:rPr lang="en-IN" dirty="0"/>
              <a:t>- Noise: $1,000,000 (likely data entry error)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904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Outlier </a:t>
            </a:r>
            <a:r>
              <a:rPr lang="en-IN" b="1" dirty="0"/>
              <a:t>Detection - </a:t>
            </a:r>
            <a:r>
              <a:rPr lang="en-IN" b="1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What are Outliers?</a:t>
            </a:r>
            <a:endParaRPr lang="en-IN" dirty="0"/>
          </a:p>
          <a:p>
            <a:pPr lvl="1"/>
            <a:r>
              <a:rPr lang="en-IN" dirty="0"/>
              <a:t>Observations significantly different from majority</a:t>
            </a:r>
          </a:p>
          <a:p>
            <a:pPr lvl="1"/>
            <a:r>
              <a:rPr lang="en-IN" dirty="0"/>
              <a:t>Also called anomalies, exceptions, peculiarities</a:t>
            </a:r>
          </a:p>
          <a:p>
            <a:r>
              <a:rPr lang="en-IN" b="1" dirty="0"/>
              <a:t>Types of Outliers:</a:t>
            </a:r>
            <a:endParaRPr lang="en-IN" dirty="0"/>
          </a:p>
          <a:p>
            <a:pPr lvl="1"/>
            <a:r>
              <a:rPr lang="en-IN" b="1" dirty="0"/>
              <a:t>Point Outliers:</a:t>
            </a:r>
            <a:r>
              <a:rPr lang="en-IN" dirty="0"/>
              <a:t> Individual anomalous points</a:t>
            </a:r>
          </a:p>
          <a:p>
            <a:pPr lvl="1"/>
            <a:r>
              <a:rPr lang="en-IN" b="1" dirty="0"/>
              <a:t>Contextual Outliers:</a:t>
            </a:r>
            <a:r>
              <a:rPr lang="en-IN" dirty="0"/>
              <a:t> Anomalous in specific context</a:t>
            </a:r>
          </a:p>
          <a:p>
            <a:pPr lvl="1"/>
            <a:r>
              <a:rPr lang="en-IN" b="1" dirty="0"/>
              <a:t>Collective Outliers:</a:t>
            </a:r>
            <a:r>
              <a:rPr lang="en-IN" dirty="0"/>
              <a:t> Collection of related points anomalous together</a:t>
            </a:r>
          </a:p>
          <a:p>
            <a:r>
              <a:rPr lang="en-IN" b="1" dirty="0"/>
              <a:t>Importance:</a:t>
            </a:r>
            <a:endParaRPr lang="en-IN" dirty="0"/>
          </a:p>
          <a:p>
            <a:pPr lvl="1"/>
            <a:r>
              <a:rPr lang="en-IN" dirty="0"/>
              <a:t>Fraud detection</a:t>
            </a:r>
          </a:p>
          <a:p>
            <a:pPr lvl="1"/>
            <a:r>
              <a:rPr lang="en-IN" dirty="0"/>
              <a:t>Network intrusion</a:t>
            </a:r>
          </a:p>
          <a:p>
            <a:pPr lvl="1"/>
            <a:r>
              <a:rPr lang="en-IN" dirty="0"/>
              <a:t>Medical diagnosis</a:t>
            </a:r>
          </a:p>
          <a:p>
            <a:pPr lvl="1"/>
            <a:r>
              <a:rPr lang="en-IN" dirty="0"/>
              <a:t>Quality control</a:t>
            </a:r>
          </a:p>
          <a:p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Warning</a:t>
            </a:r>
            <a:r>
              <a:rPr lang="en-IN" b="1" dirty="0"/>
              <a:t>:</a:t>
            </a:r>
            <a:r>
              <a:rPr lang="en-IN" dirty="0"/>
              <a:t> One person's noise is another person's signal!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18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Outlier </a:t>
            </a:r>
            <a:r>
              <a:rPr lang="en-IN" b="1" dirty="0"/>
              <a:t>Detection - Statistical </a:t>
            </a:r>
            <a:r>
              <a:rPr lang="en-IN" b="1" dirty="0" smtClean="0"/>
              <a:t>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Assuming Normal Distribution:</a:t>
            </a:r>
            <a:endParaRPr lang="en-IN" dirty="0"/>
          </a:p>
          <a:p>
            <a:r>
              <a:rPr lang="en-IN" b="1" dirty="0"/>
              <a:t>Z-score method:</a:t>
            </a:r>
            <a:r>
              <a:rPr lang="en-IN" dirty="0"/>
              <a:t> |Z| &gt; 3 are outliers</a:t>
            </a:r>
          </a:p>
          <a:p>
            <a:pPr marL="457200" lvl="1" indent="0">
              <a:buNone/>
            </a:pPr>
            <a:r>
              <a:rPr lang="en-IN" dirty="0"/>
              <a:t>z_scores = np.abs(stats.zscore(data))</a:t>
            </a:r>
          </a:p>
          <a:p>
            <a:pPr marL="457200" lvl="1" indent="0">
              <a:buNone/>
            </a:pPr>
            <a:r>
              <a:rPr lang="en-IN" dirty="0"/>
              <a:t>outliers = data[z_scores &gt; 3</a:t>
            </a:r>
            <a:r>
              <a:rPr lang="en-IN" dirty="0" smtClean="0"/>
              <a:t>]</a:t>
            </a:r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endParaRPr lang="en-IN" dirty="0"/>
          </a:p>
          <a:p>
            <a:endParaRPr lang="en-IN" b="1" dirty="0" smtClean="0"/>
          </a:p>
          <a:p>
            <a:endParaRPr lang="en-IN" b="1" dirty="0" smtClean="0"/>
          </a:p>
          <a:p>
            <a:r>
              <a:rPr lang="en-IN" b="1" dirty="0" smtClean="0"/>
              <a:t>Modified </a:t>
            </a:r>
            <a:r>
              <a:rPr lang="en-IN" b="1" dirty="0"/>
              <a:t>Z-score:</a:t>
            </a:r>
            <a:r>
              <a:rPr lang="en-IN" dirty="0"/>
              <a:t> More robust for small </a:t>
            </a:r>
            <a:r>
              <a:rPr lang="en-IN" dirty="0" smtClean="0"/>
              <a:t>samples</a:t>
            </a:r>
          </a:p>
          <a:p>
            <a:endParaRPr lang="en-IN" b="1" dirty="0" smtClean="0"/>
          </a:p>
          <a:p>
            <a:r>
              <a:rPr lang="en-IN" b="1" dirty="0" smtClean="0"/>
              <a:t>IQR </a:t>
            </a:r>
            <a:r>
              <a:rPr lang="en-IN" b="1" dirty="0"/>
              <a:t>Method (Boxplot Approach</a:t>
            </a:r>
            <a:r>
              <a:rPr lang="en-IN" b="1" dirty="0" smtClean="0"/>
              <a:t>):</a:t>
            </a:r>
          </a:p>
          <a:p>
            <a:pPr marL="457200" lvl="1" indent="0">
              <a:buNone/>
            </a:pPr>
            <a:r>
              <a:rPr lang="en-IN" dirty="0"/>
              <a:t>Q1 = 25th percentile, Q3 = 75th percentile</a:t>
            </a:r>
          </a:p>
          <a:p>
            <a:pPr marL="457200" lvl="1" indent="0">
              <a:buNone/>
            </a:pPr>
            <a:r>
              <a:rPr lang="en-IN" dirty="0"/>
              <a:t>IQR = Q3 - Q1</a:t>
            </a:r>
          </a:p>
          <a:p>
            <a:pPr marL="457200" lvl="1" indent="0">
              <a:buNone/>
            </a:pPr>
            <a:r>
              <a:rPr lang="en-IN" dirty="0"/>
              <a:t>Lower bound = Q1 - 1.5*IQR</a:t>
            </a:r>
          </a:p>
          <a:p>
            <a:pPr marL="457200" lvl="1" indent="0">
              <a:buNone/>
            </a:pPr>
            <a:r>
              <a:rPr lang="en-IN" dirty="0"/>
              <a:t>Upper bound = Q3 + 1.5*IQR</a:t>
            </a:r>
          </a:p>
          <a:p>
            <a:pPr marL="457200" lvl="1" indent="0">
              <a:buNone/>
            </a:pPr>
            <a:r>
              <a:rPr lang="en-IN" dirty="0"/>
              <a:t>Values outside [Lower bound, Upper bound] are </a:t>
            </a:r>
            <a:r>
              <a:rPr lang="en-IN" dirty="0" smtClean="0"/>
              <a:t>outliers</a:t>
            </a:r>
            <a:endParaRPr lang="en-I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72816"/>
            <a:ext cx="3870187" cy="181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533" y="4149080"/>
            <a:ext cx="16256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00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Outlier </a:t>
            </a:r>
            <a:r>
              <a:rPr lang="en-IN" b="1" dirty="0"/>
              <a:t>Detection - Distance-Based </a:t>
            </a:r>
            <a:r>
              <a:rPr lang="en-IN" b="1" dirty="0" smtClean="0"/>
              <a:t>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k-NN Approach:</a:t>
            </a:r>
            <a:endParaRPr lang="en-IN" dirty="0"/>
          </a:p>
          <a:p>
            <a:pPr lvl="1"/>
            <a:r>
              <a:rPr lang="en-IN" dirty="0"/>
              <a:t>Compute distance to k-th nearest neighbor</a:t>
            </a:r>
          </a:p>
          <a:p>
            <a:pPr lvl="1"/>
            <a:r>
              <a:rPr lang="en-IN" dirty="0"/>
              <a:t>Flag points with unusually large distances</a:t>
            </a:r>
          </a:p>
          <a:p>
            <a:pPr lvl="1"/>
            <a:r>
              <a:rPr lang="en-IN" dirty="0"/>
              <a:t>Works for arbitrary distributions</a:t>
            </a:r>
          </a:p>
          <a:p>
            <a:r>
              <a:rPr lang="en-IN" b="1" dirty="0"/>
              <a:t>Mahalanobis Distance:</a:t>
            </a:r>
            <a:endParaRPr lang="en-IN" dirty="0"/>
          </a:p>
          <a:p>
            <a:pPr lvl="1"/>
            <a:r>
              <a:rPr lang="en-IN" dirty="0"/>
              <a:t>Considers correlations between variables</a:t>
            </a:r>
          </a:p>
          <a:p>
            <a:pPr lvl="1"/>
            <a:r>
              <a:rPr lang="en-IN" dirty="0"/>
              <a:t>More appropriate for multivariate </a:t>
            </a:r>
            <a:r>
              <a:rPr lang="en-IN" dirty="0" smtClean="0"/>
              <a:t>data</a:t>
            </a:r>
          </a:p>
          <a:p>
            <a:pPr marL="914400" lvl="2" indent="0">
              <a:buNone/>
            </a:pPr>
            <a:r>
              <a:rPr lang="en-IN" dirty="0"/>
              <a:t>D² = (x - </a:t>
            </a:r>
            <a:r>
              <a:rPr lang="el-GR" dirty="0"/>
              <a:t>μ)</a:t>
            </a:r>
            <a:r>
              <a:rPr lang="en-IN" dirty="0"/>
              <a:t>ᵀ </a:t>
            </a:r>
            <a:r>
              <a:rPr lang="el-GR" dirty="0"/>
              <a:t>Σ⁻¹ (</a:t>
            </a:r>
            <a:r>
              <a:rPr lang="en-IN" dirty="0"/>
              <a:t>x - </a:t>
            </a:r>
            <a:r>
              <a:rPr lang="el-GR" dirty="0"/>
              <a:t>μ)</a:t>
            </a:r>
          </a:p>
          <a:p>
            <a:pPr marL="914400" lvl="2" indent="0">
              <a:buNone/>
            </a:pPr>
            <a:r>
              <a:rPr lang="en-IN" dirty="0"/>
              <a:t>Where:</a:t>
            </a:r>
          </a:p>
          <a:p>
            <a:pPr marL="914400" lvl="2" indent="0">
              <a:buNone/>
            </a:pPr>
            <a:r>
              <a:rPr lang="en-IN" dirty="0"/>
              <a:t>  x = data point</a:t>
            </a:r>
          </a:p>
          <a:p>
            <a:pPr marL="914400" lvl="2" indent="0">
              <a:buNone/>
            </a:pPr>
            <a:r>
              <a:rPr lang="en-IN" dirty="0"/>
              <a:t>  </a:t>
            </a:r>
            <a:r>
              <a:rPr lang="el-GR" dirty="0"/>
              <a:t>μ = </a:t>
            </a:r>
            <a:r>
              <a:rPr lang="en-IN" dirty="0"/>
              <a:t>mean vector</a:t>
            </a:r>
          </a:p>
          <a:p>
            <a:pPr marL="914400" lvl="2" indent="0">
              <a:buNone/>
            </a:pPr>
            <a:r>
              <a:rPr lang="en-IN" dirty="0"/>
              <a:t>  </a:t>
            </a:r>
            <a:r>
              <a:rPr lang="el-GR" dirty="0"/>
              <a:t>Σ = </a:t>
            </a:r>
            <a:r>
              <a:rPr lang="en-IN" dirty="0"/>
              <a:t>covariance </a:t>
            </a:r>
            <a:r>
              <a:rPr lang="en-IN" dirty="0" smtClean="0"/>
              <a:t>matrix</a:t>
            </a:r>
          </a:p>
          <a:p>
            <a:r>
              <a:rPr lang="en-IN" b="1" dirty="0"/>
              <a:t>Density-Based:</a:t>
            </a:r>
            <a:endParaRPr lang="en-IN" dirty="0"/>
          </a:p>
          <a:p>
            <a:pPr lvl="1"/>
            <a:r>
              <a:rPr lang="en-IN" dirty="0"/>
              <a:t>Low-density regions indicate outliers</a:t>
            </a:r>
          </a:p>
          <a:p>
            <a:pPr lvl="1"/>
            <a:r>
              <a:rPr lang="en-IN" dirty="0"/>
              <a:t>Used in DBSCAN </a:t>
            </a:r>
            <a:r>
              <a:rPr lang="en-IN" dirty="0" smtClean="0"/>
              <a:t>algorithm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41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Handling </a:t>
            </a:r>
            <a:r>
              <a:rPr lang="en-IN" b="1" dirty="0"/>
              <a:t>Outliers - </a:t>
            </a:r>
            <a:r>
              <a:rPr lang="en-IN" b="1" dirty="0" smtClean="0"/>
              <a:t>Strategies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What to Do with Outliers?</a:t>
            </a:r>
            <a:endParaRPr lang="en-IN" dirty="0"/>
          </a:p>
          <a:p>
            <a:r>
              <a:rPr lang="en-IN" b="1" dirty="0"/>
              <a:t>Keep Them:</a:t>
            </a:r>
            <a:endParaRPr lang="en-IN" dirty="0"/>
          </a:p>
          <a:p>
            <a:pPr lvl="1"/>
            <a:r>
              <a:rPr lang="en-IN" dirty="0"/>
              <a:t>If they represent important phenomena</a:t>
            </a:r>
          </a:p>
          <a:p>
            <a:pPr lvl="1"/>
            <a:r>
              <a:rPr lang="en-IN" dirty="0"/>
              <a:t>Fraud detection, rare events</a:t>
            </a:r>
          </a:p>
          <a:p>
            <a:pPr lvl="1"/>
            <a:r>
              <a:rPr lang="en-IN" dirty="0"/>
              <a:t>Use robust algorithms</a:t>
            </a:r>
          </a:p>
          <a:p>
            <a:r>
              <a:rPr lang="en-IN" b="1" dirty="0"/>
              <a:t>Remove Them:</a:t>
            </a:r>
            <a:endParaRPr lang="en-IN" dirty="0"/>
          </a:p>
          <a:p>
            <a:pPr lvl="1"/>
            <a:r>
              <a:rPr lang="en-IN" dirty="0"/>
              <a:t>If they're errors</a:t>
            </a:r>
          </a:p>
          <a:p>
            <a:pPr lvl="1"/>
            <a:r>
              <a:rPr lang="en-IN" dirty="0"/>
              <a:t>Small percentage of data</a:t>
            </a:r>
          </a:p>
          <a:p>
            <a:pPr lvl="1"/>
            <a:r>
              <a:rPr lang="en-IN" dirty="0"/>
              <a:t>Document removal criteria</a:t>
            </a:r>
          </a:p>
          <a:p>
            <a:r>
              <a:rPr lang="en-IN" b="1" dirty="0"/>
              <a:t>Adjust/Cap Them:</a:t>
            </a:r>
            <a:endParaRPr lang="en-IN" dirty="0"/>
          </a:p>
          <a:p>
            <a:pPr lvl="1"/>
            <a:r>
              <a:rPr lang="en-IN" dirty="0"/>
              <a:t>Winsorizing: Replace with percentile values</a:t>
            </a:r>
          </a:p>
          <a:p>
            <a:pPr lvl="1"/>
            <a:r>
              <a:rPr lang="en-IN" dirty="0"/>
              <a:t>Transformation: Log, square root</a:t>
            </a:r>
          </a:p>
          <a:p>
            <a:pPr lvl="1"/>
            <a:r>
              <a:rPr lang="en-IN" dirty="0"/>
              <a:t>Separate modeling</a:t>
            </a:r>
          </a:p>
          <a:p>
            <a:r>
              <a:rPr lang="en-IN" b="1" dirty="0"/>
              <a:t>Decision Framework: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Is </a:t>
            </a:r>
            <a:r>
              <a:rPr lang="en-IN" dirty="0"/>
              <a:t>outlier an error? → Yes → Remove/Correct; No → Keep/Separate </a:t>
            </a:r>
            <a:r>
              <a:rPr lang="en-IN" dirty="0" smtClean="0"/>
              <a:t>Model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59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Case </a:t>
            </a:r>
            <a:r>
              <a:rPr lang="en-IN" b="1" dirty="0"/>
              <a:t>Study: Customer Data </a:t>
            </a:r>
            <a:r>
              <a:rPr lang="en-IN" b="1" dirty="0" smtClean="0"/>
              <a:t>Cleaning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Scenario:</a:t>
            </a:r>
            <a:r>
              <a:rPr lang="en-IN" dirty="0"/>
              <a:t> E-commerce dataset with 100,000 records</a:t>
            </a:r>
          </a:p>
          <a:p>
            <a:r>
              <a:rPr lang="en-IN" b="1" dirty="0"/>
              <a:t>Problems Found:</a:t>
            </a:r>
            <a:endParaRPr lang="en-IN" dirty="0"/>
          </a:p>
          <a:p>
            <a:pPr lvl="1"/>
            <a:r>
              <a:rPr lang="en-IN" dirty="0"/>
              <a:t>5% missing age values</a:t>
            </a:r>
          </a:p>
          <a:p>
            <a:pPr lvl="1"/>
            <a:r>
              <a:rPr lang="en-IN" dirty="0"/>
              <a:t>Price field with extreme values ($0.01 and $1,000,000)</a:t>
            </a:r>
          </a:p>
          <a:p>
            <a:pPr lvl="1"/>
            <a:r>
              <a:rPr lang="en-IN" dirty="0"/>
              <a:t>Inconsistent country names ("US", "USA", "United States")</a:t>
            </a:r>
          </a:p>
          <a:p>
            <a:pPr lvl="1"/>
            <a:r>
              <a:rPr lang="en-IN" dirty="0"/>
              <a:t>Purchase dates in future</a:t>
            </a:r>
          </a:p>
          <a:p>
            <a:r>
              <a:rPr lang="en-IN" b="1" dirty="0"/>
              <a:t>Cleaning Process</a:t>
            </a:r>
            <a:r>
              <a:rPr lang="en-IN" b="1" dirty="0" smtClean="0"/>
              <a:t>:</a:t>
            </a:r>
          </a:p>
          <a:p>
            <a:pPr lvl="1"/>
            <a:r>
              <a:rPr lang="en-IN" dirty="0"/>
              <a:t>Step 1: Handle missing age (k-NN imputation)</a:t>
            </a:r>
          </a:p>
          <a:p>
            <a:pPr lvl="1"/>
            <a:r>
              <a:rPr lang="en-IN" dirty="0"/>
              <a:t>Step 2: Remove price outliers (IQR method)</a:t>
            </a:r>
          </a:p>
          <a:p>
            <a:pPr lvl="1"/>
            <a:r>
              <a:rPr lang="en-IN" dirty="0"/>
              <a:t>Step 3: Standardize country names</a:t>
            </a:r>
          </a:p>
          <a:p>
            <a:pPr lvl="1"/>
            <a:r>
              <a:rPr lang="en-IN" dirty="0"/>
              <a:t>Step 4: Fix date errors (constraint-based</a:t>
            </a:r>
            <a:r>
              <a:rPr lang="en-IN" dirty="0" smtClean="0"/>
              <a:t>)</a:t>
            </a:r>
          </a:p>
          <a:p>
            <a:pPr lvl="1"/>
            <a:endParaRPr lang="en-IN" dirty="0"/>
          </a:p>
          <a:p>
            <a:r>
              <a:rPr lang="en-IN" b="1" dirty="0" smtClean="0"/>
              <a:t>Result</a:t>
            </a:r>
            <a:r>
              <a:rPr lang="en-IN" b="1" dirty="0"/>
              <a:t>:</a:t>
            </a:r>
            <a:r>
              <a:rPr lang="en-IN" dirty="0"/>
              <a:t> 8% data loss, but quality improved significantly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029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Data Cleaning Best Practices:</a:t>
            </a:r>
            <a:endParaRPr lang="en-IN" dirty="0"/>
          </a:p>
          <a:p>
            <a:pPr lvl="1"/>
            <a:r>
              <a:rPr lang="en-IN" dirty="0"/>
              <a:t>Always keep original data</a:t>
            </a:r>
          </a:p>
          <a:p>
            <a:pPr lvl="1"/>
            <a:r>
              <a:rPr lang="en-IN" dirty="0"/>
              <a:t>Document all cleaning steps</a:t>
            </a:r>
          </a:p>
          <a:p>
            <a:pPr lvl="1"/>
            <a:r>
              <a:rPr lang="en-IN" dirty="0"/>
              <a:t>Validate after cleaning</a:t>
            </a:r>
          </a:p>
          <a:p>
            <a:pPr lvl="1"/>
            <a:r>
              <a:rPr lang="en-IN" dirty="0"/>
              <a:t>Consider domain knowledge</a:t>
            </a:r>
          </a:p>
          <a:p>
            <a:pPr lvl="1"/>
            <a:r>
              <a:rPr lang="en-IN" dirty="0"/>
              <a:t>Iterative process</a:t>
            </a:r>
          </a:p>
          <a:p>
            <a:r>
              <a:rPr lang="en-IN" b="1" dirty="0" smtClean="0"/>
              <a:t>Validation </a:t>
            </a:r>
            <a:r>
              <a:rPr lang="en-IN" b="1" dirty="0"/>
              <a:t>Metrics:</a:t>
            </a:r>
            <a:endParaRPr lang="en-IN" dirty="0"/>
          </a:p>
          <a:p>
            <a:pPr lvl="1"/>
            <a:r>
              <a:rPr lang="en-IN" dirty="0"/>
              <a:t>Completeness (% of non-missing)</a:t>
            </a:r>
          </a:p>
          <a:p>
            <a:pPr lvl="1"/>
            <a:r>
              <a:rPr lang="en-IN" dirty="0"/>
              <a:t>Consistency (violation of constraints)</a:t>
            </a:r>
          </a:p>
          <a:p>
            <a:pPr lvl="1"/>
            <a:r>
              <a:rPr lang="en-IN" dirty="0"/>
              <a:t>Accuracy (compared to ground truth if available)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767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</a:t>
            </a:r>
            <a:r>
              <a:rPr lang="en-IN" b="1" dirty="0" smtClean="0"/>
              <a:t>Takeaways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Data </a:t>
            </a:r>
            <a:r>
              <a:rPr lang="en-IN" dirty="0"/>
              <a:t>cleaning is critical but time-consuming</a:t>
            </a:r>
          </a:p>
          <a:p>
            <a:r>
              <a:rPr lang="en-IN" dirty="0"/>
              <a:t>Missing values: Understand why, then choose method</a:t>
            </a:r>
          </a:p>
          <a:p>
            <a:r>
              <a:rPr lang="en-IN" dirty="0"/>
              <a:t>Noise: Smoothing improves signal-to-noise ratio</a:t>
            </a:r>
          </a:p>
          <a:p>
            <a:r>
              <a:rPr lang="en-IN" dirty="0"/>
              <a:t>Outliers: Detect carefully, handle thoughtfully</a:t>
            </a:r>
          </a:p>
          <a:p>
            <a:r>
              <a:rPr lang="en-IN" dirty="0"/>
              <a:t>No one-size-fits-all solution</a:t>
            </a:r>
          </a:p>
        </p:txBody>
      </p:sp>
    </p:spTree>
    <p:extLst>
      <p:ext uri="{BB962C8B-B14F-4D97-AF65-F5344CB8AC3E}">
        <p14:creationId xmlns:p14="http://schemas.microsoft.com/office/powerpoint/2010/main" val="375173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Quiz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Q1</a:t>
            </a:r>
            <a:r>
              <a:rPr lang="en-IN" dirty="0"/>
              <a:t>: What are the three types of missing data?</a:t>
            </a:r>
          </a:p>
          <a:p>
            <a:r>
              <a:rPr lang="en-IN" dirty="0"/>
              <a:t>Q2: When would you use median instead of mean imputation</a:t>
            </a:r>
            <a:r>
              <a:rPr lang="en-IN" dirty="0" smtClean="0"/>
              <a:t>?</a:t>
            </a:r>
          </a:p>
          <a:p>
            <a:r>
              <a:rPr lang="en-IN" dirty="0"/>
              <a:t>Q2: When would you use </a:t>
            </a:r>
            <a:r>
              <a:rPr lang="en-IN" dirty="0" smtClean="0"/>
              <a:t>mode instead </a:t>
            </a:r>
            <a:r>
              <a:rPr lang="en-IN" dirty="0"/>
              <a:t>of mean imputation</a:t>
            </a:r>
            <a:r>
              <a:rPr lang="en-IN" dirty="0" smtClean="0"/>
              <a:t>?</a:t>
            </a:r>
            <a:endParaRPr lang="en-IN" dirty="0"/>
          </a:p>
          <a:p>
            <a:r>
              <a:rPr lang="en-IN" dirty="0"/>
              <a:t>Q3: How does the IQR method identify outliers?</a:t>
            </a:r>
          </a:p>
          <a:p>
            <a:r>
              <a:rPr lang="en-IN" dirty="0"/>
              <a:t>Q4: What's the risk of removing all outliers automatically?</a:t>
            </a:r>
          </a:p>
        </p:txBody>
      </p:sp>
    </p:spTree>
    <p:extLst>
      <p:ext uri="{BB962C8B-B14F-4D97-AF65-F5344CB8AC3E}">
        <p14:creationId xmlns:p14="http://schemas.microsoft.com/office/powerpoint/2010/main" val="376506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8380</TotalTime>
  <Words>943</Words>
  <Application>Microsoft Office PowerPoint</Application>
  <PresentationFormat>On-screen Show (4:3)</PresentationFormat>
  <Paragraphs>264</Paragraphs>
  <Slides>23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Data Cleaning </vt:lpstr>
      <vt:lpstr>Where Are We in KDD Process?</vt:lpstr>
      <vt:lpstr>The Data Quality Iceberg</vt:lpstr>
      <vt:lpstr>Why Data Cleaning Matters</vt:lpstr>
      <vt:lpstr>Common Data Quality Problems</vt:lpstr>
      <vt:lpstr>Missing values</vt:lpstr>
      <vt:lpstr>Missing Values - The Problem</vt:lpstr>
      <vt:lpstr>Missing Values - Ignoring &amp; Deleting</vt:lpstr>
      <vt:lpstr>Missing Values - Imputation Methods (Part 1)</vt:lpstr>
      <vt:lpstr>Missing Values - Imputation Methods (Part 2)</vt:lpstr>
      <vt:lpstr>Missing Values - Special Cases</vt:lpstr>
      <vt:lpstr>Noisy data</vt:lpstr>
      <vt:lpstr>Noisy Data - Understanding the Problem</vt:lpstr>
      <vt:lpstr>Noisy Data - Smoothing Techniques</vt:lpstr>
      <vt:lpstr>Noisy Data - Regression &amp; Clustering</vt:lpstr>
      <vt:lpstr>Outlier Detection - Introduction</vt:lpstr>
      <vt:lpstr>Outlier Detection - Statistical Methods</vt:lpstr>
      <vt:lpstr>Outlier Detection - Distance-Based Methods</vt:lpstr>
      <vt:lpstr>Handling Outliers - Strategies</vt:lpstr>
      <vt:lpstr>Case Study: Customer Data Cleaning</vt:lpstr>
      <vt:lpstr>Best Practices</vt:lpstr>
      <vt:lpstr>Key Takeaways</vt:lpstr>
      <vt:lpstr>Quiz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</dc:title>
  <dc:creator>Prasenjit Mukherjee</dc:creator>
  <cp:lastModifiedBy>Prasenjit Mukherjee</cp:lastModifiedBy>
  <cp:revision>14</cp:revision>
  <dcterms:created xsi:type="dcterms:W3CDTF">2026-01-25T17:15:48Z</dcterms:created>
  <dcterms:modified xsi:type="dcterms:W3CDTF">2026-02-11T14:59:11Z</dcterms:modified>
</cp:coreProperties>
</file>