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8" r:id="rId2"/>
    <p:sldId id="316" r:id="rId3"/>
    <p:sldId id="272" r:id="rId4"/>
    <p:sldId id="273" r:id="rId5"/>
    <p:sldId id="317" r:id="rId6"/>
    <p:sldId id="280" r:id="rId7"/>
    <p:sldId id="281" r:id="rId8"/>
    <p:sldId id="282" r:id="rId9"/>
    <p:sldId id="283" r:id="rId10"/>
    <p:sldId id="285" r:id="rId11"/>
    <p:sldId id="284" r:id="rId12"/>
    <p:sldId id="286" r:id="rId13"/>
    <p:sldId id="287" r:id="rId14"/>
    <p:sldId id="290" r:id="rId15"/>
    <p:sldId id="288" r:id="rId16"/>
    <p:sldId id="289" r:id="rId17"/>
    <p:sldId id="305" r:id="rId18"/>
    <p:sldId id="303" r:id="rId19"/>
    <p:sldId id="304" r:id="rId20"/>
    <p:sldId id="307" r:id="rId21"/>
    <p:sldId id="308" r:id="rId22"/>
    <p:sldId id="314" r:id="rId23"/>
    <p:sldId id="313" r:id="rId24"/>
    <p:sldId id="319" r:id="rId25"/>
    <p:sldId id="318" r:id="rId26"/>
    <p:sldId id="321" r:id="rId27"/>
    <p:sldId id="320" r:id="rId28"/>
    <p:sldId id="309" r:id="rId29"/>
    <p:sldId id="310" r:id="rId30"/>
    <p:sldId id="311" r:id="rId31"/>
    <p:sldId id="294" r:id="rId32"/>
    <p:sldId id="291" r:id="rId33"/>
    <p:sldId id="292" r:id="rId34"/>
    <p:sldId id="293" r:id="rId35"/>
    <p:sldId id="295" r:id="rId36"/>
    <p:sldId id="296" r:id="rId37"/>
    <p:sldId id="297" r:id="rId38"/>
    <p:sldId id="298" r:id="rId39"/>
    <p:sldId id="299" r:id="rId40"/>
    <p:sldId id="277" r:id="rId41"/>
    <p:sldId id="300" r:id="rId42"/>
    <p:sldId id="301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180" y="-3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65AB4-9A0F-4B68-AD02-6D8BCD828E8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45D20D-274B-48A6-81A6-4825B12DC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262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Drip irrigation system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45D20D-274B-48A6-81A6-4825B12DC4A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651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Considering an example of data collected from the sensors connected to the windmill of a windfarm, sensors are connected to various components of the windmill to calculate the wind speed, energy produced and temperature of different components of the windmill.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45D20D-274B-48A6-81A6-4825B12DC4A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806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Foundations of DM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556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BDA and DM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1389505"/>
              </p:ext>
            </p:extLst>
          </p:nvPr>
        </p:nvGraphicFramePr>
        <p:xfrm>
          <a:off x="713022" y="1586588"/>
          <a:ext cx="7717956" cy="4553188"/>
        </p:xfrm>
        <a:graphic>
          <a:graphicData uri="http://schemas.openxmlformats.org/drawingml/2006/table">
            <a:tbl>
              <a:tblPr/>
              <a:tblGrid>
                <a:gridCol w="2572652"/>
                <a:gridCol w="2572652"/>
                <a:gridCol w="2572652"/>
              </a:tblGrid>
              <a:tr h="352549">
                <a:tc>
                  <a:txBody>
                    <a:bodyPr/>
                    <a:lstStyle/>
                    <a:p>
                      <a:pPr rtl="0"/>
                      <a:r>
                        <a:rPr lang="en-IN" sz="17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IN" sz="17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7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Big Data Analysis</a:t>
                      </a:r>
                      <a:endParaRPr lang="en-IN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7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Mining</a:t>
                      </a:r>
                      <a:endParaRPr lang="en-IN" sz="17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814">
                <a:tc>
                  <a:txBody>
                    <a:bodyPr/>
                    <a:lstStyle/>
                    <a:p>
                      <a:pPr rtl="0"/>
                      <a:r>
                        <a:rPr lang="en-IN" sz="17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Primary Focus</a:t>
                      </a:r>
                      <a:endParaRPr lang="en-IN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overall infrastructure and "big picture" of data.</a:t>
                      </a: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Finding specific patterns and relationships.</a:t>
                      </a: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7079">
                <a:tc>
                  <a:txBody>
                    <a:bodyPr/>
                    <a:lstStyle/>
                    <a:p>
                      <a:pPr rtl="0"/>
                      <a:r>
                        <a:rPr lang="en-IN" sz="17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Size</a:t>
                      </a:r>
                      <a:endParaRPr lang="en-IN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Specifically deals with massive, high-velocity datasets.</a:t>
                      </a: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Can be used on both large and small datasets.</a:t>
                      </a: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7079">
                <a:tc>
                  <a:txBody>
                    <a:bodyPr/>
                    <a:lstStyle/>
                    <a:p>
                      <a:pPr rtl="0"/>
                      <a:r>
                        <a:rPr lang="en-IN" sz="17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Goal</a:t>
                      </a:r>
                      <a:endParaRPr lang="en-IN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7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 derive strategic insights and business value.</a:t>
                      </a: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 discover unknown patterns and predict trends.</a:t>
                      </a: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814">
                <a:tc>
                  <a:txBody>
                    <a:bodyPr/>
                    <a:lstStyle/>
                    <a:p>
                      <a:pPr rtl="0"/>
                      <a:r>
                        <a:rPr lang="en-IN" sz="17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Tools</a:t>
                      </a:r>
                      <a:endParaRPr lang="en-IN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Hadoop, Spark, NoSQL, Cloud Warehousing.</a:t>
                      </a: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700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Excel, </a:t>
                      </a:r>
                      <a:r>
                        <a:rPr lang="en-IN" sz="17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Python (Scikit-Learn), </a:t>
                      </a:r>
                      <a:r>
                        <a:rPr lang="en-IN" sz="1700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Weka,Heritrix</a:t>
                      </a:r>
                      <a:r>
                        <a:rPr lang="en-IN" sz="1700" baseline="0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endParaRPr lang="en-IN" sz="17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814">
                <a:tc>
                  <a:txBody>
                    <a:bodyPr/>
                    <a:lstStyle/>
                    <a:p>
                      <a:pPr rtl="0"/>
                      <a:r>
                        <a:rPr lang="en-IN" sz="17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Scope</a:t>
                      </a:r>
                      <a:endParaRPr lang="en-IN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Broad (includes storage, security, and cleaning).</a:t>
                      </a: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Narrow (focused on the extraction of knowledge).</a:t>
                      </a: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814">
                <a:tc>
                  <a:txBody>
                    <a:bodyPr/>
                    <a:lstStyle/>
                    <a:p>
                      <a:pPr rtl="0"/>
                      <a:r>
                        <a:rPr lang="en-IN" sz="17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Nature</a:t>
                      </a:r>
                      <a:endParaRPr lang="en-IN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 ongoing architectural process.</a:t>
                      </a: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7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 algorithmic, discovery-based task.</a:t>
                      </a:r>
                      <a:r>
                        <a:rPr lang="en-IN" sz="1700" baseline="300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8</a:t>
                      </a:r>
                      <a:endParaRPr lang="en-IN" sz="17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463" marR="71463" marT="47642" marB="47642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361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Study Data Mining?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Massive volumes of data generated daily</a:t>
            </a:r>
          </a:p>
          <a:p>
            <a:r>
              <a:rPr dirty="0"/>
              <a:t>Raw data has no value without analysis</a:t>
            </a:r>
          </a:p>
          <a:p>
            <a:r>
              <a:rPr dirty="0"/>
              <a:t>Data Mining converts data into knowledge</a:t>
            </a:r>
          </a:p>
          <a:p>
            <a:r>
              <a:rPr dirty="0"/>
              <a:t>Used for decision-making in all industries</a:t>
            </a:r>
          </a:p>
        </p:txBody>
      </p:sp>
    </p:spTree>
    <p:extLst>
      <p:ext uri="{BB962C8B-B14F-4D97-AF65-F5344CB8AC3E}">
        <p14:creationId xmlns:p14="http://schemas.microsoft.com/office/powerpoint/2010/main" val="2707075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Data Explosion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E-commerce: millions of transactions per day</a:t>
            </a:r>
          </a:p>
          <a:p>
            <a:r>
              <a:t>Banking: ATM and card swipe data</a:t>
            </a:r>
          </a:p>
          <a:p>
            <a:r>
              <a:t>Education: attendance and assessment data</a:t>
            </a:r>
          </a:p>
          <a:p>
            <a:r>
              <a:t>Manual analysis is impossible at this scale</a:t>
            </a:r>
          </a:p>
        </p:txBody>
      </p:sp>
    </p:spTree>
    <p:extLst>
      <p:ext uri="{BB962C8B-B14F-4D97-AF65-F5344CB8AC3E}">
        <p14:creationId xmlns:p14="http://schemas.microsoft.com/office/powerpoint/2010/main" val="63030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IN" b="1" dirty="0" smtClean="0"/>
              <a:t>Data </a:t>
            </a:r>
            <a:r>
              <a:rPr lang="en-IN" b="1" dirty="0"/>
              <a:t>Mining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mtClean="0">
                <a:effectLst/>
              </a:rPr>
              <a:t>It </a:t>
            </a:r>
            <a:r>
              <a:rPr lang="en-IN" dirty="0" smtClean="0">
                <a:effectLst/>
              </a:rPr>
              <a:t>is the process of using techniques to </a:t>
            </a:r>
            <a:r>
              <a:rPr lang="en-IN" b="1" dirty="0" smtClean="0">
                <a:effectLst/>
              </a:rPr>
              <a:t>extract knowledge from large amounts of data</a:t>
            </a:r>
            <a:r>
              <a:rPr lang="en-IN" dirty="0" smtClean="0">
                <a:effectLst/>
              </a:rPr>
              <a:t>.</a:t>
            </a:r>
          </a:p>
          <a:p>
            <a:r>
              <a:rPr lang="en-IN" b="1" dirty="0" smtClean="0">
                <a:effectLst/>
              </a:rPr>
              <a:t>Methodologies:</a:t>
            </a:r>
            <a:r>
              <a:rPr lang="en-IN" dirty="0" smtClean="0">
                <a:effectLst/>
              </a:rPr>
              <a:t> Data mining encompasses both </a:t>
            </a:r>
            <a:r>
              <a:rPr lang="en-IN" b="1" dirty="0" smtClean="0">
                <a:effectLst/>
              </a:rPr>
              <a:t>predictive methods</a:t>
            </a:r>
            <a:r>
              <a:rPr lang="en-IN" dirty="0" smtClean="0">
                <a:effectLst/>
              </a:rPr>
              <a:t> (to forecast outcomes) and </a:t>
            </a:r>
            <a:r>
              <a:rPr lang="en-IN" b="1" dirty="0" smtClean="0">
                <a:effectLst/>
              </a:rPr>
              <a:t>descriptive methods</a:t>
            </a:r>
            <a:r>
              <a:rPr lang="en-IN" dirty="0" smtClean="0">
                <a:effectLst/>
              </a:rPr>
              <a:t> (to characterize properties of the data).</a:t>
            </a:r>
          </a:p>
          <a:p>
            <a:r>
              <a:rPr lang="en-IN" b="1" dirty="0" smtClean="0">
                <a:effectLst/>
              </a:rPr>
              <a:t>Evaluation:</a:t>
            </a:r>
            <a:r>
              <a:rPr lang="en-IN" dirty="0" smtClean="0">
                <a:effectLst/>
              </a:rPr>
              <a:t> A key component is using techniques to </a:t>
            </a:r>
            <a:r>
              <a:rPr lang="en-IN" b="1" dirty="0" smtClean="0">
                <a:effectLst/>
              </a:rPr>
              <a:t>quantify the accuracy or quality</a:t>
            </a:r>
            <a:r>
              <a:rPr lang="en-IN" dirty="0" smtClean="0">
                <a:effectLst/>
              </a:rPr>
              <a:t> of the predictions or descriptions made.</a:t>
            </a:r>
          </a:p>
        </p:txBody>
      </p:sp>
    </p:spTree>
    <p:extLst>
      <p:ext uri="{BB962C8B-B14F-4D97-AF65-F5344CB8AC3E}">
        <p14:creationId xmlns:p14="http://schemas.microsoft.com/office/powerpoint/2010/main" val="4282970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Data Mining?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Definition:</a:t>
            </a:r>
            <a:r>
              <a:rPr lang="en-IN" dirty="0"/>
              <a:t> Data mining is the set of techniques used to </a:t>
            </a:r>
            <a:r>
              <a:rPr lang="en-IN" b="1" dirty="0"/>
              <a:t>extract knowledge from large amounts of data</a:t>
            </a:r>
            <a:r>
              <a:rPr lang="en-IN" dirty="0" smtClean="0"/>
              <a:t>.</a:t>
            </a:r>
          </a:p>
          <a:p>
            <a:pPr lvl="1"/>
            <a:r>
              <a:rPr lang="en-IN" dirty="0"/>
              <a:t>Discovery of useful patterns from large datasets</a:t>
            </a:r>
          </a:p>
          <a:p>
            <a:pPr lvl="1"/>
            <a:r>
              <a:rPr lang="en-IN" dirty="0"/>
              <a:t>Patterns are non-trivial and previously unknown</a:t>
            </a:r>
          </a:p>
          <a:p>
            <a:pPr lvl="1"/>
            <a:r>
              <a:rPr lang="en-IN" dirty="0"/>
              <a:t>Focuses on actionable insights</a:t>
            </a:r>
          </a:p>
          <a:p>
            <a:pPr lvl="1"/>
            <a:r>
              <a:rPr lang="en-IN" dirty="0"/>
              <a:t>Supports strategic </a:t>
            </a:r>
            <a:r>
              <a:rPr lang="en-IN" dirty="0" smtClean="0"/>
              <a:t>decision-making</a:t>
            </a:r>
            <a:endParaRPr lang="en-IN" dirty="0"/>
          </a:p>
          <a:p>
            <a:r>
              <a:rPr lang="en-IN" b="1" dirty="0" smtClean="0"/>
              <a:t>Primary </a:t>
            </a:r>
            <a:r>
              <a:rPr lang="en-IN" b="1" dirty="0"/>
              <a:t>Goal:</a:t>
            </a:r>
            <a:r>
              <a:rPr lang="en-IN" dirty="0"/>
              <a:t> </a:t>
            </a:r>
            <a:endParaRPr lang="en-IN" dirty="0" smtClean="0"/>
          </a:p>
          <a:p>
            <a:pPr lvl="1"/>
            <a:r>
              <a:rPr lang="en-IN" dirty="0" smtClean="0"/>
              <a:t>To </a:t>
            </a:r>
            <a:r>
              <a:rPr lang="en-IN" dirty="0"/>
              <a:t>move beyond simple data storage and retrieval to find meaningful patterns and information</a:t>
            </a:r>
            <a:r>
              <a:rPr lang="en-IN" dirty="0" smtClean="0"/>
              <a:t>.</a:t>
            </a:r>
          </a:p>
          <a:p>
            <a:pPr lvl="1"/>
            <a:r>
              <a:rPr lang="en-IN" dirty="0" smtClean="0"/>
              <a:t>It </a:t>
            </a:r>
            <a:r>
              <a:rPr lang="en-IN" dirty="0"/>
              <a:t>transforms raw, voluminous data into actionable insights and patterns</a:t>
            </a:r>
            <a:r>
              <a:rPr lang="en-IN" dirty="0" smtClean="0"/>
              <a:t>.</a:t>
            </a:r>
          </a:p>
          <a:p>
            <a:r>
              <a:rPr lang="en-IN" b="1" dirty="0" smtClean="0"/>
              <a:t>Context</a:t>
            </a:r>
            <a:r>
              <a:rPr lang="en-IN" b="1" dirty="0"/>
              <a:t>:</a:t>
            </a:r>
            <a:r>
              <a:rPr lang="en-IN" dirty="0"/>
              <a:t> </a:t>
            </a:r>
            <a:endParaRPr lang="en-IN" dirty="0" smtClean="0"/>
          </a:p>
          <a:p>
            <a:pPr lvl="1"/>
            <a:r>
              <a:rPr lang="en-IN" dirty="0" smtClean="0"/>
              <a:t>It </a:t>
            </a:r>
            <a:r>
              <a:rPr lang="en-IN" dirty="0"/>
              <a:t>serves as a foundational process for advanced analytics in various fields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465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Data Mining</a:t>
            </a:r>
            <a:r>
              <a:rPr lang="en-IN" dirty="0" smtClean="0"/>
              <a:t>? ( contd. 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It is The process of discovering interesting patterns and knowledge from massive amounts of data</a:t>
            </a:r>
            <a:r>
              <a:rPr lang="en-IN" dirty="0" smtClean="0"/>
              <a:t>.</a:t>
            </a:r>
          </a:p>
          <a:p>
            <a:r>
              <a:rPr lang="en-IN" b="1" dirty="0"/>
              <a:t>The Evolution:</a:t>
            </a:r>
            <a:r>
              <a:rPr lang="en-IN" dirty="0"/>
              <a:t> Data Collection </a:t>
            </a:r>
            <a:r>
              <a:rPr lang="en-IN" dirty="0" smtClean="0">
                <a:sym typeface="Wingdings" pitchFamily="2" charset="2"/>
              </a:rPr>
              <a:t> </a:t>
            </a:r>
            <a:r>
              <a:rPr lang="en-IN" dirty="0" smtClean="0"/>
              <a:t>Data </a:t>
            </a:r>
            <a:r>
              <a:rPr lang="en-IN" dirty="0"/>
              <a:t>Storage </a:t>
            </a:r>
            <a:r>
              <a:rPr lang="en-IN" dirty="0" smtClean="0">
                <a:sym typeface="Wingdings" pitchFamily="2" charset="2"/>
              </a:rPr>
              <a:t> </a:t>
            </a:r>
            <a:r>
              <a:rPr lang="en-IN" b="1" dirty="0" smtClean="0"/>
              <a:t>Data </a:t>
            </a:r>
            <a:r>
              <a:rPr lang="en-IN" b="1" dirty="0"/>
              <a:t>Mining</a:t>
            </a:r>
            <a:r>
              <a:rPr lang="en-IN" dirty="0"/>
              <a:t> (The Intelligence Layer).</a:t>
            </a:r>
          </a:p>
          <a:p>
            <a:r>
              <a:rPr lang="en-IN" b="1" dirty="0"/>
              <a:t>The Goal:</a:t>
            </a:r>
            <a:r>
              <a:rPr lang="en-IN" dirty="0"/>
              <a:t> Turning raw data into actionable insights </a:t>
            </a:r>
          </a:p>
          <a:p>
            <a:pPr lvl="1"/>
            <a:r>
              <a:rPr lang="en-IN" dirty="0" smtClean="0"/>
              <a:t>"Customers </a:t>
            </a:r>
            <a:r>
              <a:rPr lang="en-IN" dirty="0"/>
              <a:t>who buy bread also buy butter</a:t>
            </a:r>
            <a:r>
              <a:rPr lang="en-IN" dirty="0" smtClean="0"/>
              <a:t>"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349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The Data Deluge: We are Drowning in Data</a:t>
            </a:r>
            <a:r>
              <a:rPr lang="en-IN" dirty="0" smtClean="0"/>
              <a:t>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/>
              <a:t>The </a:t>
            </a:r>
            <a:r>
              <a:rPr lang="en-IN" b="1" dirty="0"/>
              <a:t>Data </a:t>
            </a:r>
            <a:r>
              <a:rPr lang="en-IN" b="1" dirty="0" smtClean="0"/>
              <a:t>Explosion</a:t>
            </a:r>
            <a:endParaRPr lang="en-IN" dirty="0"/>
          </a:p>
          <a:p>
            <a:pPr lvl="1"/>
            <a:r>
              <a:rPr lang="en-IN" dirty="0"/>
              <a:t>"Over 90% of the world's data was created in the last two years."</a:t>
            </a:r>
          </a:p>
          <a:p>
            <a:pPr lvl="1"/>
            <a:r>
              <a:rPr lang="en-IN" dirty="0"/>
              <a:t>Daily data generation: X petabytes from social media, sensors, transactions, etc.</a:t>
            </a:r>
          </a:p>
          <a:p>
            <a:pPr lvl="1"/>
            <a:r>
              <a:rPr lang="en-IN" dirty="0" smtClean="0"/>
              <a:t>"Data </a:t>
            </a:r>
            <a:r>
              <a:rPr lang="en-IN" dirty="0"/>
              <a:t>is the new oil." But crude oil is useless unless refined into fuel, plastic, chemicals.</a:t>
            </a:r>
          </a:p>
          <a:p>
            <a:r>
              <a:rPr lang="en-IN" dirty="0" smtClean="0"/>
              <a:t>How </a:t>
            </a:r>
            <a:r>
              <a:rPr lang="en-IN" dirty="0"/>
              <a:t>do we </a:t>
            </a:r>
            <a:r>
              <a:rPr lang="en-IN" dirty="0" smtClean="0"/>
              <a:t>transform this</a:t>
            </a:r>
            <a:r>
              <a:rPr lang="en-IN" dirty="0"/>
              <a:t> </a:t>
            </a:r>
            <a:r>
              <a:rPr lang="en-IN" i="1" dirty="0"/>
              <a:t>data</a:t>
            </a:r>
            <a:r>
              <a:rPr lang="en-IN" dirty="0"/>
              <a:t> </a:t>
            </a:r>
            <a:r>
              <a:rPr lang="en-IN" dirty="0" smtClean="0"/>
              <a:t>into valuable</a:t>
            </a:r>
            <a:r>
              <a:rPr lang="en-IN" dirty="0"/>
              <a:t> </a:t>
            </a:r>
            <a:r>
              <a:rPr lang="en-IN" i="1" dirty="0"/>
              <a:t>insights</a:t>
            </a:r>
            <a:r>
              <a:rPr lang="en-IN" dirty="0"/>
              <a:t> and </a:t>
            </a:r>
            <a:r>
              <a:rPr lang="en-IN" i="1" dirty="0"/>
              <a:t>knowledge</a:t>
            </a:r>
            <a:r>
              <a:rPr lang="en-IN" dirty="0" smtClean="0"/>
              <a:t>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94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886200"/>
            <a:ext cx="5835950" cy="26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62000" y="1143000"/>
            <a:ext cx="822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 </a:t>
            </a:r>
            <a:r>
              <a:rPr lang="en-IN" sz="2400" b="1" dirty="0"/>
              <a:t>steep exponential curve</a:t>
            </a:r>
            <a:r>
              <a:rPr lang="en-IN" sz="2400" dirty="0"/>
              <a:t> rising from left (past) to right (present/future</a:t>
            </a:r>
            <a:r>
              <a:rPr lang="en-IN" sz="2400" dirty="0" smtClean="0"/>
              <a:t>)</a:t>
            </a:r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/>
              <a:t>X-axis: </a:t>
            </a:r>
            <a:r>
              <a:rPr lang="en-IN" sz="2400" i="1" dirty="0"/>
              <a:t>Time (Years</a:t>
            </a:r>
            <a:r>
              <a:rPr lang="en-IN" sz="2400" i="1" dirty="0" smtClean="0"/>
              <a:t>)</a:t>
            </a:r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/>
              <a:t>Y-axis: </a:t>
            </a:r>
            <a:r>
              <a:rPr lang="en-IN" sz="2400" i="1" dirty="0"/>
              <a:t>Data Volume (TB → PB → EB → ZB)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27060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95" y="1447800"/>
            <a:ext cx="8114823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741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422" y="89661"/>
            <a:ext cx="8229600" cy="808038"/>
          </a:xfrm>
        </p:spPr>
        <p:txBody>
          <a:bodyPr/>
          <a:lstStyle/>
          <a:p>
            <a:r>
              <a:rPr lang="en-IN" dirty="0" smtClean="0"/>
              <a:t>2019 report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2" name="Picture 4" descr="How Much Data is Generated Each Day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4" y="914400"/>
            <a:ext cx="8827656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260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Data inside companies </a:t>
            </a:r>
            <a:endParaRPr lang="en-IN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106" y="1752600"/>
            <a:ext cx="7311171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4604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37421"/>
            <a:ext cx="8000999" cy="5503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995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Example of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Supermarket transaction data</a:t>
            </a:r>
          </a:p>
          <a:p>
            <a:r>
              <a:rPr dirty="0"/>
              <a:t>Database query: list all milk buyers</a:t>
            </a:r>
          </a:p>
          <a:p>
            <a:r>
              <a:rPr dirty="0"/>
              <a:t>Data Mining: milk buyers also buy bread</a:t>
            </a:r>
          </a:p>
          <a:p>
            <a:r>
              <a:rPr dirty="0"/>
              <a:t>Pattern helps product placement strategy</a:t>
            </a:r>
          </a:p>
        </p:txBody>
      </p:sp>
    </p:spTree>
    <p:extLst>
      <p:ext uri="{BB962C8B-B14F-4D97-AF65-F5344CB8AC3E}">
        <p14:creationId xmlns:p14="http://schemas.microsoft.com/office/powerpoint/2010/main" val="1040019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 is the new Oil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4525963"/>
          </a:xfrm>
        </p:spPr>
        <p:txBody>
          <a:bodyPr/>
          <a:lstStyle/>
          <a:p>
            <a:r>
              <a:rPr lang="en-IN" dirty="0" smtClean="0"/>
              <a:t>Data Mining is the refinery</a:t>
            </a:r>
          </a:p>
          <a:p>
            <a:r>
              <a:rPr lang="en-IN" dirty="0" smtClean="0"/>
              <a:t>End Products : Google Analytics Dashboard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590800"/>
            <a:ext cx="5867400" cy="4090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3012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350" y="2088265"/>
            <a:ext cx="4845299" cy="354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591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 ...But Starving for </a:t>
            </a:r>
            <a:r>
              <a:rPr lang="en-IN" b="1" dirty="0" smtClean="0"/>
              <a:t>Knowledge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dirty="0" smtClean="0"/>
              <a:t>The </a:t>
            </a:r>
            <a:r>
              <a:rPr lang="en-IN" dirty="0"/>
              <a:t>Gap Between Data and Wisdom</a:t>
            </a:r>
          </a:p>
          <a:p>
            <a:r>
              <a:rPr lang="en-IN" b="1" dirty="0" smtClean="0"/>
              <a:t>Data-Information-Knowledge-Wisdom </a:t>
            </a:r>
            <a:r>
              <a:rPr lang="en-IN" b="1" dirty="0"/>
              <a:t>(DIKW) Pyramid</a:t>
            </a:r>
            <a:r>
              <a:rPr lang="en-IN" dirty="0"/>
              <a:t>.</a:t>
            </a:r>
          </a:p>
          <a:p>
            <a:pPr lvl="1"/>
            <a:r>
              <a:rPr lang="en-IN" b="1" dirty="0"/>
              <a:t>Data:</a:t>
            </a:r>
            <a:r>
              <a:rPr lang="en-IN" dirty="0"/>
              <a:t> Raw, unprocessed facts (e.g., "42", "F", "Purchase").</a:t>
            </a:r>
          </a:p>
          <a:p>
            <a:pPr lvl="1"/>
            <a:r>
              <a:rPr lang="en-IN" b="1" dirty="0"/>
              <a:t>Information:</a:t>
            </a:r>
            <a:r>
              <a:rPr lang="en-IN" dirty="0"/>
              <a:t> Processed, organized data with context (e.g., "Customer ID 42, Female, purchased a laptop on Date D").</a:t>
            </a:r>
          </a:p>
          <a:p>
            <a:pPr lvl="1"/>
            <a:r>
              <a:rPr lang="en-IN" b="1" dirty="0"/>
              <a:t>Knowledge:</a:t>
            </a:r>
            <a:r>
              <a:rPr lang="en-IN" dirty="0"/>
              <a:t> Patterns, rules derived from information (e.g., "Female customers in age group 20-30 frequently buy laptops and accessory X within 2 weeks").</a:t>
            </a:r>
          </a:p>
          <a:p>
            <a:pPr lvl="1"/>
            <a:r>
              <a:rPr lang="en-IN" b="1" dirty="0"/>
              <a:t>Wisdom:</a:t>
            </a:r>
            <a:r>
              <a:rPr lang="en-IN" dirty="0"/>
              <a:t> Using knowledge to make strategic decisions.</a:t>
            </a:r>
          </a:p>
          <a:p>
            <a:r>
              <a:rPr lang="en-IN" dirty="0" smtClean="0"/>
              <a:t>Data </a:t>
            </a:r>
            <a:r>
              <a:rPr lang="en-IN" dirty="0"/>
              <a:t>Mining operates primarily at the </a:t>
            </a:r>
            <a:r>
              <a:rPr lang="en-IN" b="1" dirty="0"/>
              <a:t>Knowledge</a:t>
            </a:r>
            <a:r>
              <a:rPr lang="en-IN" dirty="0"/>
              <a:t> layer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7408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609600"/>
            <a:ext cx="8227057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087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Data Mining? A First </a:t>
            </a:r>
            <a:r>
              <a:rPr lang="en-IN" b="1" dirty="0" smtClean="0"/>
              <a:t>Definition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 smtClean="0"/>
              <a:t>	Extracting </a:t>
            </a:r>
            <a:r>
              <a:rPr lang="en-IN" b="1" dirty="0"/>
              <a:t>Gold from the </a:t>
            </a:r>
            <a:r>
              <a:rPr lang="en-IN" b="1" dirty="0" smtClean="0"/>
              <a:t>Mine</a:t>
            </a:r>
            <a:endParaRPr lang="en-IN" b="1" dirty="0"/>
          </a:p>
          <a:p>
            <a:r>
              <a:rPr lang="en-IN" b="1" dirty="0"/>
              <a:t>Formal </a:t>
            </a:r>
            <a:r>
              <a:rPr lang="en-IN" b="1" dirty="0" smtClean="0"/>
              <a:t>Definition</a:t>
            </a:r>
            <a:endParaRPr lang="en-IN" dirty="0"/>
          </a:p>
          <a:p>
            <a:pPr lvl="1"/>
            <a:r>
              <a:rPr lang="en-IN" dirty="0"/>
              <a:t>"Data mining is the process of discovering interesting patterns and knowledge from </a:t>
            </a:r>
            <a:r>
              <a:rPr lang="en-IN" i="1" dirty="0"/>
              <a:t>large amounts</a:t>
            </a:r>
            <a:r>
              <a:rPr lang="en-IN" dirty="0"/>
              <a:t> of data. The data sources can include databases, data warehouses, the web, other information repositories, or data that are streamed into the system dynamically."</a:t>
            </a:r>
          </a:p>
          <a:p>
            <a:r>
              <a:rPr lang="en-IN" b="1" dirty="0"/>
              <a:t>Key Verbs:</a:t>
            </a:r>
            <a:r>
              <a:rPr lang="en-IN" dirty="0"/>
              <a:t> Discover, Extract, Identify, Analyze.</a:t>
            </a:r>
          </a:p>
          <a:p>
            <a:r>
              <a:rPr lang="en-IN" b="1" dirty="0"/>
              <a:t>Key Nouns:</a:t>
            </a:r>
            <a:r>
              <a:rPr lang="en-IN" dirty="0"/>
              <a:t> Patterns, Knowledge, Relationships, Trends.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182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What </a:t>
            </a:r>
            <a:r>
              <a:rPr lang="en-IN" b="1" dirty="0"/>
              <a:t>Data Mining is </a:t>
            </a:r>
            <a:r>
              <a:rPr lang="en-IN" b="1" dirty="0" smtClean="0"/>
              <a:t>NOT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 smtClean="0"/>
              <a:t>Clarifying </a:t>
            </a:r>
            <a:r>
              <a:rPr lang="en-IN" b="1" dirty="0"/>
              <a:t>Common Misconceptions</a:t>
            </a:r>
          </a:p>
          <a:p>
            <a:pPr lvl="1"/>
            <a:r>
              <a:rPr lang="en-IN" b="1" dirty="0" smtClean="0"/>
              <a:t>It </a:t>
            </a:r>
            <a:r>
              <a:rPr lang="en-IN" b="1" dirty="0"/>
              <a:t>is NOT</a:t>
            </a:r>
            <a:r>
              <a:rPr lang="en-IN" dirty="0"/>
              <a:t> simple query/reporting (SELECT * FROM sales WHERE year=2023). That's </a:t>
            </a:r>
            <a:r>
              <a:rPr lang="en-IN" b="1" dirty="0"/>
              <a:t>information retrieval</a:t>
            </a:r>
            <a:r>
              <a:rPr lang="en-IN" dirty="0"/>
              <a:t>.</a:t>
            </a:r>
          </a:p>
          <a:p>
            <a:pPr lvl="1"/>
            <a:r>
              <a:rPr lang="en-IN" b="1" dirty="0"/>
              <a:t>It is NOT</a:t>
            </a:r>
            <a:r>
              <a:rPr lang="en-IN" dirty="0"/>
              <a:t> just statistical analysis (though it uses stats heavily). It's more about </a:t>
            </a:r>
            <a:r>
              <a:rPr lang="en-IN" i="1" dirty="0"/>
              <a:t>automated</a:t>
            </a:r>
            <a:r>
              <a:rPr lang="en-IN" dirty="0"/>
              <a:t> discovery.</a:t>
            </a:r>
          </a:p>
          <a:p>
            <a:pPr lvl="1"/>
            <a:r>
              <a:rPr lang="en-IN" b="1" dirty="0"/>
              <a:t>It is NOT</a:t>
            </a:r>
            <a:r>
              <a:rPr lang="en-IN" dirty="0"/>
              <a:t> about working with small, curated datasets. Scale is inherent.</a:t>
            </a:r>
          </a:p>
          <a:p>
            <a:pPr lvl="1"/>
            <a:r>
              <a:rPr lang="en-IN" b="1" dirty="0"/>
              <a:t>It is NOT</a:t>
            </a:r>
            <a:r>
              <a:rPr lang="en-IN" dirty="0"/>
              <a:t> magic. It's a rigorous, iterative process of hypothesis (model) and testing.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215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The </a:t>
            </a:r>
            <a:r>
              <a:rPr lang="en-IN" b="1" dirty="0"/>
              <a:t>Big Picture: Knowledge Discovery in Databases (KDD</a:t>
            </a:r>
            <a:r>
              <a:rPr lang="en-IN" b="1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Data </a:t>
            </a:r>
            <a:r>
              <a:rPr lang="en-IN" dirty="0"/>
              <a:t>Mining is One Step in a Larger </a:t>
            </a:r>
            <a:r>
              <a:rPr lang="en-IN" dirty="0" smtClean="0"/>
              <a:t>Process called KDD</a:t>
            </a:r>
            <a:endParaRPr lang="en-IN" b="1" dirty="0" smtClean="0"/>
          </a:p>
          <a:p>
            <a:pPr lvl="1"/>
            <a:r>
              <a:rPr lang="en-IN" dirty="0" smtClean="0"/>
              <a:t>KDD </a:t>
            </a:r>
            <a:r>
              <a:rPr lang="en-IN" dirty="0"/>
              <a:t>is the </a:t>
            </a:r>
            <a:r>
              <a:rPr lang="en-IN" b="1" dirty="0"/>
              <a:t>non-trivial process</a:t>
            </a:r>
            <a:r>
              <a:rPr lang="en-IN" dirty="0"/>
              <a:t> of identifying valid, novel, potentially useful, and ultimately understandable patterns in data.</a:t>
            </a:r>
          </a:p>
          <a:p>
            <a:pPr lvl="1"/>
            <a:r>
              <a:rPr lang="en-IN" b="1" dirty="0"/>
              <a:t>Emphasize:</a:t>
            </a:r>
            <a:r>
              <a:rPr lang="en-IN" dirty="0"/>
              <a:t> Data Mining is the </a:t>
            </a:r>
            <a:r>
              <a:rPr lang="en-IN" i="1" dirty="0"/>
              <a:t>core</a:t>
            </a:r>
            <a:r>
              <a:rPr lang="en-IN" dirty="0"/>
              <a:t> analytical step, but it's preceded and followed by critical stages.</a:t>
            </a:r>
          </a:p>
          <a:p>
            <a:r>
              <a:rPr lang="en-IN" dirty="0"/>
              <a:t>Raw </a:t>
            </a:r>
            <a:r>
              <a:rPr lang="en-IN" dirty="0" smtClean="0"/>
              <a:t>Data/Selection </a:t>
            </a:r>
            <a:r>
              <a:rPr lang="en-IN" dirty="0"/>
              <a:t> -&gt; Preprocessing -&gt; Data Mining -&gt; Postprocessing -&gt; Knowledge.</a:t>
            </a:r>
          </a:p>
        </p:txBody>
      </p:sp>
    </p:spTree>
    <p:extLst>
      <p:ext uri="{BB962C8B-B14F-4D97-AF65-F5344CB8AC3E}">
        <p14:creationId xmlns:p14="http://schemas.microsoft.com/office/powerpoint/2010/main" val="269560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is KDD</a:t>
            </a:r>
            <a:endParaRPr lang="en-IN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299" y="1600200"/>
            <a:ext cx="633140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8728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5 step Model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IN" b="1" dirty="0"/>
              <a:t>Data Selection</a:t>
            </a:r>
            <a:endParaRPr lang="en-IN" dirty="0"/>
          </a:p>
          <a:p>
            <a:pPr fontAlgn="base"/>
            <a:r>
              <a:rPr lang="en-IN" b="1" dirty="0"/>
              <a:t>Data Cleaning and Preprocessing</a:t>
            </a:r>
            <a:endParaRPr lang="en-IN" dirty="0"/>
          </a:p>
          <a:p>
            <a:pPr fontAlgn="base"/>
            <a:r>
              <a:rPr lang="en-IN" b="1" dirty="0"/>
              <a:t>Data Transformation and Reduction</a:t>
            </a:r>
            <a:endParaRPr lang="en-IN" dirty="0"/>
          </a:p>
          <a:p>
            <a:pPr fontAlgn="base"/>
            <a:r>
              <a:rPr lang="en-IN" b="1" dirty="0"/>
              <a:t>Data Mining</a:t>
            </a:r>
            <a:endParaRPr lang="en-IN" dirty="0"/>
          </a:p>
          <a:p>
            <a:pPr fontAlgn="base"/>
            <a:r>
              <a:rPr lang="en-IN" b="1" dirty="0"/>
              <a:t>Evaluation and Interpretation of </a:t>
            </a:r>
            <a:r>
              <a:rPr lang="en-IN" b="1" dirty="0" smtClean="0"/>
              <a:t>Results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2235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5 Step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Selection</a:t>
            </a:r>
            <a:r>
              <a:rPr lang="en-IN" dirty="0"/>
              <a:t>: </a:t>
            </a:r>
            <a:endParaRPr lang="en-IN" dirty="0" smtClean="0"/>
          </a:p>
          <a:p>
            <a:pPr lvl="1"/>
            <a:r>
              <a:rPr lang="en-IN" dirty="0" smtClean="0"/>
              <a:t>Identifying </a:t>
            </a:r>
            <a:r>
              <a:rPr lang="en-IN" dirty="0"/>
              <a:t>and creating a target dataset from existing databases.</a:t>
            </a:r>
          </a:p>
          <a:p>
            <a:r>
              <a:rPr lang="en-IN" b="1" dirty="0" smtClean="0"/>
              <a:t>Cleaning &amp; Preprocessing</a:t>
            </a:r>
            <a:r>
              <a:rPr lang="en-IN" dirty="0"/>
              <a:t>: </a:t>
            </a:r>
            <a:endParaRPr lang="en-IN" dirty="0" smtClean="0"/>
          </a:p>
          <a:p>
            <a:pPr lvl="1"/>
            <a:r>
              <a:rPr lang="en-IN" dirty="0" smtClean="0"/>
              <a:t>Cleaning </a:t>
            </a:r>
            <a:r>
              <a:rPr lang="en-IN" dirty="0"/>
              <a:t>the data to remove noise, outliers, and handle missing fields.</a:t>
            </a:r>
          </a:p>
          <a:p>
            <a:r>
              <a:rPr lang="en-IN" b="1" dirty="0" smtClean="0"/>
              <a:t>Transformation &amp; Reduction</a:t>
            </a:r>
            <a:r>
              <a:rPr lang="en-IN" dirty="0" smtClean="0"/>
              <a:t>: </a:t>
            </a:r>
          </a:p>
          <a:p>
            <a:pPr lvl="1"/>
            <a:r>
              <a:rPr lang="en-IN" dirty="0" smtClean="0"/>
              <a:t>Converting </a:t>
            </a:r>
            <a:r>
              <a:rPr lang="en-IN" dirty="0"/>
              <a:t>data into forms appropriate for mining, such as normalization or dimension reduction.</a:t>
            </a:r>
          </a:p>
          <a:p>
            <a:r>
              <a:rPr lang="en-IN" b="1" dirty="0"/>
              <a:t>Data Mining</a:t>
            </a:r>
            <a:r>
              <a:rPr lang="en-IN" dirty="0"/>
              <a:t>: </a:t>
            </a:r>
            <a:endParaRPr lang="en-IN" dirty="0" smtClean="0"/>
          </a:p>
          <a:p>
            <a:pPr lvl="1"/>
            <a:r>
              <a:rPr lang="en-IN" dirty="0" smtClean="0"/>
              <a:t>Applying </a:t>
            </a:r>
            <a:r>
              <a:rPr lang="en-IN" dirty="0"/>
              <a:t>intelligent algorithms to extract patterns (e.g., classification, clustering).</a:t>
            </a:r>
          </a:p>
          <a:p>
            <a:r>
              <a:rPr lang="en-IN" b="1" dirty="0"/>
              <a:t>Interpretation/Evaluation</a:t>
            </a:r>
            <a:r>
              <a:rPr lang="en-IN" dirty="0"/>
              <a:t>: </a:t>
            </a:r>
            <a:endParaRPr lang="en-IN" dirty="0" smtClean="0"/>
          </a:p>
          <a:p>
            <a:pPr lvl="1"/>
            <a:r>
              <a:rPr lang="en-IN" dirty="0" smtClean="0"/>
              <a:t>Analyzing </a:t>
            </a:r>
            <a:r>
              <a:rPr lang="en-IN" dirty="0"/>
              <a:t>the extracted patterns to determine their validity and translating them into usable knowledge. 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07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/>
          <a:lstStyle/>
          <a:p>
            <a:r>
              <a:rPr lang="en-IN" dirty="0" smtClean="0"/>
              <a:t>7 Step Model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 smtClean="0"/>
              <a:t>Selection</a:t>
            </a:r>
            <a:r>
              <a:rPr lang="en-IN" dirty="0"/>
              <a:t>: </a:t>
            </a:r>
            <a:endParaRPr lang="en-IN" dirty="0" smtClean="0"/>
          </a:p>
          <a:p>
            <a:pPr lvl="1"/>
            <a:r>
              <a:rPr lang="en-IN" dirty="0" smtClean="0"/>
              <a:t>Retrieving </a:t>
            </a:r>
            <a:r>
              <a:rPr lang="en-IN" dirty="0"/>
              <a:t>data relevant to the analysis task from the integrated source.</a:t>
            </a:r>
          </a:p>
          <a:p>
            <a:r>
              <a:rPr lang="en-IN" b="1" dirty="0" smtClean="0"/>
              <a:t>Cleaning</a:t>
            </a:r>
            <a:r>
              <a:rPr lang="en-IN" dirty="0" smtClean="0"/>
              <a:t>: </a:t>
            </a:r>
          </a:p>
          <a:p>
            <a:pPr lvl="1"/>
            <a:r>
              <a:rPr lang="en-IN" dirty="0" smtClean="0"/>
              <a:t>Removing </a:t>
            </a:r>
            <a:r>
              <a:rPr lang="en-IN" dirty="0"/>
              <a:t>noise and inconsistent data.</a:t>
            </a:r>
          </a:p>
          <a:p>
            <a:r>
              <a:rPr lang="en-IN" b="1" dirty="0" smtClean="0">
                <a:solidFill>
                  <a:srgbClr val="00B050"/>
                </a:solidFill>
              </a:rPr>
              <a:t>Integration</a:t>
            </a:r>
            <a:r>
              <a:rPr lang="en-IN" dirty="0"/>
              <a:t>: </a:t>
            </a:r>
            <a:endParaRPr lang="en-IN" dirty="0" smtClean="0"/>
          </a:p>
          <a:p>
            <a:pPr lvl="1"/>
            <a:r>
              <a:rPr lang="en-IN" dirty="0" smtClean="0"/>
              <a:t>Combining </a:t>
            </a:r>
            <a:r>
              <a:rPr lang="en-IN" dirty="0"/>
              <a:t>multiple data sources (like databases or files) into a single repository.</a:t>
            </a:r>
          </a:p>
          <a:p>
            <a:r>
              <a:rPr lang="en-IN" b="1" dirty="0" smtClean="0"/>
              <a:t>Transformation</a:t>
            </a:r>
            <a:r>
              <a:rPr lang="en-IN" dirty="0"/>
              <a:t>: </a:t>
            </a:r>
            <a:endParaRPr lang="en-IN" dirty="0" smtClean="0"/>
          </a:p>
          <a:p>
            <a:pPr lvl="1"/>
            <a:r>
              <a:rPr lang="en-IN" dirty="0" smtClean="0"/>
              <a:t>Transforming </a:t>
            </a:r>
            <a:r>
              <a:rPr lang="en-IN" dirty="0"/>
              <a:t>data into formats suitable for mining (e.g., aggregation).</a:t>
            </a:r>
          </a:p>
          <a:p>
            <a:r>
              <a:rPr lang="en-IN" b="1" dirty="0"/>
              <a:t>Data Mining</a:t>
            </a:r>
            <a:r>
              <a:rPr lang="en-IN" dirty="0"/>
              <a:t>: </a:t>
            </a:r>
            <a:endParaRPr lang="en-IN" dirty="0" smtClean="0"/>
          </a:p>
          <a:p>
            <a:pPr lvl="1"/>
            <a:r>
              <a:rPr lang="en-IN" dirty="0" smtClean="0"/>
              <a:t>The </a:t>
            </a:r>
            <a:r>
              <a:rPr lang="en-IN" dirty="0"/>
              <a:t>central step where patterns are discovered.</a:t>
            </a:r>
          </a:p>
          <a:p>
            <a:r>
              <a:rPr lang="en-IN" b="1" dirty="0"/>
              <a:t>Pattern Evaluation</a:t>
            </a:r>
            <a:r>
              <a:rPr lang="en-IN" dirty="0"/>
              <a:t>: </a:t>
            </a:r>
            <a:endParaRPr lang="en-IN" dirty="0" smtClean="0"/>
          </a:p>
          <a:p>
            <a:pPr lvl="1"/>
            <a:r>
              <a:rPr lang="en-IN" dirty="0" smtClean="0"/>
              <a:t>Identifying </a:t>
            </a:r>
            <a:r>
              <a:rPr lang="en-IN" dirty="0"/>
              <a:t>the truly interesting patterns representing knowledge based on given measures.</a:t>
            </a:r>
          </a:p>
          <a:p>
            <a:r>
              <a:rPr lang="en-IN" b="1" dirty="0">
                <a:solidFill>
                  <a:srgbClr val="00B050"/>
                </a:solidFill>
              </a:rPr>
              <a:t>Knowledge Presentation</a:t>
            </a:r>
            <a:r>
              <a:rPr lang="en-IN" dirty="0"/>
              <a:t>: </a:t>
            </a:r>
            <a:endParaRPr lang="en-IN" dirty="0" smtClean="0"/>
          </a:p>
          <a:p>
            <a:pPr lvl="1"/>
            <a:r>
              <a:rPr lang="en-IN" dirty="0" smtClean="0"/>
              <a:t>Using </a:t>
            </a:r>
            <a:r>
              <a:rPr lang="en-IN" dirty="0"/>
              <a:t>visualization and knowledge representation techniques to present the mined data to users. </a:t>
            </a:r>
          </a:p>
        </p:txBody>
      </p:sp>
    </p:spTree>
    <p:extLst>
      <p:ext uri="{BB962C8B-B14F-4D97-AF65-F5344CB8AC3E}">
        <p14:creationId xmlns:p14="http://schemas.microsoft.com/office/powerpoint/2010/main" val="825033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Acronyms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5-Step Model</a:t>
            </a:r>
          </a:p>
          <a:p>
            <a:pPr lvl="1"/>
            <a:r>
              <a:rPr lang="en-IN" dirty="0" smtClean="0"/>
              <a:t>Selection</a:t>
            </a:r>
            <a:r>
              <a:rPr lang="en-IN" dirty="0"/>
              <a:t>, Preprocessing, Transformation, Data Mining, </a:t>
            </a:r>
            <a:r>
              <a:rPr lang="en-IN" dirty="0" smtClean="0"/>
              <a:t>Evaluation</a:t>
            </a:r>
            <a:endParaRPr lang="en-IN" dirty="0"/>
          </a:p>
          <a:p>
            <a:pPr lvl="1"/>
            <a:r>
              <a:rPr lang="en-IN" b="1" dirty="0" smtClean="0"/>
              <a:t>S-P-T-D-E</a:t>
            </a:r>
            <a:r>
              <a:rPr lang="en-IN" dirty="0"/>
              <a:t>: "Smart People Think Data's Easy"</a:t>
            </a:r>
          </a:p>
          <a:p>
            <a:r>
              <a:rPr lang="en-IN" b="1" dirty="0" smtClean="0"/>
              <a:t>7-Step Model</a:t>
            </a:r>
          </a:p>
          <a:p>
            <a:pPr lvl="1"/>
            <a:r>
              <a:rPr lang="en-IN" dirty="0" smtClean="0"/>
              <a:t>Cleaning</a:t>
            </a:r>
            <a:r>
              <a:rPr lang="en-IN" dirty="0"/>
              <a:t>, Integration, Selection, Transformation, Mining, Evaluation, </a:t>
            </a:r>
            <a:r>
              <a:rPr lang="en-IN" dirty="0" smtClean="0"/>
              <a:t>Presentation</a:t>
            </a:r>
            <a:endParaRPr lang="en-IN" dirty="0"/>
          </a:p>
          <a:p>
            <a:pPr lvl="1"/>
            <a:r>
              <a:rPr lang="en-IN" b="1" dirty="0" smtClean="0"/>
              <a:t>C-I-S-T-M-E-P</a:t>
            </a:r>
            <a:r>
              <a:rPr lang="en-IN" dirty="0"/>
              <a:t>: "Can Intelligent Students Truly Master Every Pattern?"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84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Key Differences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Granularity</a:t>
            </a:r>
            <a:r>
              <a:rPr lang="en-IN" dirty="0"/>
              <a:t>: The 7-step model explicitly separates </a:t>
            </a:r>
            <a:r>
              <a:rPr lang="en-IN" b="1" dirty="0"/>
              <a:t>Cleaning</a:t>
            </a:r>
            <a:r>
              <a:rPr lang="en-IN" dirty="0"/>
              <a:t> and </a:t>
            </a:r>
            <a:r>
              <a:rPr lang="en-IN" b="1" dirty="0"/>
              <a:t>Integration</a:t>
            </a:r>
            <a:r>
              <a:rPr lang="en-IN" dirty="0"/>
              <a:t>, which are often grouped under "Preprocessing" in the 5-step model</a:t>
            </a:r>
            <a:r>
              <a:rPr lang="en-IN" dirty="0" smtClean="0"/>
              <a:t>. Additionally it adds </a:t>
            </a:r>
            <a:r>
              <a:rPr lang="en-IN" b="1" dirty="0" smtClean="0"/>
              <a:t>Presentation</a:t>
            </a:r>
            <a:endParaRPr lang="en-IN" b="1" dirty="0"/>
          </a:p>
          <a:p>
            <a:r>
              <a:rPr lang="en-IN" b="1" dirty="0"/>
              <a:t>Focus</a:t>
            </a:r>
            <a:r>
              <a:rPr lang="en-IN" dirty="0"/>
              <a:t>: The 5-step model is a broader conceptual workflow, while the 7-step model (often called the </a:t>
            </a:r>
            <a:r>
              <a:rPr lang="en-IN" b="1" dirty="0"/>
              <a:t>Data Mining Process</a:t>
            </a:r>
            <a:r>
              <a:rPr lang="en-IN" dirty="0"/>
              <a:t>) is more specific about the technical pipeline required to reach the mining stage. 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29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Deep </a:t>
            </a:r>
            <a:r>
              <a:rPr lang="en-IN" b="1" dirty="0"/>
              <a:t>Dive: The KDD </a:t>
            </a:r>
            <a:r>
              <a:rPr lang="en-IN" b="1" dirty="0" smtClean="0"/>
              <a:t>Process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The Journey from Raw Data</a:t>
            </a:r>
          </a:p>
          <a:p>
            <a:pPr lvl="1"/>
            <a:r>
              <a:rPr lang="en-IN" b="1" dirty="0" smtClean="0"/>
              <a:t>Data </a:t>
            </a:r>
            <a:r>
              <a:rPr lang="en-IN" b="1" dirty="0"/>
              <a:t>Selection:</a:t>
            </a:r>
            <a:r>
              <a:rPr lang="en-IN" dirty="0"/>
              <a:t> Identifying and retrieving relevant data from various sources (DBs, warehouses, logs). What data do we need for our goal?</a:t>
            </a:r>
          </a:p>
          <a:p>
            <a:pPr lvl="1"/>
            <a:r>
              <a:rPr lang="en-IN" b="1" dirty="0"/>
              <a:t>Data </a:t>
            </a:r>
            <a:r>
              <a:rPr lang="en-IN" b="1" dirty="0" smtClean="0"/>
              <a:t>Cleaning &amp; Preprocessing </a:t>
            </a:r>
            <a:r>
              <a:rPr lang="en-IN" b="1" dirty="0"/>
              <a:t>(The "80% Job"):</a:t>
            </a:r>
            <a:r>
              <a:rPr lang="en-IN" dirty="0"/>
              <a:t> This is where we spend most of our time. Cleaning, integration, transformation.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4350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KDD Process contd.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smtClean="0"/>
              <a:t>The </a:t>
            </a:r>
            <a:r>
              <a:rPr lang="en-IN" dirty="0"/>
              <a:t>Heart of the </a:t>
            </a:r>
            <a:r>
              <a:rPr lang="en-IN" dirty="0" smtClean="0"/>
              <a:t>Matter</a:t>
            </a:r>
            <a:endParaRPr lang="en-IN" b="1" dirty="0" smtClean="0"/>
          </a:p>
          <a:p>
            <a:pPr lvl="1"/>
            <a:r>
              <a:rPr lang="en-IN" b="1" dirty="0" smtClean="0"/>
              <a:t>Data Integration</a:t>
            </a:r>
            <a:r>
              <a:rPr lang="en-IN" dirty="0"/>
              <a:t>: Combining multiple data sources (like databases or files) into a single repository</a:t>
            </a:r>
            <a:r>
              <a:rPr lang="en-IN" dirty="0" smtClean="0"/>
              <a:t>.</a:t>
            </a:r>
            <a:endParaRPr lang="en-IN" b="1" dirty="0" smtClean="0"/>
          </a:p>
          <a:p>
            <a:pPr lvl="1"/>
            <a:r>
              <a:rPr lang="en-IN" b="1" dirty="0" smtClean="0"/>
              <a:t>Data </a:t>
            </a:r>
            <a:r>
              <a:rPr lang="en-IN" b="1" dirty="0"/>
              <a:t>Transformation:</a:t>
            </a:r>
            <a:r>
              <a:rPr lang="en-IN" dirty="0"/>
              <a:t> Converting data into forms suitable for mining (normalization, aggregation, feature construction</a:t>
            </a:r>
            <a:r>
              <a:rPr lang="en-IN" dirty="0" smtClean="0"/>
              <a:t>).</a:t>
            </a:r>
          </a:p>
          <a:p>
            <a:pPr lvl="1"/>
            <a:r>
              <a:rPr lang="en-IN" b="1" dirty="0" smtClean="0"/>
              <a:t>Data </a:t>
            </a:r>
            <a:r>
              <a:rPr lang="en-IN" b="1" dirty="0"/>
              <a:t>Mining (The "Algorithms" Step):</a:t>
            </a:r>
            <a:r>
              <a:rPr lang="en-IN" dirty="0"/>
              <a:t> Applying intelligent methods to extract patterns</a:t>
            </a:r>
            <a:r>
              <a:rPr lang="en-IN" dirty="0" smtClean="0"/>
              <a:t>. </a:t>
            </a:r>
            <a:r>
              <a:rPr lang="en-IN" dirty="0"/>
              <a:t>Classification, Clustering, Association Rule Mining, etc.</a:t>
            </a:r>
          </a:p>
        </p:txBody>
      </p:sp>
    </p:spTree>
    <p:extLst>
      <p:ext uri="{BB962C8B-B14F-4D97-AF65-F5344CB8AC3E}">
        <p14:creationId xmlns:p14="http://schemas.microsoft.com/office/powerpoint/2010/main" val="1864933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KDD Contd.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smtClean="0"/>
              <a:t>From </a:t>
            </a:r>
            <a:r>
              <a:rPr lang="en-IN" dirty="0"/>
              <a:t>Patterns to Actionable Knowledge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 smtClean="0"/>
              <a:t>Pattern </a:t>
            </a:r>
            <a:r>
              <a:rPr lang="en-IN" b="1" dirty="0"/>
              <a:t>Evaluation/Interpretation:</a:t>
            </a:r>
            <a:r>
              <a:rPr lang="en-IN" dirty="0"/>
              <a:t> Identifying truly interesting patterns representing </a:t>
            </a:r>
            <a:r>
              <a:rPr lang="en-IN" dirty="0" smtClean="0"/>
              <a:t>knowledge.</a:t>
            </a:r>
            <a:endParaRPr lang="en-IN" dirty="0"/>
          </a:p>
          <a:p>
            <a:pPr lvl="1"/>
            <a:r>
              <a:rPr lang="en-IN" b="1" dirty="0" smtClean="0"/>
              <a:t>Criteria</a:t>
            </a:r>
            <a:r>
              <a:rPr lang="en-IN" b="1" dirty="0"/>
              <a:t>:</a:t>
            </a:r>
            <a:r>
              <a:rPr lang="en-IN" dirty="0"/>
              <a:t> Validity, Novelty, Usefulness, </a:t>
            </a:r>
            <a:r>
              <a:rPr lang="en-IN" dirty="0" smtClean="0"/>
              <a:t>Understandability.</a:t>
            </a:r>
            <a:endParaRPr lang="en-IN" dirty="0"/>
          </a:p>
          <a:p>
            <a:r>
              <a:rPr lang="en-IN" b="1" dirty="0" smtClean="0"/>
              <a:t>Knowledge </a:t>
            </a:r>
            <a:r>
              <a:rPr lang="en-IN" b="1" dirty="0"/>
              <a:t>Presentation:</a:t>
            </a:r>
            <a:r>
              <a:rPr lang="en-IN" dirty="0"/>
              <a:t> Visualizing and reporting the discovered knowledge using techniques like decision trees, rules, graphs.</a:t>
            </a:r>
          </a:p>
          <a:p>
            <a:pPr lvl="1"/>
            <a:r>
              <a:rPr lang="en-IN" b="1" dirty="0"/>
              <a:t>Crucial Point:</a:t>
            </a:r>
            <a:r>
              <a:rPr lang="en-IN" dirty="0"/>
              <a:t> The process is </a:t>
            </a:r>
            <a:r>
              <a:rPr lang="en-IN" b="1" dirty="0"/>
              <a:t>highly iterative</a:t>
            </a:r>
            <a:r>
              <a:rPr lang="en-IN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9508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Database vs data mining 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99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Storage Vs Discovery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Database (The "Digital Library"):</a:t>
            </a:r>
            <a:endParaRPr lang="en-IN" dirty="0"/>
          </a:p>
          <a:p>
            <a:pPr lvl="1"/>
            <a:r>
              <a:rPr lang="en-IN" b="1" dirty="0"/>
              <a:t>Focus:</a:t>
            </a:r>
            <a:r>
              <a:rPr lang="en-IN" dirty="0"/>
              <a:t> Optimized for </a:t>
            </a:r>
            <a:r>
              <a:rPr lang="en-IN" b="1" dirty="0"/>
              <a:t>CRUD</a:t>
            </a:r>
            <a:r>
              <a:rPr lang="en-IN" dirty="0"/>
              <a:t> operations (Create, Read, Update, Delete) and maintaining data integrity.</a:t>
            </a:r>
          </a:p>
          <a:p>
            <a:pPr lvl="1"/>
            <a:r>
              <a:rPr lang="en-IN" b="1" dirty="0"/>
              <a:t>Architecture:</a:t>
            </a:r>
            <a:r>
              <a:rPr lang="en-IN" dirty="0"/>
              <a:t> Uses a rigid </a:t>
            </a:r>
            <a:r>
              <a:rPr lang="en-IN" b="1" dirty="0"/>
              <a:t>Schema</a:t>
            </a:r>
            <a:r>
              <a:rPr lang="en-IN" dirty="0"/>
              <a:t> (tables, columns, keys) to ensure that every piece of data has a specific home.</a:t>
            </a:r>
          </a:p>
          <a:p>
            <a:pPr lvl="1"/>
            <a:r>
              <a:rPr lang="en-IN" b="1" dirty="0"/>
              <a:t>Role:</a:t>
            </a:r>
            <a:r>
              <a:rPr lang="en-IN" dirty="0"/>
              <a:t> Acts as the "source of truth." If you need to know your bank balance or a student's GPA, you go to the database.</a:t>
            </a:r>
          </a:p>
          <a:p>
            <a:r>
              <a:rPr lang="en-IN" b="1" dirty="0"/>
              <a:t>Data Mining (The "Private Investigator"):</a:t>
            </a:r>
            <a:endParaRPr lang="en-IN" dirty="0"/>
          </a:p>
          <a:p>
            <a:pPr lvl="1"/>
            <a:r>
              <a:rPr lang="en-IN" b="1" dirty="0"/>
              <a:t>Focus:</a:t>
            </a:r>
            <a:r>
              <a:rPr lang="en-IN" dirty="0"/>
              <a:t> Extracts </a:t>
            </a:r>
            <a:r>
              <a:rPr lang="en-IN" b="1" dirty="0"/>
              <a:t>non-trivial, implicit, and previously unknown</a:t>
            </a:r>
            <a:r>
              <a:rPr lang="en-IN" dirty="0"/>
              <a:t> information from those same databases.</a:t>
            </a:r>
          </a:p>
          <a:p>
            <a:pPr lvl="1"/>
            <a:r>
              <a:rPr lang="en-IN" b="1" dirty="0"/>
              <a:t>Mechanism:</a:t>
            </a:r>
            <a:r>
              <a:rPr lang="en-IN" dirty="0"/>
              <a:t> Uses mathematical algorithms (clustering, classification, regression) to "dig" through the noise.</a:t>
            </a:r>
          </a:p>
          <a:p>
            <a:pPr lvl="1"/>
            <a:r>
              <a:rPr lang="en-IN" b="1" dirty="0"/>
              <a:t>Role:</a:t>
            </a:r>
            <a:r>
              <a:rPr lang="en-IN" dirty="0"/>
              <a:t> Identifies the "why" and "what next." It doesn't care about the single record; it cares about the </a:t>
            </a:r>
            <a:r>
              <a:rPr lang="en-IN" b="1" dirty="0"/>
              <a:t>trend</a:t>
            </a:r>
            <a:r>
              <a:rPr lang="en-IN" dirty="0"/>
              <a:t> across a million records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805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Known Questions vs. Unknown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 lnSpcReduction="10000"/>
          </a:bodyPr>
          <a:lstStyle/>
          <a:p>
            <a:r>
              <a:rPr lang="en-IN" sz="2800" b="1" dirty="0"/>
              <a:t>Databases: Querying the Known</a:t>
            </a:r>
          </a:p>
          <a:p>
            <a:pPr lvl="1"/>
            <a:r>
              <a:rPr lang="en-IN" sz="2400" b="1" dirty="0"/>
              <a:t>Interaction:</a:t>
            </a:r>
            <a:r>
              <a:rPr lang="en-IN" sz="2400" dirty="0"/>
              <a:t> Driven by </a:t>
            </a:r>
            <a:r>
              <a:rPr lang="en-IN" sz="2400" b="1" dirty="0"/>
              <a:t>SQL</a:t>
            </a:r>
            <a:r>
              <a:rPr lang="en-IN" sz="2400" dirty="0"/>
              <a:t> (Structured Query Language).</a:t>
            </a:r>
          </a:p>
          <a:p>
            <a:pPr lvl="1"/>
            <a:r>
              <a:rPr lang="en-IN" sz="2400" b="1" dirty="0"/>
              <a:t>Nature:</a:t>
            </a:r>
            <a:r>
              <a:rPr lang="en-IN" sz="2400" dirty="0"/>
              <a:t> Confirmative. You know what you are looking for (e.g., "List all customers who spent &gt; $500 in 2025").</a:t>
            </a:r>
          </a:p>
          <a:p>
            <a:pPr lvl="1"/>
            <a:r>
              <a:rPr lang="en-IN" sz="2400" b="1" dirty="0"/>
              <a:t>Precision:</a:t>
            </a:r>
            <a:r>
              <a:rPr lang="en-IN" sz="2400" dirty="0"/>
              <a:t> Results are binary and exact. A record either matches the criteria or it doesn't.</a:t>
            </a:r>
          </a:p>
          <a:p>
            <a:r>
              <a:rPr lang="en-IN" sz="2800" b="1" dirty="0" smtClean="0"/>
              <a:t>Data </a:t>
            </a:r>
            <a:r>
              <a:rPr lang="en-IN" sz="2800" b="1" dirty="0"/>
              <a:t>Mining: Discovering the Unknown</a:t>
            </a:r>
          </a:p>
          <a:p>
            <a:pPr lvl="1"/>
            <a:r>
              <a:rPr lang="en-IN" sz="2400" b="1" dirty="0"/>
              <a:t>Interaction:</a:t>
            </a:r>
            <a:r>
              <a:rPr lang="en-IN" sz="2400" dirty="0"/>
              <a:t> Driven by </a:t>
            </a:r>
            <a:r>
              <a:rPr lang="en-IN" sz="2400" b="1" dirty="0"/>
              <a:t>Machine Learning</a:t>
            </a:r>
            <a:r>
              <a:rPr lang="en-IN" sz="2400" dirty="0"/>
              <a:t> and Statistical Models.</a:t>
            </a:r>
          </a:p>
          <a:p>
            <a:pPr lvl="1"/>
            <a:r>
              <a:rPr lang="en-IN" sz="2400" b="1" dirty="0"/>
              <a:t>Nature:</a:t>
            </a:r>
            <a:r>
              <a:rPr lang="en-IN" sz="2400" dirty="0"/>
              <a:t> Exploratory. You don't know the question yet (e.g., "Group customers based on similar buying behaviors I haven't noticed").</a:t>
            </a:r>
          </a:p>
          <a:p>
            <a:pPr lvl="1"/>
            <a:r>
              <a:rPr lang="en-IN" sz="2400" b="1" dirty="0"/>
              <a:t>Probability:</a:t>
            </a:r>
            <a:r>
              <a:rPr lang="en-IN" sz="2400" dirty="0"/>
              <a:t> Results are often probabilistic. It finds </a:t>
            </a:r>
            <a:r>
              <a:rPr lang="en-IN" sz="2400" b="1" dirty="0"/>
              <a:t>Associations</a:t>
            </a:r>
            <a:r>
              <a:rPr lang="en-IN" sz="2400" dirty="0"/>
              <a:t> </a:t>
            </a:r>
            <a:r>
              <a:rPr lang="en-IN" sz="2400" dirty="0" smtClean="0"/>
              <a:t>(X </a:t>
            </a:r>
            <a:r>
              <a:rPr lang="en-IN" sz="2400" dirty="0"/>
              <a:t> </a:t>
            </a:r>
            <a:r>
              <a:rPr lang="en-IN" sz="2400" dirty="0" smtClean="0">
                <a:sym typeface="Wingdings" pitchFamily="2" charset="2"/>
              </a:rPr>
              <a:t> </a:t>
            </a:r>
            <a:r>
              <a:rPr lang="en-IN" sz="2400" dirty="0" smtClean="0"/>
              <a:t> Y ) </a:t>
            </a:r>
            <a:r>
              <a:rPr lang="en-IN" sz="2400" dirty="0"/>
              <a:t>with a calculated </a:t>
            </a:r>
            <a:r>
              <a:rPr lang="en-IN" sz="2400" b="1" dirty="0"/>
              <a:t>Confidence</a:t>
            </a:r>
            <a:r>
              <a:rPr lang="en-IN" sz="2400" dirty="0"/>
              <a:t> and </a:t>
            </a:r>
            <a:r>
              <a:rPr lang="en-IN" sz="2400" b="1" dirty="0"/>
              <a:t>Support</a:t>
            </a:r>
            <a:r>
              <a:rPr lang="en-IN" sz="2400" dirty="0" smtClean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0564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Mining vs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 smtClean="0"/>
              <a:t>The </a:t>
            </a:r>
            <a:r>
              <a:rPr lang="en-IN" b="1" dirty="0"/>
              <a:t>Difference in a Nutshell:</a:t>
            </a:r>
            <a:endParaRPr lang="en-IN" dirty="0"/>
          </a:p>
          <a:p>
            <a:pPr lvl="1"/>
            <a:r>
              <a:rPr lang="en-IN" b="1" dirty="0"/>
              <a:t>Database:</a:t>
            </a:r>
            <a:r>
              <a:rPr lang="en-IN" dirty="0"/>
              <a:t> "What was our highest-selling product last month?"</a:t>
            </a:r>
          </a:p>
          <a:p>
            <a:pPr lvl="1"/>
            <a:r>
              <a:rPr lang="en-IN" b="1" dirty="0"/>
              <a:t>Data Mining:</a:t>
            </a:r>
            <a:r>
              <a:rPr lang="en-IN" dirty="0"/>
              <a:t> "Why do people who buy video games also tend to buy energy drinks on Friday nights</a:t>
            </a:r>
            <a:r>
              <a:rPr lang="en-IN" dirty="0" smtClean="0"/>
              <a:t>?“</a:t>
            </a:r>
            <a:endParaRPr lang="en-IN" b="1" dirty="0" smtClean="0"/>
          </a:p>
          <a:p>
            <a:r>
              <a:rPr lang="en-IN" b="1" dirty="0" smtClean="0"/>
              <a:t>The Symbiosis : </a:t>
            </a:r>
          </a:p>
          <a:p>
            <a:pPr lvl="1"/>
            <a:r>
              <a:rPr lang="en-IN" dirty="0" smtClean="0"/>
              <a:t>You </a:t>
            </a:r>
            <a:r>
              <a:rPr lang="en-IN" dirty="0"/>
              <a:t>cannot have Data Mining without a Database. The Database provides the </a:t>
            </a:r>
            <a:r>
              <a:rPr lang="en-IN" b="1" dirty="0"/>
              <a:t>raw material (data)</a:t>
            </a:r>
            <a:r>
              <a:rPr lang="en-IN" dirty="0"/>
              <a:t>, and Data Mining provides the </a:t>
            </a:r>
            <a:r>
              <a:rPr lang="en-IN" b="1" dirty="0"/>
              <a:t>refinery (insights)</a:t>
            </a:r>
            <a:r>
              <a:rPr lang="en-IN" dirty="0"/>
              <a:t>. Together, they turn data into a competitive advantage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242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Relationship with a Larger Framework</a:t>
            </a:r>
            <a:endParaRPr lang="en-IN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7994970"/>
              </p:ext>
            </p:extLst>
          </p:nvPr>
        </p:nvGraphicFramePr>
        <p:xfrm>
          <a:off x="489559" y="3429000"/>
          <a:ext cx="8229600" cy="29260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Google Sans Text"/>
                        </a:rPr>
                        <a:t>Feature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Google Sans Text"/>
                        </a:rPr>
                        <a:t>Database Management (DBMS)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Google Sans Text"/>
                        </a:rPr>
                        <a:t>Data Mining (KDD)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Google Sans Text"/>
                        </a:rPr>
                        <a:t>Primary Task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  <a:latin typeface="Google Sans Text"/>
                        </a:rPr>
                        <a:t>Data Integration &amp; Persistence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  <a:latin typeface="Google Sans Text"/>
                        </a:rPr>
                        <a:t>Pattern Discovery &amp; Prediction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Google Sans Text"/>
                        </a:rPr>
                        <a:t>Data State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  <a:latin typeface="Google Sans Text"/>
                        </a:rPr>
                        <a:t>Operational/Transactional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  <a:latin typeface="Google Sans Text"/>
                        </a:rPr>
                        <a:t>Historical/Aggregated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Google Sans Text"/>
                        </a:rPr>
                        <a:t>Output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  <a:latin typeface="Google Sans Text"/>
                        </a:rPr>
                        <a:t>Reports, Records, Lists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  <a:latin typeface="Google Sans Text"/>
                        </a:rPr>
                        <a:t>Rules, Clusters, Models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Google Sans Text"/>
                        </a:rPr>
                        <a:t>Philosophy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  <a:latin typeface="Google Sans Text"/>
                        </a:rPr>
                        <a:t>"Tell me what happened."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  <a:latin typeface="Google Sans Text"/>
                        </a:rPr>
                        <a:t>"Tell me what it means."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57200" y="24003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5300" y="1938635"/>
            <a:ext cx="8305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Data Mining is actually a single step within a larger framework called </a:t>
            </a:r>
            <a:r>
              <a:rPr lang="en-IN" sz="2800" b="1" dirty="0"/>
              <a:t>Knowledge Discovery in Databases (KDD</a:t>
            </a:r>
            <a:r>
              <a:rPr lang="en-IN" sz="2800" b="1" dirty="0" smtClean="0"/>
              <a:t>)</a:t>
            </a:r>
            <a:r>
              <a:rPr lang="en-IN" sz="2800" dirty="0" smtClean="0"/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30263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The KDD </a:t>
            </a:r>
            <a:r>
              <a:rPr lang="en-IN" b="1" dirty="0" smtClean="0"/>
              <a:t>Pipeline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smtClean="0"/>
              <a:t>Selection</a:t>
            </a:r>
            <a:r>
              <a:rPr lang="en-IN" b="1" dirty="0"/>
              <a:t>:</a:t>
            </a:r>
            <a:r>
              <a:rPr lang="en-IN" dirty="0"/>
              <a:t> Identifying relevant data from the DBMS.</a:t>
            </a:r>
          </a:p>
          <a:p>
            <a:r>
              <a:rPr lang="en-IN" b="1" dirty="0"/>
              <a:t>Preprocessing:</a:t>
            </a:r>
            <a:r>
              <a:rPr lang="en-IN" dirty="0"/>
              <a:t> Cleaning "noise" and handling missing values.</a:t>
            </a:r>
          </a:p>
          <a:p>
            <a:r>
              <a:rPr lang="en-IN" b="1" dirty="0"/>
              <a:t>Transformation:</a:t>
            </a:r>
            <a:r>
              <a:rPr lang="en-IN" dirty="0"/>
              <a:t> Normalizing data into a format suitable for algorithms.</a:t>
            </a:r>
          </a:p>
          <a:p>
            <a:r>
              <a:rPr lang="en-IN" b="1" dirty="0"/>
              <a:t>Data Mining:</a:t>
            </a:r>
            <a:r>
              <a:rPr lang="en-IN" dirty="0"/>
              <a:t> The "Core"—applying algorithms to find patterns.</a:t>
            </a:r>
          </a:p>
          <a:p>
            <a:r>
              <a:rPr lang="en-IN" b="1" dirty="0"/>
              <a:t>Evaluation:</a:t>
            </a:r>
            <a:r>
              <a:rPr lang="en-IN" dirty="0"/>
              <a:t> Interpreting the patterns to see if they are actually useful.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5353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Real-World </a:t>
            </a:r>
            <a:r>
              <a:rPr lang="en-IN" b="1" dirty="0"/>
              <a:t>"Magic" — Relatable </a:t>
            </a:r>
            <a:r>
              <a:rPr lang="en-IN" b="1" dirty="0" smtClean="0"/>
              <a:t>Examples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To make these concepts stick, let’s look at how platforms like </a:t>
            </a:r>
            <a:r>
              <a:rPr lang="en-IN" b="1" dirty="0"/>
              <a:t>Netflix, Spotify, and Amazon</a:t>
            </a:r>
            <a:r>
              <a:rPr lang="en-IN" dirty="0"/>
              <a:t> use both systems simultaneously.</a:t>
            </a:r>
          </a:p>
          <a:p>
            <a:r>
              <a:rPr lang="en-IN" b="1" dirty="0"/>
              <a:t>The Database Side (The Foundation):</a:t>
            </a:r>
            <a:endParaRPr lang="en-IN" dirty="0"/>
          </a:p>
          <a:p>
            <a:pPr lvl="1"/>
            <a:r>
              <a:rPr lang="en-IN" dirty="0"/>
              <a:t>Stores your username, password, and subscription tier.</a:t>
            </a:r>
          </a:p>
          <a:p>
            <a:pPr lvl="1"/>
            <a:r>
              <a:rPr lang="en-IN" dirty="0"/>
              <a:t>Keeps a "Watch History" table (e.g., "User 101 watched </a:t>
            </a:r>
            <a:r>
              <a:rPr lang="en-IN" i="1" dirty="0"/>
              <a:t>Stranger Things</a:t>
            </a:r>
            <a:r>
              <a:rPr lang="en-IN" dirty="0"/>
              <a:t> at 8 PM").</a:t>
            </a:r>
          </a:p>
          <a:p>
            <a:pPr lvl="1"/>
            <a:r>
              <a:rPr lang="en-IN" b="1" dirty="0"/>
              <a:t>Goal:</a:t>
            </a:r>
            <a:r>
              <a:rPr lang="en-IN" dirty="0"/>
              <a:t> Efficiency and Security.</a:t>
            </a:r>
          </a:p>
          <a:p>
            <a:r>
              <a:rPr lang="en-IN" b="1" dirty="0"/>
              <a:t>The Data Mining Side (The Intelligence):</a:t>
            </a:r>
            <a:endParaRPr lang="en-IN" dirty="0"/>
          </a:p>
          <a:p>
            <a:pPr lvl="1"/>
            <a:r>
              <a:rPr lang="en-IN" b="1" dirty="0"/>
              <a:t>Collaborative Filtering:</a:t>
            </a:r>
            <a:r>
              <a:rPr lang="en-IN" dirty="0"/>
              <a:t> Analyzes millions of watch histories to find users similar to you.</a:t>
            </a:r>
          </a:p>
          <a:p>
            <a:pPr lvl="1"/>
            <a:r>
              <a:rPr lang="en-IN" b="1" dirty="0"/>
              <a:t>Association Rules:</a:t>
            </a:r>
            <a:r>
              <a:rPr lang="en-IN" dirty="0"/>
              <a:t> If users who liked </a:t>
            </a:r>
            <a:r>
              <a:rPr lang="en-IN" i="1" dirty="0"/>
              <a:t>Interstellar</a:t>
            </a:r>
            <a:r>
              <a:rPr lang="en-IN" dirty="0"/>
              <a:t> also liked </a:t>
            </a:r>
            <a:r>
              <a:rPr lang="en-IN" i="1" dirty="0"/>
              <a:t>Inception</a:t>
            </a:r>
            <a:r>
              <a:rPr lang="en-IN" dirty="0"/>
              <a:t>, the system recommends the latter to you.</a:t>
            </a:r>
          </a:p>
          <a:p>
            <a:pPr lvl="1"/>
            <a:r>
              <a:rPr lang="en-IN" b="1" dirty="0"/>
              <a:t>Goal:</a:t>
            </a:r>
            <a:r>
              <a:rPr lang="en-IN" dirty="0"/>
              <a:t> Predictive Engagement.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5020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Summary </a:t>
            </a:r>
            <a:r>
              <a:rPr lang="en-IN" b="1" dirty="0"/>
              <a:t>Table — Side-by-Side </a:t>
            </a:r>
            <a:r>
              <a:rPr lang="en-IN" b="1" dirty="0" smtClean="0"/>
              <a:t>Comparison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5473841"/>
              </p:ext>
            </p:extLst>
          </p:nvPr>
        </p:nvGraphicFramePr>
        <p:xfrm>
          <a:off x="457200" y="2514600"/>
          <a:ext cx="8229600" cy="36271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Attribute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Databases (DBMS)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Mining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Objective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 store and retrieve facts.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 discover knowledge and trends.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Usage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Day-to-day business operations.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Long-term strategic planning.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Query Type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Well-defined (SQL).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Vague or exploratory (Algorithms).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Quality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Must be 100% accurate.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Can handle "noisy" or incomplete data.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Math Involved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Simple arithmetic (Sum, Avg).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Complex stats (Probability, </a:t>
                      </a:r>
                      <a:r>
                        <a:rPr lang="en-IN" dirty="0" smtClean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R^2 </a:t>
                      </a: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values).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782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Mining vs Statistics vs ML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01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Mining vs Statistics vs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Statistics summarizes and infers</a:t>
            </a:r>
          </a:p>
          <a:p>
            <a:r>
              <a:rPr dirty="0"/>
              <a:t>Machine Learning focuses on </a:t>
            </a:r>
            <a:r>
              <a:rPr dirty="0" smtClean="0"/>
              <a:t>prediction</a:t>
            </a:r>
            <a:r>
              <a:rPr lang="en-IN" dirty="0" smtClean="0"/>
              <a:t>, clustering</a:t>
            </a:r>
            <a:endParaRPr dirty="0"/>
          </a:p>
          <a:p>
            <a:r>
              <a:rPr dirty="0"/>
              <a:t>Data Mining integrates stats, ML, and databases</a:t>
            </a:r>
          </a:p>
          <a:p>
            <a:r>
              <a:rPr dirty="0"/>
              <a:t>Goal: discovery + </a:t>
            </a:r>
            <a:r>
              <a:rPr dirty="0" smtClean="0"/>
              <a:t>interpretation</a:t>
            </a:r>
            <a:r>
              <a:rPr lang="en-IN" dirty="0" smtClean="0"/>
              <a:t> + Knowledge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4757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Bridging the Gap: Where Statistics, ML, and Data Mining </a:t>
            </a:r>
            <a:r>
              <a:rPr lang="en-IN" b="1" dirty="0" smtClean="0"/>
              <a:t>Meet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smtClean="0"/>
              <a:t>While </a:t>
            </a:r>
            <a:r>
              <a:rPr lang="en-IN" dirty="0"/>
              <a:t>these fields overlap, they originated from different academic lineages. Understanding their "ancestry" helps clarify their unique strengths.</a:t>
            </a:r>
          </a:p>
          <a:p>
            <a:pPr lvl="1"/>
            <a:r>
              <a:rPr lang="en-IN" b="1" dirty="0"/>
              <a:t>Statistics (The Root):</a:t>
            </a:r>
            <a:r>
              <a:rPr lang="en-IN" dirty="0"/>
              <a:t> Mathematics-based. It focuses on the </a:t>
            </a:r>
            <a:r>
              <a:rPr lang="en-IN" b="1" dirty="0"/>
              <a:t>validity</a:t>
            </a:r>
            <a:r>
              <a:rPr lang="en-IN" dirty="0"/>
              <a:t> of the data and the mathematical proof behind a trend.</a:t>
            </a:r>
          </a:p>
          <a:p>
            <a:pPr lvl="1"/>
            <a:r>
              <a:rPr lang="en-IN" b="1" dirty="0"/>
              <a:t>Machine Learning (The Intelligence):</a:t>
            </a:r>
            <a:r>
              <a:rPr lang="en-IN" dirty="0"/>
              <a:t> Computer Science-based. It focuses on </a:t>
            </a:r>
            <a:r>
              <a:rPr lang="en-IN" b="1" dirty="0"/>
              <a:t>efficiency</a:t>
            </a:r>
            <a:r>
              <a:rPr lang="en-IN" dirty="0"/>
              <a:t> and the ability of an algorithm to improve without manual coding.</a:t>
            </a:r>
          </a:p>
          <a:p>
            <a:pPr lvl="1"/>
            <a:r>
              <a:rPr lang="en-IN" b="1" dirty="0"/>
              <a:t>Data Mining (The Process):</a:t>
            </a:r>
            <a:r>
              <a:rPr lang="en-IN" dirty="0"/>
              <a:t> Information Systems-based. It focuses on </a:t>
            </a:r>
            <a:r>
              <a:rPr lang="en-IN" b="1" dirty="0"/>
              <a:t>scalability</a:t>
            </a:r>
            <a:r>
              <a:rPr lang="en-IN" dirty="0"/>
              <a:t>—finding "gold" in massive, messy mountains of data.</a:t>
            </a:r>
          </a:p>
          <a:p>
            <a:r>
              <a:rPr lang="en-IN" b="1" dirty="0"/>
              <a:t>Key Philosophy:</a:t>
            </a:r>
            <a:endParaRPr lang="en-IN" dirty="0"/>
          </a:p>
          <a:p>
            <a:pPr lvl="1"/>
            <a:r>
              <a:rPr lang="en-IN" dirty="0"/>
              <a:t>Statistics is about </a:t>
            </a:r>
            <a:r>
              <a:rPr lang="en-IN" b="1" dirty="0"/>
              <a:t>"Why?"</a:t>
            </a:r>
            <a:r>
              <a:rPr lang="en-IN" dirty="0"/>
              <a:t> (Inference)</a:t>
            </a:r>
          </a:p>
          <a:p>
            <a:pPr lvl="1"/>
            <a:r>
              <a:rPr lang="en-IN" dirty="0"/>
              <a:t>Machine Learning is about </a:t>
            </a:r>
            <a:r>
              <a:rPr lang="en-IN" b="1" dirty="0"/>
              <a:t>"What's next?"</a:t>
            </a:r>
            <a:r>
              <a:rPr lang="en-IN" dirty="0"/>
              <a:t> (Prediction)</a:t>
            </a:r>
          </a:p>
          <a:p>
            <a:pPr lvl="1"/>
            <a:r>
              <a:rPr lang="en-IN" dirty="0"/>
              <a:t>Data Mining is about </a:t>
            </a:r>
            <a:r>
              <a:rPr lang="en-IN" b="1" dirty="0"/>
              <a:t>"What's in there?"</a:t>
            </a:r>
            <a:r>
              <a:rPr lang="en-IN" dirty="0"/>
              <a:t> (Discovery</a:t>
            </a:r>
            <a:r>
              <a:rPr lang="en-IN" dirty="0" smtClean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277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Data Mining : Digging for Diamonds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912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dirty="0" smtClean="0"/>
              <a:t>Data </a:t>
            </a:r>
            <a:r>
              <a:rPr lang="en-IN" dirty="0"/>
              <a:t>Mining is the computational process of discovering patterns in large data sets involving methods at the intersection of ML, statistics, and database systems.</a:t>
            </a:r>
          </a:p>
          <a:p>
            <a:pPr lvl="1"/>
            <a:r>
              <a:rPr lang="en-IN" b="1" dirty="0"/>
              <a:t>The KDD Process (Knowledge Discovery in Databases):</a:t>
            </a:r>
            <a:r>
              <a:rPr lang="en-IN" dirty="0"/>
              <a:t> It involves data cleaning, integration, selection, transformation, mining, and finally, interpretation.</a:t>
            </a:r>
          </a:p>
          <a:p>
            <a:pPr lvl="1"/>
            <a:r>
              <a:rPr lang="en-IN" b="1" dirty="0"/>
              <a:t>Scalability is King:</a:t>
            </a:r>
            <a:r>
              <a:rPr lang="en-IN" dirty="0"/>
              <a:t> While a statistician might work on a spreadsheet, a data miner works on a distributed server (like Hadoop or Spark) containing petabytes of data.</a:t>
            </a:r>
          </a:p>
          <a:p>
            <a:pPr lvl="1"/>
            <a:r>
              <a:rPr lang="en-IN" b="1" dirty="0"/>
              <a:t>Pattern Recognition:</a:t>
            </a:r>
            <a:r>
              <a:rPr lang="en-IN" dirty="0"/>
              <a:t> Finding "Association Rules"—e.g., "People who buy diapers at 7 PM also tend to buy beer."</a:t>
            </a:r>
          </a:p>
          <a:p>
            <a:r>
              <a:rPr lang="en-IN" b="1" dirty="0"/>
              <a:t>Integration Recap:</a:t>
            </a:r>
            <a:endParaRPr lang="en-IN" dirty="0"/>
          </a:p>
          <a:p>
            <a:pPr lvl="1"/>
            <a:r>
              <a:rPr lang="en-IN" b="1" dirty="0"/>
              <a:t>Databases:</a:t>
            </a:r>
            <a:r>
              <a:rPr lang="en-IN" dirty="0"/>
              <a:t> Provide the storage and indexing.</a:t>
            </a:r>
          </a:p>
          <a:p>
            <a:pPr lvl="1"/>
            <a:r>
              <a:rPr lang="en-IN" b="1" dirty="0"/>
              <a:t>Statistics:</a:t>
            </a:r>
            <a:r>
              <a:rPr lang="en-IN" dirty="0"/>
              <a:t> Provide the "noise" vs. "signal" filtering.</a:t>
            </a:r>
          </a:p>
          <a:p>
            <a:pPr lvl="1"/>
            <a:r>
              <a:rPr lang="en-IN" b="1" dirty="0"/>
              <a:t>ML:</a:t>
            </a:r>
            <a:r>
              <a:rPr lang="en-IN" dirty="0"/>
              <a:t> Provides the algorithms to automate the search.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6320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16340</TotalTime>
  <Words>1987</Words>
  <Application>Microsoft Office PowerPoint</Application>
  <PresentationFormat>On-screen Show (4:3)</PresentationFormat>
  <Paragraphs>260</Paragraphs>
  <Slides>42</Slides>
  <Notes>2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Foundations of DM</vt:lpstr>
      <vt:lpstr>BDA and DM</vt:lpstr>
      <vt:lpstr>Why Study Data Mining?</vt:lpstr>
      <vt:lpstr>Real-World Data Explosion</vt:lpstr>
      <vt:lpstr>Data Mining</vt:lpstr>
      <vt:lpstr>What is Data Mining?</vt:lpstr>
      <vt:lpstr>What is Data Mining? ( contd. )</vt:lpstr>
      <vt:lpstr>The Data Deluge: We are Drowning in Data..</vt:lpstr>
      <vt:lpstr>PowerPoint Presentation</vt:lpstr>
      <vt:lpstr>PowerPoint Presentation</vt:lpstr>
      <vt:lpstr>2019 report</vt:lpstr>
      <vt:lpstr>Data inside companies </vt:lpstr>
      <vt:lpstr>PowerPoint Presentation</vt:lpstr>
      <vt:lpstr>Simple Example of Data Mining</vt:lpstr>
      <vt:lpstr>Data is the new Oil</vt:lpstr>
      <vt:lpstr>PowerPoint Presentation</vt:lpstr>
      <vt:lpstr> ...But Starving for Knowledge</vt:lpstr>
      <vt:lpstr>PowerPoint Presentation</vt:lpstr>
      <vt:lpstr>What is Data Mining? A First Definition</vt:lpstr>
      <vt:lpstr>What Data Mining is NOT</vt:lpstr>
      <vt:lpstr>The Big Picture: Knowledge Discovery in Databases (KDD)</vt:lpstr>
      <vt:lpstr>What is KDD</vt:lpstr>
      <vt:lpstr>5 step Model </vt:lpstr>
      <vt:lpstr>5 Step Model</vt:lpstr>
      <vt:lpstr>7 Step Model </vt:lpstr>
      <vt:lpstr>Acronyms </vt:lpstr>
      <vt:lpstr>Key Differences</vt:lpstr>
      <vt:lpstr>Deep Dive: The KDD Process</vt:lpstr>
      <vt:lpstr>KDD Process contd. </vt:lpstr>
      <vt:lpstr>KDD Contd. </vt:lpstr>
      <vt:lpstr>Database vs data mining </vt:lpstr>
      <vt:lpstr>Storage Vs Discovery</vt:lpstr>
      <vt:lpstr>Known Questions vs. Unknown Relationships</vt:lpstr>
      <vt:lpstr>Data Mining vs Databases</vt:lpstr>
      <vt:lpstr>Relationship with a Larger Framework</vt:lpstr>
      <vt:lpstr>The KDD Pipeline</vt:lpstr>
      <vt:lpstr>Real-World "Magic" — Relatable Examples</vt:lpstr>
      <vt:lpstr>Summary Table — Side-by-Side Comparison</vt:lpstr>
      <vt:lpstr>Data Mining vs Statistics vs ML</vt:lpstr>
      <vt:lpstr>Data Mining vs Statistics vs ML</vt:lpstr>
      <vt:lpstr>Bridging the Gap: Where Statistics, ML, and Data Mining Meet</vt:lpstr>
      <vt:lpstr>Data Mining : Digging for Diamonds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Foundations of Data Mining</dc:title>
  <dc:creator>Prasenjit Mukherjee</dc:creator>
  <cp:lastModifiedBy>Prasenjit Mukherjee</cp:lastModifiedBy>
  <cp:revision>22</cp:revision>
  <dcterms:created xsi:type="dcterms:W3CDTF">2006-08-16T00:00:00Z</dcterms:created>
  <dcterms:modified xsi:type="dcterms:W3CDTF">2026-01-27T06:37:51Z</dcterms:modified>
</cp:coreProperties>
</file>