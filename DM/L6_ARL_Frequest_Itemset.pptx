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42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19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86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6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72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45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1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3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70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57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65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3844-5D55-4E86-A877-18C149A852F1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954B3-FB84-43ED-937E-570A480AE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63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Association Rule Mining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90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Association Rule Mining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Definition </a:t>
            </a:r>
          </a:p>
          <a:p>
            <a:pPr lvl="1"/>
            <a:r>
              <a:rPr lang="en-IN" dirty="0" smtClean="0"/>
              <a:t>Purchasing of one product based on purshase of a different product</a:t>
            </a:r>
          </a:p>
          <a:p>
            <a:pPr lvl="1"/>
            <a:endParaRPr lang="en-IN" dirty="0" smtClean="0"/>
          </a:p>
          <a:p>
            <a:r>
              <a:rPr lang="en-IN" b="1" dirty="0" smtClean="0"/>
              <a:t>Industry Applicability</a:t>
            </a:r>
          </a:p>
          <a:p>
            <a:pPr lvl="1"/>
            <a:r>
              <a:rPr lang="en-IN" dirty="0" smtClean="0"/>
              <a:t>Rack Placement at Retail Stores</a:t>
            </a:r>
          </a:p>
          <a:p>
            <a:pPr lvl="1"/>
            <a:r>
              <a:rPr lang="en-IN" dirty="0" smtClean="0"/>
              <a:t>Warehouse  Inventory Control </a:t>
            </a:r>
          </a:p>
          <a:p>
            <a:pPr lvl="1"/>
            <a:r>
              <a:rPr lang="en-IN" dirty="0" smtClean="0"/>
              <a:t>Package Deals in Travel and Hospitality </a:t>
            </a:r>
          </a:p>
        </p:txBody>
      </p:sp>
    </p:spTree>
    <p:extLst>
      <p:ext uri="{BB962C8B-B14F-4D97-AF65-F5344CB8AC3E}">
        <p14:creationId xmlns:p14="http://schemas.microsoft.com/office/powerpoint/2010/main" val="139942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Formulation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Define Market Basket Analysis and its business relevance.</a:t>
            </a:r>
          </a:p>
          <a:p>
            <a:r>
              <a:rPr lang="en-IN" dirty="0"/>
              <a:t>Represent transactional data as sets.</a:t>
            </a:r>
          </a:p>
          <a:p>
            <a:r>
              <a:rPr lang="en-IN" dirty="0"/>
              <a:t>Define </a:t>
            </a:r>
            <a:r>
              <a:rPr lang="en-IN" b="1" dirty="0"/>
              <a:t>itemset</a:t>
            </a:r>
            <a:r>
              <a:rPr lang="en-IN" dirty="0"/>
              <a:t>, </a:t>
            </a:r>
            <a:r>
              <a:rPr lang="en-IN" b="1" dirty="0"/>
              <a:t>k‑itemset</a:t>
            </a:r>
            <a:r>
              <a:rPr lang="en-IN" dirty="0"/>
              <a:t>, </a:t>
            </a:r>
            <a:r>
              <a:rPr lang="en-IN" b="1" dirty="0"/>
              <a:t>support count</a:t>
            </a:r>
            <a:r>
              <a:rPr lang="en-IN" dirty="0"/>
              <a:t>, </a:t>
            </a:r>
            <a:r>
              <a:rPr lang="en-IN" b="1" dirty="0"/>
              <a:t>support</a:t>
            </a:r>
            <a:r>
              <a:rPr lang="en-IN" dirty="0"/>
              <a:t>.</a:t>
            </a:r>
          </a:p>
          <a:p>
            <a:r>
              <a:rPr lang="en-IN" dirty="0"/>
              <a:t>Determine whether an itemset is </a:t>
            </a:r>
            <a:r>
              <a:rPr lang="en-IN" b="1" dirty="0"/>
              <a:t>frequent</a:t>
            </a:r>
            <a:r>
              <a:rPr lang="en-IN" dirty="0"/>
              <a:t> given a minimum support threshold.</a:t>
            </a:r>
          </a:p>
          <a:p>
            <a:r>
              <a:rPr lang="en-IN" dirty="0"/>
              <a:t>Formally define an </a:t>
            </a:r>
            <a:r>
              <a:rPr lang="en-IN" b="1" dirty="0"/>
              <a:t>association rule</a:t>
            </a:r>
            <a:r>
              <a:rPr lang="en-IN" dirty="0"/>
              <a:t> and its </a:t>
            </a:r>
            <a:r>
              <a:rPr lang="en-IN" b="1" dirty="0"/>
              <a:t>confidence</a:t>
            </a:r>
            <a:r>
              <a:rPr lang="en-IN" dirty="0"/>
              <a:t>.</a:t>
            </a:r>
          </a:p>
          <a:p>
            <a:r>
              <a:rPr lang="en-IN" dirty="0"/>
              <a:t>Compute support and confidence on a small toy dataset.</a:t>
            </a:r>
          </a:p>
          <a:p>
            <a:r>
              <a:rPr lang="en-IN" dirty="0"/>
              <a:t>State the formal problem of association rule mining.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54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Markey Basket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Market Basket Analysis (MBA)</a:t>
            </a:r>
            <a:r>
              <a:rPr lang="en-IN" dirty="0"/>
              <a:t> is a data mining technique that analyzes customer purchases to discover </a:t>
            </a:r>
            <a:r>
              <a:rPr lang="en-IN" b="1" dirty="0"/>
              <a:t>patterns of items frequently bought together</a:t>
            </a:r>
            <a:r>
              <a:rPr lang="en-IN" dirty="0"/>
              <a:t>.</a:t>
            </a:r>
          </a:p>
          <a:p>
            <a:r>
              <a:rPr lang="en-IN" dirty="0"/>
              <a:t>Origin: Retail (supermarkets, e‑commerce) – used for:</a:t>
            </a:r>
          </a:p>
          <a:p>
            <a:pPr lvl="1"/>
            <a:r>
              <a:rPr lang="en-IN" dirty="0"/>
              <a:t>Store layout optimization</a:t>
            </a:r>
          </a:p>
          <a:p>
            <a:pPr lvl="1"/>
            <a:r>
              <a:rPr lang="en-IN" dirty="0"/>
              <a:t>Cross‑selling and promotions</a:t>
            </a:r>
          </a:p>
          <a:p>
            <a:pPr lvl="1"/>
            <a:r>
              <a:rPr lang="en-IN" dirty="0"/>
              <a:t>Recommendation systems (“customers who bought … also bought …”)</a:t>
            </a:r>
          </a:p>
          <a:p>
            <a:r>
              <a:rPr lang="en-IN" dirty="0"/>
              <a:t>Classic example: </a:t>
            </a:r>
            <a:r>
              <a:rPr lang="en-IN" b="1" dirty="0"/>
              <a:t>{diaper, beer}</a:t>
            </a:r>
            <a:r>
              <a:rPr lang="en-IN" dirty="0"/>
              <a:t> – analysis revealed that customers buying diapers often also buy beer on Thursdays (promotion opportunity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4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Representing Transactional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 </a:t>
            </a:r>
            <a:r>
              <a:rPr lang="en-IN" b="1" dirty="0"/>
              <a:t>transaction database</a:t>
            </a:r>
            <a:r>
              <a:rPr lang="en-IN" dirty="0"/>
              <a:t> D</a:t>
            </a:r>
            <a:r>
              <a:rPr lang="en-IN" i="1" dirty="0"/>
              <a:t>D</a:t>
            </a:r>
            <a:r>
              <a:rPr lang="en-IN" dirty="0"/>
              <a:t> is a set of transactions:</a:t>
            </a:r>
          </a:p>
          <a:p>
            <a:pPr marL="914400" lvl="2" indent="0">
              <a:buNone/>
            </a:pPr>
            <a:r>
              <a:rPr lang="en-IN" sz="3600" i="1" dirty="0" smtClean="0"/>
              <a:t>D</a:t>
            </a:r>
            <a:r>
              <a:rPr lang="en-IN" sz="3600" dirty="0"/>
              <a:t>={</a:t>
            </a:r>
            <a:r>
              <a:rPr lang="en-IN" sz="3600" i="1" dirty="0"/>
              <a:t>t</a:t>
            </a:r>
            <a:r>
              <a:rPr lang="en-IN" sz="3600" dirty="0"/>
              <a:t>1​,</a:t>
            </a:r>
            <a:r>
              <a:rPr lang="en-IN" sz="3600" i="1" dirty="0"/>
              <a:t>t</a:t>
            </a:r>
            <a:r>
              <a:rPr lang="en-IN" sz="3600" dirty="0"/>
              <a:t>2​,…,</a:t>
            </a:r>
            <a:r>
              <a:rPr lang="en-IN" sz="3600" i="1" dirty="0"/>
              <a:t>tn</a:t>
            </a:r>
            <a:r>
              <a:rPr lang="en-IN" sz="3600" dirty="0"/>
              <a:t>​</a:t>
            </a:r>
            <a:r>
              <a:rPr lang="en-IN" sz="3600" dirty="0" smtClean="0"/>
              <a:t>}</a:t>
            </a:r>
          </a:p>
          <a:p>
            <a:r>
              <a:rPr lang="en-IN" dirty="0" smtClean="0"/>
              <a:t>Each </a:t>
            </a:r>
            <a:r>
              <a:rPr lang="en-IN" dirty="0"/>
              <a:t>transaction </a:t>
            </a:r>
            <a:r>
              <a:rPr lang="en-IN" i="1" dirty="0" smtClean="0"/>
              <a:t>t</a:t>
            </a:r>
            <a:r>
              <a:rPr lang="en-IN" i="1" baseline="-25000" dirty="0" smtClean="0"/>
              <a:t>i</a:t>
            </a:r>
            <a:r>
              <a:rPr lang="en-IN" dirty="0" smtClean="0"/>
              <a:t>​</a:t>
            </a:r>
            <a:r>
              <a:rPr lang="en-IN" dirty="0"/>
              <a:t> is a </a:t>
            </a:r>
            <a:r>
              <a:rPr lang="en-IN" b="1" dirty="0"/>
              <a:t>set of items</a:t>
            </a:r>
            <a:r>
              <a:rPr lang="en-IN" dirty="0"/>
              <a:t> (a subset of all available items</a:t>
            </a:r>
            <a:r>
              <a:rPr lang="en-IN" dirty="0" smtClean="0"/>
              <a:t>).</a:t>
            </a:r>
          </a:p>
          <a:p>
            <a:pPr lvl="1"/>
            <a:r>
              <a:rPr lang="en-IN" dirty="0"/>
              <a:t>Let </a:t>
            </a:r>
            <a:r>
              <a:rPr lang="en-IN" i="1" dirty="0" smtClean="0"/>
              <a:t>I</a:t>
            </a:r>
            <a:r>
              <a:rPr lang="en-IN" dirty="0"/>
              <a:t>={</a:t>
            </a:r>
            <a:r>
              <a:rPr lang="en-IN" i="1" dirty="0"/>
              <a:t>i</a:t>
            </a:r>
            <a:r>
              <a:rPr lang="en-IN" dirty="0"/>
              <a:t>1​,</a:t>
            </a:r>
            <a:r>
              <a:rPr lang="en-IN" i="1" dirty="0"/>
              <a:t>i</a:t>
            </a:r>
            <a:r>
              <a:rPr lang="en-IN" dirty="0"/>
              <a:t>2​,…,</a:t>
            </a:r>
            <a:r>
              <a:rPr lang="en-IN" i="1" dirty="0"/>
              <a:t>im</a:t>
            </a:r>
            <a:r>
              <a:rPr lang="en-IN" dirty="0"/>
              <a:t>​} be the set of all </a:t>
            </a:r>
            <a:r>
              <a:rPr lang="en-IN" b="1" dirty="0"/>
              <a:t>items</a:t>
            </a:r>
            <a:r>
              <a:rPr lang="en-IN" dirty="0"/>
              <a:t> (universe).</a:t>
            </a:r>
          </a:p>
          <a:p>
            <a:pPr lvl="1"/>
            <a:r>
              <a:rPr lang="en-IN" dirty="0"/>
              <a:t>Each transaction </a:t>
            </a:r>
            <a:r>
              <a:rPr lang="en-IN" i="1" dirty="0" smtClean="0"/>
              <a:t>ti</a:t>
            </a:r>
            <a:r>
              <a:rPr lang="en-IN" dirty="0"/>
              <a:t>​⊆</a:t>
            </a:r>
            <a:r>
              <a:rPr lang="en-IN" i="1" dirty="0"/>
              <a:t>I</a:t>
            </a:r>
            <a:r>
              <a:rPr lang="en-IN" dirty="0"/>
              <a:t> and has a unique identifier (TID</a:t>
            </a:r>
            <a:r>
              <a:rPr lang="en-IN" dirty="0" smtClean="0"/>
              <a:t>).</a:t>
            </a:r>
          </a:p>
          <a:p>
            <a:r>
              <a:rPr lang="en-IN" dirty="0" smtClean="0"/>
              <a:t>Binary representation ( item presence matrix ) </a:t>
            </a:r>
          </a:p>
          <a:p>
            <a:endParaRPr lang="en-IN" dirty="0" smtClean="0"/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r>
              <a:rPr lang="en-IN" dirty="0" smtClean="0"/>
              <a:t> </a:t>
            </a:r>
          </a:p>
          <a:p>
            <a:pPr marL="457200" lvl="1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504396"/>
              </p:ext>
            </p:extLst>
          </p:nvPr>
        </p:nvGraphicFramePr>
        <p:xfrm>
          <a:off x="611560" y="4797152"/>
          <a:ext cx="8229598" cy="1605280"/>
        </p:xfrm>
        <a:graphic>
          <a:graphicData uri="http://schemas.openxmlformats.org/drawingml/2006/table">
            <a:tbl>
              <a:tblPr/>
              <a:tblGrid>
                <a:gridCol w="1130584"/>
                <a:gridCol w="1183169"/>
                <a:gridCol w="1183169"/>
                <a:gridCol w="1183169"/>
                <a:gridCol w="1183169"/>
                <a:gridCol w="1183169"/>
                <a:gridCol w="1183169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TID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Bread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Milk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Diaper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Beer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Eggs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Coke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0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Arial Black" pitchFamily="34" charset="0"/>
                        </a:rPr>
                        <a:t>...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82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Toy </a:t>
            </a:r>
            <a:r>
              <a:rPr lang="en-IN" b="1" dirty="0" smtClean="0"/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7848872" cy="1656184"/>
          </a:xfrm>
        </p:spPr>
        <p:txBody>
          <a:bodyPr/>
          <a:lstStyle/>
          <a:p>
            <a:r>
              <a:rPr lang="en-IN" i="1" dirty="0" smtClean="0"/>
              <a:t>I</a:t>
            </a:r>
            <a:r>
              <a:rPr lang="en-IN" dirty="0" smtClean="0"/>
              <a:t>={Bread, Milk, Diaper, Beer, Eggs}</a:t>
            </a:r>
          </a:p>
          <a:p>
            <a:r>
              <a:rPr lang="en-IN" b="1" dirty="0"/>
              <a:t>Number of </a:t>
            </a:r>
            <a:r>
              <a:rPr lang="en-IN" b="1" dirty="0" smtClean="0"/>
              <a:t>transactions</a:t>
            </a:r>
            <a:r>
              <a:rPr lang="en-IN" dirty="0" smtClean="0"/>
              <a:t> ∣</a:t>
            </a:r>
            <a:r>
              <a:rPr lang="en-IN" i="1" dirty="0"/>
              <a:t>D</a:t>
            </a:r>
            <a:r>
              <a:rPr lang="en-IN" dirty="0"/>
              <a:t>∣=5.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71168"/>
              </p:ext>
            </p:extLst>
          </p:nvPr>
        </p:nvGraphicFramePr>
        <p:xfrm>
          <a:off x="683568" y="2779524"/>
          <a:ext cx="7128792" cy="3210409"/>
        </p:xfrm>
        <a:graphic>
          <a:graphicData uri="http://schemas.openxmlformats.org/drawingml/2006/table">
            <a:tbl>
              <a:tblPr/>
              <a:tblGrid>
                <a:gridCol w="2002249"/>
                <a:gridCol w="5126543"/>
              </a:tblGrid>
              <a:tr h="308648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  <a:latin typeface="Arial Black" pitchFamily="34" charset="0"/>
                        </a:rPr>
                        <a:t>TID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Arial Black" pitchFamily="34" charset="0"/>
                        </a:rPr>
                        <a:t>Items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0597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Arial Black" pitchFamily="34" charset="0"/>
                        </a:rPr>
                        <a:t>1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Arial Black" pitchFamily="34" charset="0"/>
                        </a:rPr>
                        <a:t>Bread, Milk, Diaper, Beer, Eggs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623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2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Bread, Milk, Diaper, Beer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623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3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Bread, Milk, Eggs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623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4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Bread, Milk, Diaper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623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Arial Black" pitchFamily="34" charset="0"/>
                        </a:rPr>
                        <a:t>5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Arial Black" pitchFamily="34" charset="0"/>
                        </a:rPr>
                        <a:t>Milk, Diaper, Beer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9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Itemsets and k‑Itemsets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An</a:t>
            </a:r>
            <a:r>
              <a:rPr lang="en-IN" dirty="0"/>
              <a:t> </a:t>
            </a:r>
            <a:r>
              <a:rPr lang="en-IN" b="1" dirty="0"/>
              <a:t>itemset</a:t>
            </a:r>
            <a:r>
              <a:rPr lang="en-IN" dirty="0"/>
              <a:t> </a:t>
            </a:r>
            <a:r>
              <a:rPr lang="en-IN" i="1" dirty="0" smtClean="0"/>
              <a:t>X</a:t>
            </a:r>
            <a:r>
              <a:rPr lang="en-IN" dirty="0"/>
              <a:t> is any subset of </a:t>
            </a:r>
            <a:r>
              <a:rPr lang="en-IN" i="1" dirty="0" smtClean="0"/>
              <a:t>I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If </a:t>
            </a:r>
            <a:r>
              <a:rPr lang="en-IN" dirty="0" smtClean="0"/>
              <a:t>∣</a:t>
            </a:r>
            <a:r>
              <a:rPr lang="en-IN" i="1" dirty="0"/>
              <a:t>X</a:t>
            </a:r>
            <a:r>
              <a:rPr lang="en-IN" dirty="0"/>
              <a:t>∣=</a:t>
            </a:r>
            <a:r>
              <a:rPr lang="en-IN" i="1" dirty="0"/>
              <a:t>k</a:t>
            </a:r>
            <a:r>
              <a:rPr lang="en-IN" dirty="0"/>
              <a:t>, we call </a:t>
            </a:r>
            <a:r>
              <a:rPr lang="en-IN" i="1" dirty="0" smtClean="0"/>
              <a:t>X</a:t>
            </a:r>
            <a:r>
              <a:rPr lang="en-IN" dirty="0"/>
              <a:t> a </a:t>
            </a:r>
            <a:r>
              <a:rPr lang="en-IN" b="1" dirty="0"/>
              <a:t>k‑itemset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Examples</a:t>
            </a:r>
            <a:r>
              <a:rPr lang="en-IN" dirty="0"/>
              <a:t> from toy dataset:</a:t>
            </a:r>
          </a:p>
          <a:p>
            <a:pPr lvl="1"/>
            <a:r>
              <a:rPr lang="en-IN" dirty="0"/>
              <a:t>1‑itemsets: {Bread}, {Milk}, {Diaper}, {Beer}, {Eggs}</a:t>
            </a:r>
          </a:p>
          <a:p>
            <a:pPr lvl="1"/>
            <a:r>
              <a:rPr lang="en-IN" dirty="0"/>
              <a:t>2‑itemsets: {Bread, Milk}, {Diaper, Beer}, {Milk, Eggs}, …</a:t>
            </a:r>
          </a:p>
          <a:p>
            <a:pPr lvl="1"/>
            <a:r>
              <a:rPr lang="en-IN" dirty="0"/>
              <a:t>3‑itemsets: {Bread, Milk, Diaper}, {Milk, Diaper, Beer}, …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A </a:t>
            </a:r>
            <a:r>
              <a:rPr lang="en-IN" dirty="0"/>
              <a:t>transaction </a:t>
            </a:r>
            <a:r>
              <a:rPr lang="en-IN" i="1" dirty="0" smtClean="0"/>
              <a:t>t</a:t>
            </a:r>
            <a:r>
              <a:rPr lang="en-IN" dirty="0"/>
              <a:t> is said to </a:t>
            </a:r>
            <a:r>
              <a:rPr lang="en-IN" b="1" dirty="0"/>
              <a:t>contain</a:t>
            </a:r>
            <a:r>
              <a:rPr lang="en-IN" dirty="0"/>
              <a:t> an itemset </a:t>
            </a:r>
            <a:r>
              <a:rPr lang="en-IN" i="1" dirty="0" smtClean="0"/>
              <a:t>X</a:t>
            </a:r>
            <a:r>
              <a:rPr lang="en-IN" dirty="0"/>
              <a:t> </a:t>
            </a:r>
            <a:r>
              <a:rPr lang="en-IN" dirty="0" smtClean="0"/>
              <a:t>iff </a:t>
            </a:r>
            <a:r>
              <a:rPr lang="en-IN" i="1" dirty="0" smtClean="0"/>
              <a:t>X</a:t>
            </a:r>
            <a:r>
              <a:rPr lang="en-IN" dirty="0"/>
              <a:t>⊆</a:t>
            </a:r>
            <a:r>
              <a:rPr lang="en-IN" i="1" dirty="0"/>
              <a:t>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677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Support Count and Support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smtClean="0"/>
              <a:t>Support </a:t>
            </a:r>
            <a:r>
              <a:rPr lang="en-IN" b="1" dirty="0"/>
              <a:t>Count</a:t>
            </a:r>
            <a:r>
              <a:rPr lang="en-IN" dirty="0"/>
              <a:t> </a:t>
            </a:r>
            <a:r>
              <a:rPr lang="el-GR" i="1" dirty="0" smtClean="0"/>
              <a:t>σ</a:t>
            </a:r>
            <a:r>
              <a:rPr lang="el-GR" dirty="0" smtClean="0"/>
              <a:t>(</a:t>
            </a:r>
            <a:r>
              <a:rPr lang="en-IN" i="1" dirty="0"/>
              <a:t>X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The number of transactions that contain the itemset </a:t>
            </a:r>
            <a:r>
              <a:rPr lang="en-IN" i="1" dirty="0" smtClean="0"/>
              <a:t>X</a:t>
            </a:r>
            <a:r>
              <a:rPr lang="en-IN" dirty="0"/>
              <a:t>:</a:t>
            </a:r>
          </a:p>
          <a:p>
            <a:pPr marL="457200" lvl="1" indent="0">
              <a:buNone/>
            </a:pPr>
            <a:r>
              <a:rPr lang="en-IN" sz="3200" i="1" dirty="0" smtClean="0"/>
              <a:t>		</a:t>
            </a:r>
            <a:r>
              <a:rPr lang="el-GR" sz="3200" i="1" dirty="0" smtClean="0"/>
              <a:t>σ</a:t>
            </a:r>
            <a:r>
              <a:rPr lang="el-GR" sz="3200" dirty="0" smtClean="0"/>
              <a:t>(</a:t>
            </a:r>
            <a:r>
              <a:rPr lang="en-IN" sz="3200" i="1" dirty="0"/>
              <a:t>X</a:t>
            </a:r>
            <a:r>
              <a:rPr lang="en-IN" sz="3200" dirty="0"/>
              <a:t>)=∣{</a:t>
            </a:r>
            <a:r>
              <a:rPr lang="en-IN" sz="3200" i="1" dirty="0"/>
              <a:t>ti</a:t>
            </a:r>
            <a:r>
              <a:rPr lang="en-IN" sz="3200" dirty="0"/>
              <a:t>​∣</a:t>
            </a:r>
            <a:r>
              <a:rPr lang="en-IN" sz="3200" i="1" dirty="0"/>
              <a:t>X</a:t>
            </a:r>
            <a:r>
              <a:rPr lang="en-IN" sz="3200" dirty="0"/>
              <a:t>⊆</a:t>
            </a:r>
            <a:r>
              <a:rPr lang="en-IN" sz="3200" i="1" dirty="0"/>
              <a:t>ti</a:t>
            </a:r>
            <a:r>
              <a:rPr lang="en-IN" sz="3200" dirty="0"/>
              <a:t>​, </a:t>
            </a:r>
            <a:r>
              <a:rPr lang="en-IN" sz="3200" i="1" dirty="0"/>
              <a:t>ti</a:t>
            </a:r>
            <a:r>
              <a:rPr lang="en-IN" sz="3200" dirty="0"/>
              <a:t>​∈</a:t>
            </a:r>
            <a:r>
              <a:rPr lang="en-IN" sz="3200" i="1" dirty="0"/>
              <a:t>D</a:t>
            </a:r>
            <a:r>
              <a:rPr lang="en-IN" sz="3200" dirty="0"/>
              <a:t>}</a:t>
            </a:r>
            <a:r>
              <a:rPr lang="en-IN" sz="3200" dirty="0" smtClean="0"/>
              <a:t>∣</a:t>
            </a:r>
          </a:p>
          <a:p>
            <a:endParaRPr lang="en-IN" b="1" dirty="0" smtClean="0"/>
          </a:p>
          <a:p>
            <a:r>
              <a:rPr lang="en-IN" b="1" dirty="0" smtClean="0"/>
              <a:t>Support</a:t>
            </a:r>
            <a:r>
              <a:rPr lang="en-IN" dirty="0"/>
              <a:t> </a:t>
            </a:r>
            <a:r>
              <a:rPr lang="en-IN" i="1" dirty="0" smtClean="0"/>
              <a:t>s</a:t>
            </a:r>
            <a:r>
              <a:rPr lang="en-IN" dirty="0" smtClean="0"/>
              <a:t>(</a:t>
            </a:r>
            <a:r>
              <a:rPr lang="en-IN" i="1" dirty="0" smtClean="0"/>
              <a:t>X</a:t>
            </a:r>
            <a:r>
              <a:rPr lang="en-IN" dirty="0"/>
              <a:t>) (also called </a:t>
            </a:r>
            <a:r>
              <a:rPr lang="en-IN" b="1" dirty="0"/>
              <a:t>relative support</a:t>
            </a: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The fraction (or percentage) of transactions that contain </a:t>
            </a:r>
            <a:r>
              <a:rPr lang="en-IN" i="1" dirty="0" smtClean="0"/>
              <a:t>X</a:t>
            </a:r>
            <a:r>
              <a:rPr lang="en-IN" dirty="0" smtClean="0"/>
              <a:t>: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Support </a:t>
            </a:r>
            <a:r>
              <a:rPr lang="en-IN" dirty="0"/>
              <a:t>is a measure of </a:t>
            </a:r>
            <a:r>
              <a:rPr lang="en-IN" b="1" dirty="0"/>
              <a:t>statistical significance</a:t>
            </a:r>
            <a:r>
              <a:rPr lang="en-IN" dirty="0"/>
              <a:t> – how often the itemset appears in the data.</a:t>
            </a:r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397" y="3861048"/>
            <a:ext cx="2016224" cy="105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766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Example – Computing Support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1‑itemsets</a:t>
            </a:r>
            <a:r>
              <a:rPr lang="en-IN" b="1" dirty="0"/>
              <a:t>:</a:t>
            </a:r>
            <a:endParaRPr lang="en-IN" dirty="0"/>
          </a:p>
          <a:p>
            <a:pPr lvl="1"/>
            <a:r>
              <a:rPr lang="el-GR" dirty="0"/>
              <a:t>σ({</a:t>
            </a:r>
            <a:r>
              <a:rPr lang="en-IN" dirty="0"/>
              <a:t>Bread})=</a:t>
            </a:r>
            <a:r>
              <a:rPr lang="en-IN" dirty="0" smtClean="0"/>
              <a:t>4 (</a:t>
            </a:r>
            <a:r>
              <a:rPr lang="en-IN" dirty="0"/>
              <a:t>TIDs </a:t>
            </a:r>
            <a:r>
              <a:rPr lang="en-IN" dirty="0" smtClean="0"/>
              <a:t>1,2,3,4)        s=4/5=0.8</a:t>
            </a:r>
          </a:p>
          <a:p>
            <a:pPr lvl="1"/>
            <a:r>
              <a:rPr lang="el-GR" dirty="0" smtClean="0"/>
              <a:t>σ</a:t>
            </a:r>
            <a:r>
              <a:rPr lang="el-GR" dirty="0"/>
              <a:t>({</a:t>
            </a:r>
            <a:r>
              <a:rPr lang="en-IN" dirty="0"/>
              <a:t>Milk})=</a:t>
            </a:r>
            <a:r>
              <a:rPr lang="en-IN" dirty="0" smtClean="0"/>
              <a:t>5  (</a:t>
            </a:r>
            <a:r>
              <a:rPr lang="en-IN" dirty="0"/>
              <a:t>all </a:t>
            </a:r>
            <a:r>
              <a:rPr lang="en-IN" dirty="0" smtClean="0"/>
              <a:t>TIDs)                   s=1.0</a:t>
            </a:r>
          </a:p>
          <a:p>
            <a:pPr lvl="1"/>
            <a:r>
              <a:rPr lang="el-GR" dirty="0" smtClean="0"/>
              <a:t>σ</a:t>
            </a:r>
            <a:r>
              <a:rPr lang="el-GR" dirty="0"/>
              <a:t>({</a:t>
            </a:r>
            <a:r>
              <a:rPr lang="en-IN" dirty="0"/>
              <a:t>Diaper})=</a:t>
            </a:r>
            <a:r>
              <a:rPr lang="en-IN" dirty="0" smtClean="0"/>
              <a:t>4  (</a:t>
            </a:r>
            <a:r>
              <a:rPr lang="en-IN" dirty="0"/>
              <a:t>TIDs </a:t>
            </a:r>
            <a:r>
              <a:rPr lang="en-IN" dirty="0" smtClean="0"/>
              <a:t>1,2,4,5)       s=0.8</a:t>
            </a:r>
          </a:p>
          <a:p>
            <a:pPr lvl="1"/>
            <a:r>
              <a:rPr lang="el-GR" dirty="0" smtClean="0"/>
              <a:t>σ({</a:t>
            </a:r>
            <a:r>
              <a:rPr lang="en-IN" dirty="0"/>
              <a:t>Beer})=</a:t>
            </a:r>
            <a:r>
              <a:rPr lang="en-IN" dirty="0" smtClean="0"/>
              <a:t>3  (</a:t>
            </a:r>
            <a:r>
              <a:rPr lang="en-IN" dirty="0"/>
              <a:t>TIDs </a:t>
            </a:r>
            <a:r>
              <a:rPr lang="en-IN" dirty="0" smtClean="0"/>
              <a:t>1,2,5)              s=0.6</a:t>
            </a:r>
          </a:p>
          <a:p>
            <a:pPr lvl="1"/>
            <a:r>
              <a:rPr lang="el-GR" dirty="0" smtClean="0"/>
              <a:t>σ</a:t>
            </a:r>
            <a:r>
              <a:rPr lang="el-GR" dirty="0"/>
              <a:t>({</a:t>
            </a:r>
            <a:r>
              <a:rPr lang="en-IN" dirty="0"/>
              <a:t>Eggs})=</a:t>
            </a:r>
            <a:r>
              <a:rPr lang="en-IN" dirty="0" smtClean="0"/>
              <a:t>2  (</a:t>
            </a:r>
            <a:r>
              <a:rPr lang="en-IN" dirty="0"/>
              <a:t>TIDs </a:t>
            </a:r>
            <a:r>
              <a:rPr lang="en-IN" dirty="0" smtClean="0"/>
              <a:t>1,3)                  s=0.4</a:t>
            </a:r>
          </a:p>
          <a:p>
            <a:r>
              <a:rPr lang="en-IN" dirty="0" smtClean="0"/>
              <a:t>​</a:t>
            </a:r>
            <a:r>
              <a:rPr lang="en-IN" b="1" dirty="0"/>
              <a:t>2‑itemset {Diaper, Beer}:</a:t>
            </a:r>
            <a:endParaRPr lang="en-IN" dirty="0"/>
          </a:p>
          <a:p>
            <a:pPr lvl="1"/>
            <a:r>
              <a:rPr lang="el-GR" dirty="0"/>
              <a:t>σ({</a:t>
            </a:r>
            <a:r>
              <a:rPr lang="en-IN" dirty="0"/>
              <a:t>Diaper, Beer})=</a:t>
            </a:r>
            <a:r>
              <a:rPr lang="en-IN" dirty="0" smtClean="0"/>
              <a:t>3  (</a:t>
            </a:r>
            <a:r>
              <a:rPr lang="en-IN" dirty="0"/>
              <a:t>TIDs </a:t>
            </a:r>
            <a:r>
              <a:rPr lang="en-IN" dirty="0" smtClean="0"/>
              <a:t>1,2,5)  s=3/5=0.6</a:t>
            </a:r>
          </a:p>
          <a:p>
            <a:r>
              <a:rPr lang="en-IN" b="1" dirty="0" smtClean="0"/>
              <a:t>3‑itemset </a:t>
            </a:r>
            <a:r>
              <a:rPr lang="en-IN" b="1" dirty="0"/>
              <a:t>{Bread, Milk, Diaper}:</a:t>
            </a:r>
            <a:endParaRPr lang="en-IN" dirty="0"/>
          </a:p>
          <a:p>
            <a:pPr lvl="1"/>
            <a:r>
              <a:rPr lang="el-GR" dirty="0"/>
              <a:t>σ({</a:t>
            </a:r>
            <a:r>
              <a:rPr lang="en-IN" dirty="0"/>
              <a:t>Bread, Milk, Diaper})=</a:t>
            </a:r>
            <a:r>
              <a:rPr lang="en-IN" dirty="0" smtClean="0"/>
              <a:t>3  (</a:t>
            </a:r>
            <a:r>
              <a:rPr lang="en-IN" dirty="0"/>
              <a:t>TIDs </a:t>
            </a:r>
            <a:r>
              <a:rPr lang="en-IN" dirty="0" smtClean="0"/>
              <a:t>1,2,4)    s=3/5=0.6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1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Frequent Itemsets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Definition</a:t>
            </a:r>
            <a:r>
              <a:rPr lang="en-IN" dirty="0"/>
              <a:t> (Frequent Itemset):</a:t>
            </a:r>
            <a:br>
              <a:rPr lang="en-IN" dirty="0"/>
            </a:br>
            <a:r>
              <a:rPr lang="en-IN" dirty="0"/>
              <a:t>An itemset </a:t>
            </a:r>
            <a:r>
              <a:rPr lang="en-IN" i="1" dirty="0" smtClean="0"/>
              <a:t>X</a:t>
            </a:r>
            <a:r>
              <a:rPr lang="en-IN" dirty="0"/>
              <a:t> is </a:t>
            </a:r>
            <a:r>
              <a:rPr lang="en-IN" b="1" dirty="0"/>
              <a:t>frequent</a:t>
            </a:r>
            <a:r>
              <a:rPr lang="en-IN" dirty="0"/>
              <a:t> if its support is at least a user‑specified minimum support threshold </a:t>
            </a:r>
            <a:r>
              <a:rPr lang="en-IN" b="1" dirty="0" smtClean="0"/>
              <a:t>minsup</a:t>
            </a:r>
            <a:r>
              <a:rPr lang="en-IN" dirty="0" smtClean="0"/>
              <a:t>. Minsup is defined as minimum support </a:t>
            </a:r>
            <a:endParaRPr lang="en-IN" dirty="0"/>
          </a:p>
          <a:p>
            <a:pPr lvl="2"/>
            <a:endParaRPr lang="en-IN" dirty="0" smtClean="0"/>
          </a:p>
          <a:p>
            <a:pPr marL="914400" lvl="2" indent="0">
              <a:buNone/>
            </a:pPr>
            <a:r>
              <a:rPr lang="en-IN" sz="5100" i="1" dirty="0" smtClean="0"/>
              <a:t>s</a:t>
            </a:r>
            <a:r>
              <a:rPr lang="en-IN" sz="5100" dirty="0" smtClean="0"/>
              <a:t>(</a:t>
            </a:r>
            <a:r>
              <a:rPr lang="en-IN" sz="5100" i="1" dirty="0" smtClean="0"/>
              <a:t>X</a:t>
            </a:r>
            <a:r>
              <a:rPr lang="en-IN" sz="5100" dirty="0"/>
              <a:t>)≥</a:t>
            </a:r>
            <a:r>
              <a:rPr lang="en-IN" sz="5100" dirty="0" smtClean="0"/>
              <a:t>minsup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Frequent </a:t>
            </a:r>
            <a:r>
              <a:rPr lang="en-IN" dirty="0"/>
              <a:t>itemsets are the building blocks for association rules.</a:t>
            </a:r>
            <a:br>
              <a:rPr lang="en-IN" dirty="0"/>
            </a:br>
            <a:r>
              <a:rPr lang="en-IN" dirty="0"/>
              <a:t>Only itemsets that appear sufficiently often are considered statistically meaningful.</a:t>
            </a:r>
          </a:p>
          <a:p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Example</a:t>
            </a:r>
            <a:r>
              <a:rPr lang="en-IN" dirty="0"/>
              <a:t> (with minsup = 0.4):</a:t>
            </a:r>
          </a:p>
          <a:p>
            <a:pPr lvl="1"/>
            <a:r>
              <a:rPr lang="en-IN" dirty="0"/>
              <a:t>{Eggs} has support 0.4 → </a:t>
            </a:r>
            <a:r>
              <a:rPr lang="en-IN" b="1" dirty="0"/>
              <a:t>frequent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{Bread, Eggs}?</a:t>
            </a:r>
            <a:br>
              <a:rPr lang="en-IN" dirty="0"/>
            </a:br>
            <a:r>
              <a:rPr lang="en-IN" dirty="0"/>
              <a:t>Transactions containing both: T1, T3 → </a:t>
            </a:r>
            <a:r>
              <a:rPr lang="el-GR" dirty="0"/>
              <a:t>σ = 2, </a:t>
            </a:r>
            <a:r>
              <a:rPr lang="en-IN" dirty="0"/>
              <a:t>s = 0.4 → </a:t>
            </a:r>
            <a:r>
              <a:rPr lang="en-IN" b="1" dirty="0"/>
              <a:t>frequent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{Diaper, Beer, Eggs}?</a:t>
            </a:r>
            <a:br>
              <a:rPr lang="en-IN" dirty="0"/>
            </a:br>
            <a:r>
              <a:rPr lang="en-IN" dirty="0"/>
              <a:t>Only T1 → </a:t>
            </a:r>
            <a:r>
              <a:rPr lang="el-GR" dirty="0"/>
              <a:t>σ = 1, </a:t>
            </a:r>
            <a:r>
              <a:rPr lang="en-IN" dirty="0"/>
              <a:t>s = 0.2 → </a:t>
            </a:r>
            <a:r>
              <a:rPr lang="en-IN" b="1" dirty="0"/>
              <a:t>infrequent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09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Association Rules – Formal 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/>
          </a:bodyPr>
          <a:lstStyle/>
          <a:p>
            <a:r>
              <a:rPr lang="en-IN" dirty="0" smtClean="0"/>
              <a:t>An</a:t>
            </a:r>
            <a:r>
              <a:rPr lang="en-IN" dirty="0"/>
              <a:t> </a:t>
            </a:r>
            <a:r>
              <a:rPr lang="en-IN" b="1" dirty="0"/>
              <a:t>association rule</a:t>
            </a:r>
            <a:r>
              <a:rPr lang="en-IN" dirty="0"/>
              <a:t> is an implication of the form:</a:t>
            </a:r>
          </a:p>
          <a:p>
            <a:pPr marL="2228850" lvl="5" indent="0">
              <a:buNone/>
            </a:pPr>
            <a:r>
              <a:rPr lang="en-IN" sz="3100" i="1" dirty="0" smtClean="0"/>
              <a:t>X</a:t>
            </a:r>
            <a:r>
              <a:rPr lang="en-IN" sz="3100" dirty="0"/>
              <a:t>→</a:t>
            </a:r>
            <a:r>
              <a:rPr lang="en-IN" sz="3100" i="1" dirty="0" smtClean="0"/>
              <a:t>Y</a:t>
            </a:r>
          </a:p>
          <a:p>
            <a:r>
              <a:rPr lang="en-IN" dirty="0" smtClean="0"/>
              <a:t>where</a:t>
            </a:r>
            <a:endParaRPr lang="en-IN" dirty="0"/>
          </a:p>
          <a:p>
            <a:pPr lvl="1"/>
            <a:r>
              <a:rPr lang="en-IN" i="1" dirty="0" smtClean="0"/>
              <a:t>X</a:t>
            </a:r>
            <a:r>
              <a:rPr lang="en-IN" dirty="0"/>
              <a:t>⊂</a:t>
            </a:r>
            <a:r>
              <a:rPr lang="en-IN" i="1" dirty="0"/>
              <a:t>I</a:t>
            </a:r>
            <a:r>
              <a:rPr lang="en-IN" dirty="0"/>
              <a:t>, </a:t>
            </a:r>
            <a:r>
              <a:rPr lang="en-IN" i="1" dirty="0" smtClean="0"/>
              <a:t>Y</a:t>
            </a:r>
            <a:r>
              <a:rPr lang="en-IN" dirty="0"/>
              <a:t>⊂</a:t>
            </a:r>
            <a:r>
              <a:rPr lang="en-IN" i="1" dirty="0"/>
              <a:t>I</a:t>
            </a:r>
            <a:r>
              <a:rPr lang="en-IN" dirty="0"/>
              <a:t>,</a:t>
            </a:r>
          </a:p>
          <a:p>
            <a:pPr lvl="1"/>
            <a:r>
              <a:rPr lang="en-IN" i="1" dirty="0" smtClean="0"/>
              <a:t> X</a:t>
            </a:r>
            <a:r>
              <a:rPr lang="en-IN" dirty="0"/>
              <a:t>∩</a:t>
            </a:r>
            <a:r>
              <a:rPr lang="en-IN" i="1" dirty="0"/>
              <a:t>Y</a:t>
            </a:r>
            <a:r>
              <a:rPr lang="en-IN" dirty="0"/>
              <a:t>=∅ (non‑overlapping itemsets),</a:t>
            </a:r>
          </a:p>
          <a:p>
            <a:pPr lvl="1"/>
            <a:r>
              <a:rPr lang="en-IN" i="1" dirty="0" smtClean="0"/>
              <a:t>X</a:t>
            </a:r>
            <a:r>
              <a:rPr lang="en-IN" dirty="0"/>
              <a:t> is called </a:t>
            </a:r>
            <a:r>
              <a:rPr lang="en-IN" b="1" dirty="0"/>
              <a:t>antecedent</a:t>
            </a:r>
            <a:r>
              <a:rPr lang="en-IN" dirty="0"/>
              <a:t> (LHS),</a:t>
            </a:r>
          </a:p>
          <a:p>
            <a:pPr lvl="1"/>
            <a:r>
              <a:rPr lang="en-IN" i="1" dirty="0" smtClean="0"/>
              <a:t>Y</a:t>
            </a:r>
            <a:r>
              <a:rPr lang="en-IN" dirty="0"/>
              <a:t> is called </a:t>
            </a:r>
            <a:r>
              <a:rPr lang="en-IN" b="1" dirty="0"/>
              <a:t>consequent</a:t>
            </a:r>
            <a:r>
              <a:rPr lang="en-IN" dirty="0"/>
              <a:t> (RHS).</a:t>
            </a:r>
          </a:p>
          <a:p>
            <a:r>
              <a:rPr lang="en-IN" dirty="0"/>
              <a:t>The rule is interpreted as:</a:t>
            </a:r>
            <a:br>
              <a:rPr lang="en-IN" dirty="0"/>
            </a:br>
            <a:r>
              <a:rPr lang="en-IN" b="1" dirty="0"/>
              <a:t>“Transactions that contain </a:t>
            </a:r>
            <a:r>
              <a:rPr lang="en-IN" b="1" i="1" dirty="0" smtClean="0"/>
              <a:t>X</a:t>
            </a:r>
            <a:r>
              <a:rPr lang="en-IN" b="1" dirty="0"/>
              <a:t> also tend to contain </a:t>
            </a:r>
            <a:r>
              <a:rPr lang="en-IN" b="1" i="1" dirty="0" smtClean="0"/>
              <a:t>Y</a:t>
            </a:r>
            <a:r>
              <a:rPr lang="en-IN" b="1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75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Confidence – Measuring Rule Strength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Confidence</a:t>
            </a:r>
            <a:r>
              <a:rPr lang="en-IN" dirty="0"/>
              <a:t> of a rule  </a:t>
            </a:r>
            <a:r>
              <a:rPr lang="en-IN" i="1" dirty="0" smtClean="0"/>
              <a:t>X</a:t>
            </a:r>
            <a:r>
              <a:rPr lang="en-IN" dirty="0"/>
              <a:t>→</a:t>
            </a:r>
            <a:r>
              <a:rPr lang="en-IN" i="1" dirty="0"/>
              <a:t>Y</a:t>
            </a:r>
            <a:r>
              <a:rPr lang="en-IN" dirty="0"/>
              <a:t>: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Confidence </a:t>
            </a:r>
            <a:r>
              <a:rPr lang="en-IN" dirty="0"/>
              <a:t>is an estimate of the </a:t>
            </a:r>
            <a:r>
              <a:rPr lang="en-IN" b="1" dirty="0"/>
              <a:t>conditional probability</a:t>
            </a:r>
            <a:r>
              <a:rPr lang="en-IN" dirty="0"/>
              <a:t> </a:t>
            </a:r>
            <a:r>
              <a:rPr lang="en-IN" i="1" dirty="0" smtClean="0"/>
              <a:t>P</a:t>
            </a:r>
            <a:r>
              <a:rPr lang="en-IN" dirty="0" smtClean="0"/>
              <a:t>(</a:t>
            </a:r>
            <a:r>
              <a:rPr lang="en-IN" i="1" dirty="0" smtClean="0"/>
              <a:t>Y</a:t>
            </a:r>
            <a:r>
              <a:rPr lang="en-IN" dirty="0"/>
              <a:t>∣</a:t>
            </a:r>
            <a:r>
              <a:rPr lang="en-IN" i="1" dirty="0"/>
              <a:t>X</a:t>
            </a:r>
            <a:r>
              <a:rPr lang="en-IN" dirty="0"/>
              <a:t>).</a:t>
            </a:r>
            <a:br>
              <a:rPr lang="en-IN" dirty="0"/>
            </a:br>
            <a:r>
              <a:rPr lang="en-IN" dirty="0"/>
              <a:t>It measures how </a:t>
            </a:r>
            <a:r>
              <a:rPr lang="en-IN" b="1" dirty="0"/>
              <a:t>reliable</a:t>
            </a:r>
            <a:r>
              <a:rPr lang="en-IN" dirty="0"/>
              <a:t> the rule is.</a:t>
            </a:r>
          </a:p>
          <a:p>
            <a:pPr lvl="1"/>
            <a:r>
              <a:rPr lang="en-IN" b="1" dirty="0"/>
              <a:t>Support of the rule</a:t>
            </a:r>
            <a:r>
              <a:rPr lang="en-IN" dirty="0"/>
              <a:t> = </a:t>
            </a:r>
            <a:r>
              <a:rPr lang="en-IN" i="1" dirty="0" smtClean="0"/>
              <a:t>s</a:t>
            </a:r>
            <a:r>
              <a:rPr lang="en-IN" dirty="0" smtClean="0"/>
              <a:t>(</a:t>
            </a:r>
            <a:r>
              <a:rPr lang="en-IN" i="1" dirty="0" smtClean="0"/>
              <a:t>X</a:t>
            </a:r>
            <a:r>
              <a:rPr lang="en-IN" dirty="0"/>
              <a:t>∪</a:t>
            </a:r>
            <a:r>
              <a:rPr lang="en-IN" i="1" dirty="0"/>
              <a:t>Y</a:t>
            </a:r>
            <a:r>
              <a:rPr lang="en-IN" dirty="0"/>
              <a:t>) (same as support of the combined itemset).</a:t>
            </a:r>
          </a:p>
          <a:p>
            <a:pPr lvl="1"/>
            <a:r>
              <a:rPr lang="en-IN" b="1" dirty="0"/>
              <a:t>Confidence</a:t>
            </a:r>
            <a:r>
              <a:rPr lang="en-IN" dirty="0"/>
              <a:t> = fraction of transactions containing </a:t>
            </a:r>
            <a:r>
              <a:rPr lang="en-IN" i="1" dirty="0" smtClean="0"/>
              <a:t>X</a:t>
            </a:r>
            <a:r>
              <a:rPr lang="en-IN" dirty="0"/>
              <a:t> that also contain </a:t>
            </a:r>
            <a:r>
              <a:rPr lang="en-IN" i="1" dirty="0" smtClean="0"/>
              <a:t>Y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2376588"/>
            <a:ext cx="4092018" cy="620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6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Example – Computing Confidence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 smtClean="0"/>
              <a:t>Consider </a:t>
            </a:r>
            <a:r>
              <a:rPr lang="en-IN" dirty="0"/>
              <a:t>rule:</a:t>
            </a:r>
          </a:p>
          <a:p>
            <a:pPr marL="457200" lvl="1" indent="0">
              <a:buNone/>
            </a:pPr>
            <a:r>
              <a:rPr lang="en-IN" dirty="0"/>
              <a:t>{Diaper, Beer}→{Bread</a:t>
            </a:r>
            <a:r>
              <a:rPr lang="en-IN" dirty="0" smtClean="0"/>
              <a:t>}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Compute</a:t>
            </a:r>
            <a:r>
              <a:rPr lang="en-IN" dirty="0"/>
              <a:t> </a:t>
            </a:r>
            <a:r>
              <a:rPr lang="el-GR" dirty="0"/>
              <a:t>σ(</a:t>
            </a:r>
            <a:r>
              <a:rPr lang="en-IN" dirty="0"/>
              <a:t>Diaper, Beer)=</a:t>
            </a:r>
            <a:r>
              <a:rPr lang="en-IN" dirty="0" smtClean="0"/>
              <a:t>3</a:t>
            </a:r>
            <a:r>
              <a:rPr lang="en-IN" i="1" dirty="0" smtClean="0"/>
              <a:t>  </a:t>
            </a:r>
            <a:r>
              <a:rPr lang="en-IN" dirty="0" smtClean="0"/>
              <a:t>(</a:t>
            </a:r>
            <a:r>
              <a:rPr lang="en-IN" dirty="0"/>
              <a:t>TIDs 1,2,5)</a:t>
            </a:r>
          </a:p>
          <a:p>
            <a:pPr marL="457200" lvl="1" indent="0">
              <a:buNone/>
            </a:pPr>
            <a:r>
              <a:rPr lang="en-IN" i="1" dirty="0" smtClean="0"/>
              <a:t>s</a:t>
            </a:r>
            <a:r>
              <a:rPr lang="en-IN" dirty="0" smtClean="0"/>
              <a:t>(Diaper</a:t>
            </a:r>
            <a:r>
              <a:rPr lang="en-IN" dirty="0"/>
              <a:t>, Beer)=</a:t>
            </a:r>
            <a:r>
              <a:rPr lang="en-IN" dirty="0" smtClean="0"/>
              <a:t>3/5=0.6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Compute</a:t>
            </a:r>
            <a:r>
              <a:rPr lang="en-IN" dirty="0"/>
              <a:t> </a:t>
            </a:r>
            <a:r>
              <a:rPr lang="el-GR" i="1" dirty="0" smtClean="0"/>
              <a:t>σ</a:t>
            </a:r>
            <a:r>
              <a:rPr lang="el-GR" dirty="0" smtClean="0"/>
              <a:t>(</a:t>
            </a:r>
            <a:r>
              <a:rPr lang="en-IN" dirty="0"/>
              <a:t>Diaper, Beer, Bread</a:t>
            </a:r>
            <a:r>
              <a:rPr lang="en-IN" dirty="0" smtClean="0"/>
              <a:t>)=2 (TIDs 1,2)</a:t>
            </a:r>
          </a:p>
          <a:p>
            <a:pPr marL="400050" lvl="1" indent="0">
              <a:buNone/>
            </a:pPr>
            <a:r>
              <a:rPr lang="en-IN" i="1" dirty="0" smtClean="0"/>
              <a:t>s</a:t>
            </a:r>
            <a:r>
              <a:rPr lang="en-IN" dirty="0" smtClean="0"/>
              <a:t>(Diaper</a:t>
            </a:r>
            <a:r>
              <a:rPr lang="en-IN" dirty="0"/>
              <a:t>, Beer, Bread)=2/5=0.4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Confidence:</a:t>
            </a:r>
          </a:p>
          <a:p>
            <a:pPr marL="457200" lvl="1" indent="0">
              <a:buNone/>
            </a:pPr>
            <a:r>
              <a:rPr lang="en-IN" dirty="0" smtClean="0"/>
              <a:t>	conf = 0.4/0.6 = 2/3 ≈ 0.667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Interpretation</a:t>
            </a:r>
            <a:r>
              <a:rPr lang="en-IN" b="1" dirty="0"/>
              <a:t>:</a:t>
            </a:r>
            <a:r>
              <a:rPr lang="en-IN" dirty="0"/>
              <a:t> When a customer buys Diaper and Beer, there is a 66.7% chance they also buy Bread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30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More 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Rule </a:t>
            </a:r>
            <a:r>
              <a:rPr lang="en-IN" b="1" dirty="0"/>
              <a:t>{Bread} → {Milk}:</a:t>
            </a:r>
            <a:endParaRPr lang="en-IN" dirty="0"/>
          </a:p>
          <a:p>
            <a:pPr lvl="1"/>
            <a:r>
              <a:rPr lang="el-GR" i="1" dirty="0" smtClean="0"/>
              <a:t>σ</a:t>
            </a:r>
            <a:r>
              <a:rPr lang="el-GR" dirty="0" smtClean="0"/>
              <a:t>(</a:t>
            </a:r>
            <a:r>
              <a:rPr lang="en-IN" dirty="0"/>
              <a:t>Bread)=4 → </a:t>
            </a:r>
            <a:r>
              <a:rPr lang="en-IN" dirty="0" smtClean="0"/>
              <a:t> </a:t>
            </a:r>
            <a:r>
              <a:rPr lang="en-IN" i="1" dirty="0" smtClean="0"/>
              <a:t>s</a:t>
            </a:r>
            <a:r>
              <a:rPr lang="en-IN" dirty="0" smtClean="0"/>
              <a:t>=0.8</a:t>
            </a:r>
            <a:endParaRPr lang="en-IN" dirty="0"/>
          </a:p>
          <a:p>
            <a:pPr lvl="1"/>
            <a:r>
              <a:rPr lang="el-GR" i="1" dirty="0" smtClean="0"/>
              <a:t>σ</a:t>
            </a:r>
            <a:r>
              <a:rPr lang="el-GR" dirty="0" smtClean="0"/>
              <a:t>(</a:t>
            </a:r>
            <a:r>
              <a:rPr lang="en-IN" dirty="0"/>
              <a:t>Bread, Milk)=4 (TIDs 1,2,3,4) → </a:t>
            </a:r>
            <a:r>
              <a:rPr lang="en-IN" i="1" dirty="0" smtClean="0"/>
              <a:t>s</a:t>
            </a:r>
            <a:r>
              <a:rPr lang="en-IN" dirty="0" smtClean="0"/>
              <a:t>=0.8</a:t>
            </a:r>
            <a:endParaRPr lang="en-IN" dirty="0"/>
          </a:p>
          <a:p>
            <a:pPr lvl="1"/>
            <a:r>
              <a:rPr lang="en-IN" dirty="0" smtClean="0"/>
              <a:t>Conf = 0.8/0.8 = 1.0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00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Interpretation </a:t>
            </a:r>
            <a:r>
              <a:rPr lang="en-IN" b="1" dirty="0"/>
              <a:t>of Support and </a:t>
            </a:r>
            <a:r>
              <a:rPr lang="en-IN" b="1" dirty="0" smtClean="0"/>
              <a:t>Confidence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85000" lnSpcReduction="20000"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pPr lvl="1"/>
            <a:endParaRPr lang="en-IN" b="1" dirty="0" smtClean="0"/>
          </a:p>
          <a:p>
            <a:r>
              <a:rPr lang="en-IN" b="1" dirty="0" smtClean="0"/>
              <a:t>High </a:t>
            </a:r>
            <a:r>
              <a:rPr lang="en-IN" b="1" dirty="0"/>
              <a:t>support</a:t>
            </a:r>
            <a:r>
              <a:rPr lang="en-IN" dirty="0"/>
              <a:t> → rule applies to many transactions (good coverage).</a:t>
            </a:r>
          </a:p>
          <a:p>
            <a:r>
              <a:rPr lang="en-IN" b="1" dirty="0"/>
              <a:t>High confidence</a:t>
            </a:r>
            <a:r>
              <a:rPr lang="en-IN" dirty="0"/>
              <a:t> → rule is strongly predictive.</a:t>
            </a:r>
          </a:p>
          <a:p>
            <a:r>
              <a:rPr lang="en-IN" dirty="0"/>
              <a:t>Both measures are </a:t>
            </a:r>
            <a:r>
              <a:rPr lang="en-IN" b="1" dirty="0"/>
              <a:t>user‑defined </a:t>
            </a:r>
            <a:r>
              <a:rPr lang="en-IN" b="1" dirty="0" smtClean="0"/>
              <a:t>thresholds</a:t>
            </a:r>
            <a:r>
              <a:rPr lang="en-IN" dirty="0" smtClean="0"/>
              <a:t>:</a:t>
            </a:r>
          </a:p>
          <a:p>
            <a:pPr lvl="1"/>
            <a:r>
              <a:rPr lang="en-IN" dirty="0" smtClean="0"/>
              <a:t>Minsup and minconf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598299"/>
              </p:ext>
            </p:extLst>
          </p:nvPr>
        </p:nvGraphicFramePr>
        <p:xfrm>
          <a:off x="611560" y="1752441"/>
          <a:ext cx="8136903" cy="2301240"/>
        </p:xfrm>
        <a:graphic>
          <a:graphicData uri="http://schemas.openxmlformats.org/drawingml/2006/table">
            <a:tbl>
              <a:tblPr/>
              <a:tblGrid>
                <a:gridCol w="2712301"/>
                <a:gridCol w="2712301"/>
                <a:gridCol w="2712301"/>
              </a:tblGrid>
              <a:tr h="342611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  <a:latin typeface="quote-cjk-patch"/>
                        </a:rPr>
                        <a:t>Measure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Role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Interpretation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099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quote-cjk-patch"/>
                        </a:rPr>
                        <a:t>Support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Statistical significance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How often does the itemset/rule occur in the dataset?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1099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quote-cjk-patch"/>
                        </a:rPr>
                        <a:t>Confidence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Strength of implication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Given the antecedent, how likely is the consequent?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98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5153</TotalTime>
  <Words>236</Words>
  <Application>Microsoft Office PowerPoint</Application>
  <PresentationFormat>On-screen Show (4:3)</PresentationFormat>
  <Paragraphs>172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Association Rule Mining</vt:lpstr>
      <vt:lpstr>Association Rule Mining</vt:lpstr>
      <vt:lpstr>Problem Formulation</vt:lpstr>
      <vt:lpstr>Markey Basket Analysis</vt:lpstr>
      <vt:lpstr>Representing Transactional Data</vt:lpstr>
      <vt:lpstr>Toy Dataset</vt:lpstr>
      <vt:lpstr>Itemsets and k‑Itemsets</vt:lpstr>
      <vt:lpstr>Support Count and Support</vt:lpstr>
      <vt:lpstr>Example – Computing Support</vt:lpstr>
      <vt:lpstr>Frequent Itemsets</vt:lpstr>
      <vt:lpstr>Association Rules – Formal Definition</vt:lpstr>
      <vt:lpstr>Confidence – Measuring Rule Strength</vt:lpstr>
      <vt:lpstr>Example – Computing Confidence</vt:lpstr>
      <vt:lpstr>More Examples</vt:lpstr>
      <vt:lpstr>Interpretation of Support and Confidence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Association Rule Mining</dc:title>
  <dc:creator>Prasenjit Mukherjee</dc:creator>
  <cp:lastModifiedBy>Prasenjit Mukherjee</cp:lastModifiedBy>
  <cp:revision>13</cp:revision>
  <dcterms:created xsi:type="dcterms:W3CDTF">2026-02-20T07:04:00Z</dcterms:created>
  <dcterms:modified xsi:type="dcterms:W3CDTF">2026-04-05T17:28:35Z</dcterms:modified>
</cp:coreProperties>
</file>