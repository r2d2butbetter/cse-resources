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4" r:id="rId2"/>
    <p:sldId id="256" r:id="rId3"/>
    <p:sldId id="257" r:id="rId4"/>
    <p:sldId id="258" r:id="rId5"/>
    <p:sldId id="259" r:id="rId6"/>
    <p:sldId id="260" r:id="rId7"/>
    <p:sldId id="261" r:id="rId8"/>
    <p:sldId id="262" r:id="rId9"/>
    <p:sldId id="263" r:id="rId10"/>
    <p:sldId id="264" r:id="rId11"/>
    <p:sldId id="267" r:id="rId12"/>
    <p:sldId id="276" r:id="rId13"/>
    <p:sldId id="282" r:id="rId14"/>
    <p:sldId id="277" r:id="rId15"/>
    <p:sldId id="280" r:id="rId16"/>
    <p:sldId id="281" r:id="rId17"/>
    <p:sldId id="283"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50" d="100"/>
          <a:sy n="50" d="100"/>
        </p:scale>
        <p:origin x="-1736" y="-3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smtClean="0"/>
              <a:t>Association Rule Mining</a:t>
            </a:r>
            <a:endParaRPr lang="en-IN" dirty="0"/>
          </a:p>
        </p:txBody>
      </p:sp>
      <p:sp>
        <p:nvSpPr>
          <p:cNvPr id="5" name="Subtitle 4"/>
          <p:cNvSpPr>
            <a:spLocks noGrp="1"/>
          </p:cNvSpPr>
          <p:nvPr>
            <p:ph type="subTitle" idx="1"/>
          </p:nvPr>
        </p:nvSpPr>
        <p:spPr/>
        <p:txBody>
          <a:bodyPr/>
          <a:lstStyle/>
          <a:p>
            <a:r>
              <a:rPr lang="en-IN" dirty="0" smtClean="0"/>
              <a:t>Apriori Algorithm</a:t>
            </a:r>
            <a:endParaRPr lang="en-IN" dirty="0"/>
          </a:p>
        </p:txBody>
      </p:sp>
    </p:spTree>
    <p:extLst>
      <p:ext uri="{BB962C8B-B14F-4D97-AF65-F5344CB8AC3E}">
        <p14:creationId xmlns:p14="http://schemas.microsoft.com/office/powerpoint/2010/main" val="17880981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t>Why </a:t>
            </a:r>
            <a:r>
              <a:rPr dirty="0"/>
              <a:t>Apriori? (Motivation)</a:t>
            </a:r>
          </a:p>
        </p:txBody>
      </p:sp>
      <p:sp>
        <p:nvSpPr>
          <p:cNvPr id="3" name="Content Placeholder 2"/>
          <p:cNvSpPr>
            <a:spLocks noGrp="1"/>
          </p:cNvSpPr>
          <p:nvPr>
            <p:ph idx="1"/>
          </p:nvPr>
        </p:nvSpPr>
        <p:spPr>
          <a:xfrm>
            <a:off x="457200" y="1600200"/>
            <a:ext cx="8229600" cy="5081954"/>
          </a:xfrm>
        </p:spPr>
        <p:txBody>
          <a:bodyPr>
            <a:normAutofit fontScale="92500" lnSpcReduction="10000"/>
          </a:bodyPr>
          <a:lstStyle/>
          <a:p>
            <a:r>
              <a:rPr dirty="0"/>
              <a:t>Goal: Efficiently find frequent itemsets in large transactional datasets.</a:t>
            </a:r>
          </a:p>
          <a:p>
            <a:r>
              <a:rPr dirty="0"/>
              <a:t>Challenge: Number of possible itemsets grows exponentially with number of items.</a:t>
            </a:r>
          </a:p>
          <a:p>
            <a:pPr lvl="1"/>
            <a:r>
              <a:rPr dirty="0"/>
              <a:t>If there are d items → possible itemsets = 2^d - 1</a:t>
            </a:r>
          </a:p>
          <a:p>
            <a:pPr lvl="1"/>
            <a:r>
              <a:rPr dirty="0"/>
              <a:t>Example: 20 items → 1,048,575 possible itemsets.</a:t>
            </a:r>
          </a:p>
          <a:p>
            <a:r>
              <a:rPr dirty="0"/>
              <a:t>Brute force approach (count support of every subset) is infeasible</a:t>
            </a:r>
            <a:r>
              <a:rPr dirty="0" smtClean="0"/>
              <a:t>.</a:t>
            </a:r>
            <a:endParaRPr dirty="0"/>
          </a:p>
          <a:p>
            <a:r>
              <a:rPr dirty="0"/>
              <a:t>Key Insight (Apriori Principle):</a:t>
            </a:r>
          </a:p>
          <a:p>
            <a:pPr lvl="1"/>
            <a:r>
              <a:rPr dirty="0"/>
              <a:t>If an itemset is frequent, then all of its subsets must also be frequent.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t>Transactional </a:t>
            </a:r>
            <a:r>
              <a:rPr dirty="0"/>
              <a:t>Data Model</a:t>
            </a:r>
          </a:p>
        </p:txBody>
      </p:sp>
      <p:sp>
        <p:nvSpPr>
          <p:cNvPr id="3" name="Content Placeholder 2"/>
          <p:cNvSpPr>
            <a:spLocks noGrp="1"/>
          </p:cNvSpPr>
          <p:nvPr>
            <p:ph idx="1"/>
          </p:nvPr>
        </p:nvSpPr>
        <p:spPr>
          <a:xfrm>
            <a:off x="457200" y="1600200"/>
            <a:ext cx="8229600" cy="4997548"/>
          </a:xfrm>
        </p:spPr>
        <p:txBody>
          <a:bodyPr>
            <a:normAutofit fontScale="70000" lnSpcReduction="20000"/>
          </a:bodyPr>
          <a:lstStyle/>
          <a:p>
            <a:pPr marL="0" indent="0">
              <a:buNone/>
            </a:pPr>
            <a:r>
              <a:rPr lang="en-IN" dirty="0" smtClean="0"/>
              <a:t>Let</a:t>
            </a:r>
          </a:p>
          <a:p>
            <a:pPr lvl="1"/>
            <a:r>
              <a:rPr dirty="0" smtClean="0"/>
              <a:t>I </a:t>
            </a:r>
            <a:r>
              <a:rPr dirty="0"/>
              <a:t>= {i1, i2, ..., id} be the set of all items.</a:t>
            </a:r>
          </a:p>
          <a:p>
            <a:pPr lvl="1"/>
            <a:r>
              <a:rPr dirty="0"/>
              <a:t>D = {T1, T2, ..., Tn} be the transaction database.</a:t>
            </a:r>
          </a:p>
          <a:p>
            <a:pPr lvl="1"/>
            <a:r>
              <a:rPr dirty="0"/>
              <a:t>Each transaction Tk ⊆ I.</a:t>
            </a:r>
          </a:p>
          <a:p>
            <a:endParaRPr dirty="0"/>
          </a:p>
          <a:p>
            <a:pPr marL="0" indent="0">
              <a:buNone/>
            </a:pPr>
            <a:r>
              <a:rPr dirty="0"/>
              <a:t>Example dataset:</a:t>
            </a:r>
          </a:p>
          <a:p>
            <a:pPr lvl="1"/>
            <a:r>
              <a:rPr dirty="0"/>
              <a:t>T1: {Milk, Bread, Butter}</a:t>
            </a:r>
          </a:p>
          <a:p>
            <a:pPr lvl="1"/>
            <a:r>
              <a:rPr dirty="0"/>
              <a:t>T2: {Bread, Diaper, Beer, Eggs}</a:t>
            </a:r>
          </a:p>
          <a:p>
            <a:pPr lvl="1"/>
            <a:r>
              <a:rPr dirty="0"/>
              <a:t>T3: {Milk, Bread, Diaper, Beer}</a:t>
            </a:r>
          </a:p>
          <a:p>
            <a:pPr lvl="1"/>
            <a:r>
              <a:rPr dirty="0"/>
              <a:t>T4: {Bread, Milk, Diaper, Beer}</a:t>
            </a:r>
          </a:p>
          <a:p>
            <a:pPr lvl="1"/>
            <a:r>
              <a:rPr dirty="0"/>
              <a:t>T5: {Milk, Bread, Butter}</a:t>
            </a:r>
          </a:p>
          <a:p>
            <a:endParaRPr dirty="0"/>
          </a:p>
          <a:p>
            <a:pPr marL="0" indent="0">
              <a:buNone/>
            </a:pPr>
            <a:r>
              <a:rPr lang="en-IN" dirty="0" smtClean="0"/>
              <a:t>Let </a:t>
            </a:r>
            <a:r>
              <a:rPr dirty="0" smtClean="0"/>
              <a:t>Minimum </a:t>
            </a:r>
            <a:r>
              <a:rPr dirty="0"/>
              <a:t>support </a:t>
            </a:r>
            <a:r>
              <a:rPr lang="en-IN" dirty="0" smtClean="0"/>
              <a:t>threshold </a:t>
            </a:r>
            <a:r>
              <a:rPr dirty="0" smtClean="0"/>
              <a:t>= 60%</a:t>
            </a:r>
            <a:endParaRPr lang="en-IN" dirty="0" smtClean="0"/>
          </a:p>
          <a:p>
            <a:pPr marL="0" indent="0">
              <a:buNone/>
            </a:pPr>
            <a:r>
              <a:rPr lang="en-IN" dirty="0" smtClean="0"/>
              <a:t>Total Transactions count = 5 </a:t>
            </a:r>
          </a:p>
          <a:p>
            <a:pPr marL="0" indent="0">
              <a:buNone/>
            </a:pPr>
            <a:r>
              <a:rPr lang="en-IN" dirty="0" smtClean="0">
                <a:sym typeface="Wingdings" pitchFamily="2" charset="2"/>
              </a:rPr>
              <a:t> </a:t>
            </a:r>
            <a:r>
              <a:rPr dirty="0" smtClean="0"/>
              <a:t>minsup </a:t>
            </a:r>
            <a:r>
              <a:rPr dirty="0"/>
              <a:t>count = </a:t>
            </a:r>
            <a:r>
              <a:rPr lang="en-IN" dirty="0" smtClean="0"/>
              <a:t>0.6 * 5 = 3</a:t>
            </a: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t>Definitions</a:t>
            </a:r>
            <a:r>
              <a:rPr dirty="0"/>
              <a:t>: Itemsets &amp; Support</a:t>
            </a:r>
          </a:p>
        </p:txBody>
      </p:sp>
      <p:sp>
        <p:nvSpPr>
          <p:cNvPr id="3" name="Content Placeholder 2"/>
          <p:cNvSpPr>
            <a:spLocks noGrp="1"/>
          </p:cNvSpPr>
          <p:nvPr>
            <p:ph idx="1"/>
          </p:nvPr>
        </p:nvSpPr>
        <p:spPr>
          <a:xfrm>
            <a:off x="457200" y="1600200"/>
            <a:ext cx="8229600" cy="5011615"/>
          </a:xfrm>
        </p:spPr>
        <p:txBody>
          <a:bodyPr>
            <a:normAutofit/>
          </a:bodyPr>
          <a:lstStyle/>
          <a:p>
            <a:pPr marL="0" indent="0">
              <a:buNone/>
            </a:pPr>
            <a:r>
              <a:rPr dirty="0" smtClean="0"/>
              <a:t>k-itemset</a:t>
            </a:r>
            <a:r>
              <a:rPr dirty="0"/>
              <a:t>: itemset containing k items.</a:t>
            </a:r>
          </a:p>
          <a:p>
            <a:pPr lvl="1"/>
            <a:r>
              <a:rPr dirty="0"/>
              <a:t>Example: {Milk, Bread} → </a:t>
            </a:r>
            <a:r>
              <a:rPr dirty="0" smtClean="0"/>
              <a:t>2-itemset</a:t>
            </a:r>
            <a:endParaRPr dirty="0"/>
          </a:p>
          <a:p>
            <a:r>
              <a:rPr dirty="0"/>
              <a:t>Support count:</a:t>
            </a:r>
          </a:p>
          <a:p>
            <a:pPr lvl="1"/>
            <a:r>
              <a:rPr dirty="0"/>
              <a:t>supp(X) = |{Tk ∈ D : X ⊆ Tk</a:t>
            </a:r>
            <a:r>
              <a:rPr dirty="0" smtClean="0"/>
              <a:t>}|</a:t>
            </a:r>
            <a:endParaRPr dirty="0"/>
          </a:p>
          <a:p>
            <a:r>
              <a:rPr dirty="0" smtClean="0"/>
              <a:t>Support</a:t>
            </a:r>
            <a:r>
              <a:rPr lang="en-IN" dirty="0" smtClean="0"/>
              <a:t> Threshold ( fraction ) </a:t>
            </a:r>
            <a:endParaRPr dirty="0"/>
          </a:p>
          <a:p>
            <a:pPr lvl="1"/>
            <a:r>
              <a:rPr dirty="0"/>
              <a:t>support(X) = supp(X) / |D</a:t>
            </a:r>
            <a:r>
              <a:rPr dirty="0" smtClean="0"/>
              <a:t>|</a:t>
            </a:r>
            <a:endParaRPr dirty="0"/>
          </a:p>
          <a:p>
            <a:r>
              <a:rPr dirty="0"/>
              <a:t>Example:</a:t>
            </a:r>
          </a:p>
          <a:p>
            <a:pPr lvl="1"/>
            <a:r>
              <a:rPr dirty="0"/>
              <a:t>supp({Milk}) = </a:t>
            </a:r>
            <a:r>
              <a:rPr dirty="0" smtClean="0"/>
              <a:t>4</a:t>
            </a:r>
            <a:r>
              <a:rPr lang="en-IN" dirty="0" smtClean="0"/>
              <a:t>  ( Support Count ) </a:t>
            </a:r>
            <a:endParaRPr dirty="0"/>
          </a:p>
          <a:p>
            <a:pPr lvl="1"/>
            <a:r>
              <a:rPr dirty="0"/>
              <a:t>support({Milk}) = 4/5 = </a:t>
            </a:r>
            <a:r>
              <a:rPr dirty="0" smtClean="0"/>
              <a:t>0.8</a:t>
            </a:r>
            <a:r>
              <a:rPr lang="en-IN" dirty="0" smtClean="0"/>
              <a:t>  </a:t>
            </a:r>
            <a:r>
              <a:rPr lang="en-IN" dirty="0" smtClean="0"/>
              <a:t>(fraction or threshold) </a:t>
            </a: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8236"/>
          </a:xfrm>
        </p:spPr>
        <p:txBody>
          <a:bodyPr>
            <a:normAutofit fontScale="90000"/>
          </a:bodyPr>
          <a:lstStyle/>
          <a:p>
            <a:r>
              <a:rPr dirty="0" smtClean="0"/>
              <a:t>Apriori </a:t>
            </a:r>
            <a:r>
              <a:rPr dirty="0"/>
              <a:t>Principle (Downward Closure)</a:t>
            </a:r>
          </a:p>
        </p:txBody>
      </p:sp>
      <p:sp>
        <p:nvSpPr>
          <p:cNvPr id="3" name="Content Placeholder 2"/>
          <p:cNvSpPr>
            <a:spLocks noGrp="1"/>
          </p:cNvSpPr>
          <p:nvPr>
            <p:ph idx="1"/>
          </p:nvPr>
        </p:nvSpPr>
        <p:spPr>
          <a:xfrm>
            <a:off x="457200" y="1012874"/>
            <a:ext cx="8229600" cy="5556738"/>
          </a:xfrm>
        </p:spPr>
        <p:txBody>
          <a:bodyPr>
            <a:normAutofit fontScale="92500" lnSpcReduction="10000"/>
          </a:bodyPr>
          <a:lstStyle/>
          <a:p>
            <a:pPr marL="0" indent="0">
              <a:buNone/>
            </a:pPr>
            <a:r>
              <a:rPr dirty="0"/>
              <a:t>Theorem: If itemset X is frequent, then every subset Y ⊂ X is also frequent</a:t>
            </a:r>
            <a:r>
              <a:rPr dirty="0" smtClean="0"/>
              <a:t>.</a:t>
            </a:r>
            <a:endParaRPr lang="en-IN" dirty="0"/>
          </a:p>
          <a:p>
            <a:pPr lvl="1"/>
            <a:r>
              <a:rPr lang="en-IN" dirty="0" smtClean="0"/>
              <a:t>If abc is frequent </a:t>
            </a:r>
            <a:r>
              <a:rPr lang="en-IN" dirty="0" smtClean="0">
                <a:sym typeface="Wingdings" pitchFamily="2" charset="2"/>
              </a:rPr>
              <a:t> ab, ac, bc is frequent</a:t>
            </a:r>
          </a:p>
          <a:p>
            <a:pPr lvl="1"/>
            <a:endParaRPr dirty="0"/>
          </a:p>
          <a:p>
            <a:r>
              <a:rPr lang="en-IN" dirty="0"/>
              <a:t>Proof </a:t>
            </a:r>
            <a:r>
              <a:rPr lang="en-IN" dirty="0" smtClean="0"/>
              <a:t>(contrapositive reasoning): </a:t>
            </a:r>
          </a:p>
          <a:p>
            <a:pPr lvl="1"/>
            <a:r>
              <a:rPr lang="en-IN" dirty="0" smtClean="0"/>
              <a:t>Assume </a:t>
            </a:r>
            <a:r>
              <a:rPr lang="en-IN" dirty="0"/>
              <a:t>subset </a:t>
            </a:r>
            <a:r>
              <a:rPr lang="en-IN" dirty="0" smtClean="0"/>
              <a:t>Y </a:t>
            </a:r>
            <a:r>
              <a:rPr lang="en-IN" dirty="0"/>
              <a:t>is </a:t>
            </a:r>
            <a:r>
              <a:rPr lang="en-IN" b="1" i="1" dirty="0"/>
              <a:t>not</a:t>
            </a:r>
            <a:r>
              <a:rPr lang="en-IN" dirty="0"/>
              <a:t> frequent.</a:t>
            </a:r>
            <a:endParaRPr dirty="0"/>
          </a:p>
          <a:p>
            <a:pPr lvl="2"/>
            <a:r>
              <a:rPr dirty="0"/>
              <a:t>If supp(Y) &lt; minsup</a:t>
            </a:r>
          </a:p>
          <a:p>
            <a:r>
              <a:rPr lang="en-IN" sz="3000" dirty="0"/>
              <a:t>Since every occurrence of </a:t>
            </a:r>
            <a:r>
              <a:rPr lang="en-IN" sz="3000" dirty="0" smtClean="0"/>
              <a:t>X </a:t>
            </a:r>
            <a:r>
              <a:rPr lang="en-IN" sz="3000" dirty="0"/>
              <a:t>implies occurrence of </a:t>
            </a:r>
            <a:r>
              <a:rPr lang="en-IN" sz="3000" dirty="0" smtClean="0"/>
              <a:t>Y :</a:t>
            </a:r>
          </a:p>
          <a:p>
            <a:pPr lvl="1"/>
            <a:r>
              <a:rPr dirty="0" smtClean="0"/>
              <a:t>Then </a:t>
            </a:r>
            <a:r>
              <a:rPr dirty="0"/>
              <a:t>supp(X) ≤ supp(Y)</a:t>
            </a:r>
          </a:p>
          <a:p>
            <a:pPr lvl="1"/>
            <a:r>
              <a:rPr dirty="0"/>
              <a:t>Thus supp(X) &lt; minsup</a:t>
            </a:r>
          </a:p>
          <a:p>
            <a:pPr marL="0" indent="0">
              <a:buNone/>
            </a:pPr>
            <a:r>
              <a:rPr lang="en-IN" dirty="0" smtClean="0"/>
              <a:t>	</a:t>
            </a:r>
            <a:r>
              <a:rPr dirty="0" smtClean="0"/>
              <a:t>⇒ </a:t>
            </a:r>
            <a:r>
              <a:rPr dirty="0"/>
              <a:t>X not frequent</a:t>
            </a:r>
            <a:r>
              <a:rPr dirty="0" smtClean="0"/>
              <a:t>.</a:t>
            </a:r>
            <a:endParaRPr lang="en-IN" dirty="0" smtClean="0"/>
          </a:p>
          <a:p>
            <a:pPr marL="0" indent="0">
              <a:buNone/>
            </a:pPr>
            <a:r>
              <a:rPr lang="en-IN" dirty="0" smtClean="0"/>
              <a:t>Hence Proved. </a:t>
            </a:r>
            <a:endParaRP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96033"/>
          </a:xfrm>
        </p:spPr>
        <p:txBody>
          <a:bodyPr>
            <a:normAutofit fontScale="90000"/>
          </a:bodyPr>
          <a:lstStyle/>
          <a:p>
            <a:r>
              <a:rPr dirty="0" smtClean="0"/>
              <a:t>Apriori </a:t>
            </a:r>
            <a:r>
              <a:rPr dirty="0"/>
              <a:t>Algorithm: High-Level Idea</a:t>
            </a:r>
          </a:p>
        </p:txBody>
      </p:sp>
      <p:sp>
        <p:nvSpPr>
          <p:cNvPr id="3" name="Content Placeholder 2"/>
          <p:cNvSpPr>
            <a:spLocks noGrp="1"/>
          </p:cNvSpPr>
          <p:nvPr>
            <p:ph idx="1"/>
          </p:nvPr>
        </p:nvSpPr>
        <p:spPr>
          <a:xfrm>
            <a:off x="457200" y="939019"/>
            <a:ext cx="8229600" cy="5785338"/>
          </a:xfrm>
        </p:spPr>
        <p:txBody>
          <a:bodyPr>
            <a:normAutofit fontScale="85000" lnSpcReduction="20000"/>
          </a:bodyPr>
          <a:lstStyle/>
          <a:p>
            <a:pPr marL="0" indent="0">
              <a:buNone/>
            </a:pPr>
            <a:r>
              <a:rPr lang="en-IN" dirty="0" smtClean="0"/>
              <a:t>Apriori performs </a:t>
            </a:r>
            <a:r>
              <a:rPr dirty="0" smtClean="0"/>
              <a:t>Level-wise </a:t>
            </a:r>
            <a:r>
              <a:rPr dirty="0"/>
              <a:t>breadth-first search over itemset </a:t>
            </a:r>
            <a:r>
              <a:rPr dirty="0" smtClean="0"/>
              <a:t>lattice</a:t>
            </a:r>
            <a:endParaRPr lang="en-IN" dirty="0" smtClean="0"/>
          </a:p>
          <a:p>
            <a:pPr lvl="1"/>
            <a:r>
              <a:rPr lang="en-IN" dirty="0"/>
              <a:t>C</a:t>
            </a:r>
            <a:r>
              <a:rPr lang="en-IN" baseline="-25000" dirty="0"/>
              <a:t>k</a:t>
            </a:r>
            <a:r>
              <a:rPr lang="en-IN" dirty="0"/>
              <a:t> = candidate k-itemsets ( pre pruning ) </a:t>
            </a:r>
          </a:p>
          <a:p>
            <a:pPr lvl="1"/>
            <a:r>
              <a:rPr lang="en-IN" dirty="0"/>
              <a:t>L</a:t>
            </a:r>
            <a:r>
              <a:rPr lang="en-IN" baseline="-25000" dirty="0"/>
              <a:t>k</a:t>
            </a:r>
            <a:r>
              <a:rPr lang="en-IN" dirty="0"/>
              <a:t> = frequent k-itemsets ( post pruning ) </a:t>
            </a:r>
          </a:p>
          <a:p>
            <a:pPr lvl="1"/>
            <a:r>
              <a:rPr lang="en-IN" dirty="0"/>
              <a:t>C</a:t>
            </a:r>
            <a:r>
              <a:rPr lang="en-IN" baseline="-25000" dirty="0"/>
              <a:t>k</a:t>
            </a:r>
            <a:r>
              <a:rPr lang="en-IN" dirty="0"/>
              <a:t> = L</a:t>
            </a:r>
            <a:r>
              <a:rPr lang="en-IN" baseline="-25000" dirty="0"/>
              <a:t>k-1</a:t>
            </a:r>
            <a:r>
              <a:rPr lang="en-IN" dirty="0"/>
              <a:t> ⋈ L</a:t>
            </a:r>
            <a:r>
              <a:rPr lang="en-IN" baseline="-25000" dirty="0"/>
              <a:t>k-1 </a:t>
            </a:r>
            <a:r>
              <a:rPr lang="en-IN" baseline="-25000" dirty="0" smtClean="0"/>
              <a:t> </a:t>
            </a:r>
            <a:r>
              <a:rPr lang="en-IN" dirty="0" smtClean="0"/>
              <a:t>(Generate C</a:t>
            </a:r>
            <a:r>
              <a:rPr lang="en-IN" baseline="-25000" dirty="0" smtClean="0"/>
              <a:t>k</a:t>
            </a:r>
            <a:r>
              <a:rPr lang="en-IN" dirty="0" smtClean="0"/>
              <a:t> </a:t>
            </a:r>
            <a:r>
              <a:rPr lang="en-IN" dirty="0" smtClean="0"/>
              <a:t>by</a:t>
            </a:r>
            <a:r>
              <a:rPr lang="en-IN" dirty="0" smtClean="0"/>
              <a:t> self </a:t>
            </a:r>
            <a:r>
              <a:rPr lang="en-IN" dirty="0"/>
              <a:t>joining L</a:t>
            </a:r>
            <a:r>
              <a:rPr lang="en-IN" baseline="-25000" dirty="0"/>
              <a:t>k-1 </a:t>
            </a:r>
            <a:r>
              <a:rPr lang="en-IN" dirty="0" smtClean="0"/>
              <a:t>)</a:t>
            </a:r>
          </a:p>
          <a:p>
            <a:pPr lvl="1"/>
            <a:endParaRPr lang="en-IN" dirty="0">
              <a:sym typeface="Wingdings" pitchFamily="2" charset="2"/>
            </a:endParaRPr>
          </a:p>
          <a:p>
            <a:pPr marL="0" indent="0">
              <a:buNone/>
            </a:pPr>
            <a:r>
              <a:rPr lang="en-IN" dirty="0">
                <a:sym typeface="Wingdings" pitchFamily="2" charset="2"/>
              </a:rPr>
              <a:t>Overall Approach : </a:t>
            </a:r>
          </a:p>
          <a:p>
            <a:pPr marL="0" indent="0">
              <a:buNone/>
            </a:pPr>
            <a:r>
              <a:rPr lang="en-IN" dirty="0">
                <a:sym typeface="Wingdings" pitchFamily="2" charset="2"/>
              </a:rPr>
              <a:t>	C</a:t>
            </a:r>
            <a:r>
              <a:rPr lang="en-IN" baseline="-25000" dirty="0">
                <a:sym typeface="Wingdings" pitchFamily="2" charset="2"/>
              </a:rPr>
              <a:t>k </a:t>
            </a:r>
            <a:r>
              <a:rPr lang="en-IN" dirty="0">
                <a:sym typeface="Wingdings" pitchFamily="2" charset="2"/>
              </a:rPr>
              <a:t> L</a:t>
            </a:r>
            <a:r>
              <a:rPr lang="en-IN" baseline="-25000" dirty="0">
                <a:sym typeface="Wingdings" pitchFamily="2" charset="2"/>
              </a:rPr>
              <a:t>k </a:t>
            </a:r>
            <a:r>
              <a:rPr lang="en-IN" dirty="0">
                <a:sym typeface="Wingdings" pitchFamily="2" charset="2"/>
              </a:rPr>
              <a:t> C</a:t>
            </a:r>
            <a:r>
              <a:rPr lang="en-IN" baseline="-25000" dirty="0">
                <a:sym typeface="Wingdings" pitchFamily="2" charset="2"/>
              </a:rPr>
              <a:t>k+1 </a:t>
            </a:r>
            <a:r>
              <a:rPr lang="en-IN" dirty="0">
                <a:sym typeface="Wingdings" pitchFamily="2" charset="2"/>
              </a:rPr>
              <a:t> L</a:t>
            </a:r>
            <a:r>
              <a:rPr lang="en-IN" baseline="-25000" dirty="0">
                <a:sym typeface="Wingdings" pitchFamily="2" charset="2"/>
              </a:rPr>
              <a:t>k+1 </a:t>
            </a:r>
            <a:r>
              <a:rPr lang="en-IN" dirty="0">
                <a:sym typeface="Wingdings" pitchFamily="2" charset="2"/>
              </a:rPr>
              <a:t> C</a:t>
            </a:r>
            <a:r>
              <a:rPr lang="en-IN" baseline="-25000" dirty="0">
                <a:sym typeface="Wingdings" pitchFamily="2" charset="2"/>
              </a:rPr>
              <a:t>k+2 </a:t>
            </a:r>
            <a:r>
              <a:rPr lang="en-IN" dirty="0">
                <a:sym typeface="Wingdings" pitchFamily="2" charset="2"/>
              </a:rPr>
              <a:t> </a:t>
            </a:r>
            <a:r>
              <a:rPr lang="en-IN" dirty="0" smtClean="0">
                <a:sym typeface="Wingdings" pitchFamily="2" charset="2"/>
              </a:rPr>
              <a:t>L</a:t>
            </a:r>
            <a:r>
              <a:rPr lang="en-IN" baseline="-25000" dirty="0" smtClean="0">
                <a:sym typeface="Wingdings" pitchFamily="2" charset="2"/>
              </a:rPr>
              <a:t>k+2 </a:t>
            </a:r>
            <a:r>
              <a:rPr lang="en-IN" dirty="0" smtClean="0">
                <a:sym typeface="Wingdings" pitchFamily="2" charset="2"/>
              </a:rPr>
              <a:t> ........</a:t>
            </a:r>
            <a:endParaRPr dirty="0"/>
          </a:p>
          <a:p>
            <a:endParaRPr lang="en-IN" dirty="0" smtClean="0"/>
          </a:p>
          <a:p>
            <a:r>
              <a:rPr lang="en-IN" dirty="0" smtClean="0"/>
              <a:t>Process</a:t>
            </a:r>
            <a:endParaRPr dirty="0"/>
          </a:p>
          <a:p>
            <a:pPr marL="457200" lvl="1" indent="0">
              <a:buNone/>
            </a:pPr>
            <a:r>
              <a:rPr dirty="0"/>
              <a:t>1. Find </a:t>
            </a:r>
            <a:r>
              <a:rPr lang="en-IN" dirty="0" smtClean="0"/>
              <a:t>frequenct 1-itemsets   </a:t>
            </a:r>
            <a:r>
              <a:rPr lang="en-IN" dirty="0" smtClean="0">
                <a:sym typeface="Wingdings" pitchFamily="2" charset="2"/>
              </a:rPr>
              <a:t> </a:t>
            </a:r>
            <a:r>
              <a:rPr lang="en-IN" dirty="0" smtClean="0"/>
              <a:t> </a:t>
            </a:r>
            <a:r>
              <a:rPr dirty="0" smtClean="0"/>
              <a:t>L1</a:t>
            </a:r>
            <a:endParaRPr dirty="0"/>
          </a:p>
          <a:p>
            <a:pPr marL="457200" lvl="1" indent="0">
              <a:buNone/>
            </a:pPr>
            <a:r>
              <a:rPr dirty="0"/>
              <a:t>2. Generate </a:t>
            </a:r>
            <a:r>
              <a:rPr lang="en-IN" dirty="0" smtClean="0"/>
              <a:t>candidate 2-itemsets </a:t>
            </a:r>
            <a:r>
              <a:rPr lang="en-IN" dirty="0" smtClean="0">
                <a:sym typeface="Wingdings" pitchFamily="2" charset="2"/>
              </a:rPr>
              <a:t> </a:t>
            </a:r>
            <a:r>
              <a:rPr dirty="0" smtClean="0"/>
              <a:t>C2</a:t>
            </a:r>
            <a:endParaRPr dirty="0"/>
          </a:p>
          <a:p>
            <a:pPr marL="457200" lvl="1" indent="0">
              <a:buNone/>
            </a:pPr>
            <a:r>
              <a:rPr dirty="0"/>
              <a:t>3. </a:t>
            </a:r>
            <a:r>
              <a:rPr dirty="0" smtClean="0"/>
              <a:t>Prune</a:t>
            </a:r>
            <a:r>
              <a:rPr lang="en-IN" dirty="0" smtClean="0"/>
              <a:t> using Apriori Algorithm</a:t>
            </a:r>
            <a:endParaRPr dirty="0"/>
          </a:p>
          <a:p>
            <a:pPr marL="457200" lvl="1" indent="0">
              <a:buNone/>
            </a:pPr>
            <a:r>
              <a:rPr dirty="0"/>
              <a:t>4. Count </a:t>
            </a:r>
            <a:r>
              <a:rPr lang="en-IN" dirty="0"/>
              <a:t> </a:t>
            </a:r>
            <a:r>
              <a:rPr lang="en-IN" dirty="0" smtClean="0"/>
              <a:t> supports </a:t>
            </a:r>
            <a:r>
              <a:rPr lang="en-IN" dirty="0" smtClean="0">
                <a:sym typeface="Wingdings" pitchFamily="2" charset="2"/>
              </a:rPr>
              <a:t> get  </a:t>
            </a:r>
            <a:r>
              <a:rPr dirty="0" smtClean="0"/>
              <a:t>L2</a:t>
            </a:r>
            <a:endParaRPr dirty="0"/>
          </a:p>
          <a:p>
            <a:pPr marL="457200" lvl="1" indent="0">
              <a:buNone/>
            </a:pPr>
            <a:r>
              <a:rPr lang="en-IN" dirty="0" smtClean="0"/>
              <a:t>5. </a:t>
            </a:r>
            <a:r>
              <a:rPr dirty="0" smtClean="0"/>
              <a:t>Repeat </a:t>
            </a:r>
            <a:r>
              <a:rPr dirty="0"/>
              <a:t>until </a:t>
            </a:r>
            <a:r>
              <a:rPr lang="en-IN" dirty="0" smtClean="0"/>
              <a:t>no candidates remain</a:t>
            </a:r>
            <a:endParaRP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 1. </a:t>
            </a:r>
            <a:r>
              <a:rPr dirty="0" smtClean="0"/>
              <a:t>Frequent </a:t>
            </a:r>
            <a:r>
              <a:rPr dirty="0"/>
              <a:t>1‑Itemsets (L1)</a:t>
            </a:r>
          </a:p>
        </p:txBody>
      </p:sp>
      <p:sp>
        <p:nvSpPr>
          <p:cNvPr id="3" name="Content Placeholder 2"/>
          <p:cNvSpPr>
            <a:spLocks noGrp="1"/>
          </p:cNvSpPr>
          <p:nvPr>
            <p:ph idx="1"/>
          </p:nvPr>
        </p:nvSpPr>
        <p:spPr/>
        <p:txBody>
          <a:bodyPr>
            <a:normAutofit fontScale="85000" lnSpcReduction="20000"/>
          </a:bodyPr>
          <a:lstStyle/>
          <a:p>
            <a:pPr marL="0" indent="0">
              <a:buNone/>
            </a:pPr>
            <a:r>
              <a:rPr dirty="0"/>
              <a:t>Counts:</a:t>
            </a:r>
          </a:p>
          <a:p>
            <a:pPr lvl="1"/>
            <a:r>
              <a:rPr dirty="0"/>
              <a:t>Milk 4</a:t>
            </a:r>
          </a:p>
          <a:p>
            <a:pPr lvl="1"/>
            <a:r>
              <a:rPr dirty="0"/>
              <a:t>Bread 5</a:t>
            </a:r>
          </a:p>
          <a:p>
            <a:pPr lvl="1"/>
            <a:r>
              <a:rPr dirty="0">
                <a:solidFill>
                  <a:srgbClr val="FF0000"/>
                </a:solidFill>
              </a:rPr>
              <a:t>Butter</a:t>
            </a:r>
            <a:r>
              <a:rPr dirty="0"/>
              <a:t> 2</a:t>
            </a:r>
          </a:p>
          <a:p>
            <a:pPr lvl="1"/>
            <a:r>
              <a:rPr dirty="0"/>
              <a:t>Diaper 3</a:t>
            </a:r>
          </a:p>
          <a:p>
            <a:pPr lvl="1"/>
            <a:r>
              <a:rPr dirty="0"/>
              <a:t>Beer 3</a:t>
            </a:r>
          </a:p>
          <a:p>
            <a:pPr lvl="1"/>
            <a:r>
              <a:rPr dirty="0">
                <a:solidFill>
                  <a:srgbClr val="FF0000"/>
                </a:solidFill>
              </a:rPr>
              <a:t>Eggs</a:t>
            </a:r>
            <a:r>
              <a:rPr dirty="0"/>
              <a:t> 1</a:t>
            </a:r>
          </a:p>
          <a:p>
            <a:pPr marL="0" indent="0">
              <a:buNone/>
            </a:pPr>
            <a:endParaRPr lang="en-IN" dirty="0" smtClean="0"/>
          </a:p>
          <a:p>
            <a:pPr marL="0" indent="0">
              <a:buNone/>
            </a:pPr>
            <a:r>
              <a:rPr dirty="0" smtClean="0"/>
              <a:t>minsup </a:t>
            </a:r>
            <a:r>
              <a:rPr dirty="0"/>
              <a:t>= 3</a:t>
            </a:r>
          </a:p>
          <a:p>
            <a:endParaRPr dirty="0"/>
          </a:p>
          <a:p>
            <a:pPr marL="0" indent="0">
              <a:buNone/>
            </a:pPr>
            <a:r>
              <a:rPr dirty="0"/>
              <a:t>L1 = {Milk, Bread, Diaper, Beer}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0933" y="1771502"/>
            <a:ext cx="4824292" cy="242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Step 2. </a:t>
            </a:r>
            <a:r>
              <a:rPr dirty="0" smtClean="0"/>
              <a:t>Candidate </a:t>
            </a:r>
            <a:r>
              <a:rPr dirty="0"/>
              <a:t>Generation (C2)</a:t>
            </a:r>
          </a:p>
        </p:txBody>
      </p:sp>
      <p:sp>
        <p:nvSpPr>
          <p:cNvPr id="3" name="Content Placeholder 2"/>
          <p:cNvSpPr>
            <a:spLocks noGrp="1"/>
          </p:cNvSpPr>
          <p:nvPr>
            <p:ph idx="1"/>
          </p:nvPr>
        </p:nvSpPr>
        <p:spPr>
          <a:xfrm>
            <a:off x="457200" y="1600200"/>
            <a:ext cx="8229600" cy="5025683"/>
          </a:xfrm>
        </p:spPr>
        <p:txBody>
          <a:bodyPr>
            <a:normAutofit lnSpcReduction="10000"/>
          </a:bodyPr>
          <a:lstStyle/>
          <a:p>
            <a:pPr marL="0" indent="0">
              <a:buNone/>
            </a:pPr>
            <a:r>
              <a:rPr lang="en-IN" dirty="0"/>
              <a:t>L1 = {Milk, Bread, Diaper, Beer</a:t>
            </a:r>
            <a:r>
              <a:rPr lang="en-IN" dirty="0" smtClean="0"/>
              <a:t>}</a:t>
            </a:r>
          </a:p>
          <a:p>
            <a:pPr marL="0" indent="0">
              <a:buNone/>
            </a:pPr>
            <a:r>
              <a:rPr lang="en-IN" dirty="0" smtClean="0"/>
              <a:t>Self </a:t>
            </a:r>
            <a:r>
              <a:rPr dirty="0" smtClean="0"/>
              <a:t>Join </a:t>
            </a:r>
            <a:r>
              <a:rPr dirty="0"/>
              <a:t>L1 </a:t>
            </a:r>
            <a:r>
              <a:rPr dirty="0" smtClean="0"/>
              <a:t>:</a:t>
            </a:r>
            <a:endParaRPr dirty="0"/>
          </a:p>
          <a:p>
            <a:pPr marL="971550" lvl="1" indent="-514350">
              <a:buFont typeface="+mj-lt"/>
              <a:buAutoNum type="arabicPeriod"/>
            </a:pPr>
            <a:r>
              <a:rPr dirty="0"/>
              <a:t>{Milk,Bread}</a:t>
            </a:r>
          </a:p>
          <a:p>
            <a:pPr marL="971550" lvl="1" indent="-514350">
              <a:buFont typeface="+mj-lt"/>
              <a:buAutoNum type="arabicPeriod"/>
            </a:pPr>
            <a:r>
              <a:rPr dirty="0"/>
              <a:t>{Milk,Diaper}</a:t>
            </a:r>
          </a:p>
          <a:p>
            <a:pPr marL="971550" lvl="1" indent="-514350">
              <a:buFont typeface="+mj-lt"/>
              <a:buAutoNum type="arabicPeriod"/>
            </a:pPr>
            <a:r>
              <a:rPr dirty="0"/>
              <a:t>{Milk,Beer}</a:t>
            </a:r>
          </a:p>
          <a:p>
            <a:pPr marL="971550" lvl="1" indent="-514350">
              <a:buFont typeface="+mj-lt"/>
              <a:buAutoNum type="arabicPeriod"/>
            </a:pPr>
            <a:r>
              <a:rPr dirty="0"/>
              <a:t>{Bread,Diaper}</a:t>
            </a:r>
          </a:p>
          <a:p>
            <a:pPr marL="971550" lvl="1" indent="-514350">
              <a:buFont typeface="+mj-lt"/>
              <a:buAutoNum type="arabicPeriod"/>
            </a:pPr>
            <a:r>
              <a:rPr dirty="0"/>
              <a:t>{Bread,Beer}</a:t>
            </a:r>
          </a:p>
          <a:p>
            <a:pPr marL="971550" lvl="1" indent="-514350">
              <a:buFont typeface="+mj-lt"/>
              <a:buAutoNum type="arabicPeriod"/>
            </a:pPr>
            <a:r>
              <a:rPr dirty="0"/>
              <a:t>{Diaper,Beer</a:t>
            </a:r>
            <a:r>
              <a:rPr dirty="0" smtClean="0"/>
              <a:t>}</a:t>
            </a:r>
            <a:endParaRPr lang="en-IN" dirty="0" smtClean="0"/>
          </a:p>
          <a:p>
            <a:pPr marL="171450" indent="-514350"/>
            <a:endParaRPr lang="en-IN" dirty="0" smtClean="0"/>
          </a:p>
          <a:p>
            <a:pPr marL="0" indent="0">
              <a:buNone/>
            </a:pPr>
            <a:r>
              <a:rPr lang="en-IN" dirty="0" smtClean="0"/>
              <a:t>Self Join Step </a:t>
            </a:r>
            <a:r>
              <a:rPr lang="en-IN" dirty="0" smtClean="0">
                <a:sym typeface="Wingdings" pitchFamily="2" charset="2"/>
              </a:rPr>
              <a:t> </a:t>
            </a:r>
            <a:r>
              <a:rPr lang="en-IN" dirty="0" smtClean="0"/>
              <a:t>C</a:t>
            </a:r>
            <a:r>
              <a:rPr lang="en-IN" baseline="-25000" dirty="0" smtClean="0"/>
              <a:t>k</a:t>
            </a:r>
            <a:r>
              <a:rPr lang="en-IN" dirty="0" smtClean="0"/>
              <a:t> </a:t>
            </a:r>
            <a:r>
              <a:rPr lang="en-IN" dirty="0"/>
              <a:t>= L</a:t>
            </a:r>
            <a:r>
              <a:rPr lang="en-IN" baseline="-25000" dirty="0"/>
              <a:t>k-1</a:t>
            </a:r>
            <a:r>
              <a:rPr lang="en-IN" dirty="0"/>
              <a:t> ⋈ L</a:t>
            </a:r>
            <a:r>
              <a:rPr lang="en-IN" baseline="-25000" dirty="0"/>
              <a:t>k-1 </a:t>
            </a:r>
            <a:endParaRPr lang="en-IN" dirty="0">
              <a:sym typeface="Wingdings" pitchFamily="2" charset="2"/>
            </a:endParaRPr>
          </a:p>
          <a:p>
            <a:pPr marL="571500" indent="-514350">
              <a:buFont typeface="+mj-lt"/>
              <a:buAutoNum type="arabicPeriod"/>
            </a:pPr>
            <a:endParaRP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 3. </a:t>
            </a:r>
            <a:r>
              <a:rPr dirty="0" smtClean="0"/>
              <a:t> </a:t>
            </a:r>
            <a:r>
              <a:rPr dirty="0"/>
              <a:t>Support Counting for C2</a:t>
            </a:r>
          </a:p>
        </p:txBody>
      </p:sp>
      <p:sp>
        <p:nvSpPr>
          <p:cNvPr id="3" name="Content Placeholder 2"/>
          <p:cNvSpPr>
            <a:spLocks noGrp="1"/>
          </p:cNvSpPr>
          <p:nvPr>
            <p:ph idx="1"/>
          </p:nvPr>
        </p:nvSpPr>
        <p:spPr/>
        <p:txBody>
          <a:bodyPr>
            <a:normAutofit fontScale="85000" lnSpcReduction="20000"/>
          </a:bodyPr>
          <a:lstStyle/>
          <a:p>
            <a:pPr marL="0" indent="0">
              <a:buNone/>
            </a:pPr>
            <a:r>
              <a:rPr dirty="0"/>
              <a:t>Counts:</a:t>
            </a:r>
          </a:p>
          <a:p>
            <a:pPr lvl="1"/>
            <a:r>
              <a:rPr dirty="0"/>
              <a:t>Milk,Bread 4</a:t>
            </a:r>
          </a:p>
          <a:p>
            <a:pPr lvl="1"/>
            <a:r>
              <a:rPr dirty="0">
                <a:solidFill>
                  <a:srgbClr val="FF0000"/>
                </a:solidFill>
              </a:rPr>
              <a:t>Milk,Diaper 2</a:t>
            </a:r>
          </a:p>
          <a:p>
            <a:pPr lvl="1"/>
            <a:r>
              <a:rPr dirty="0">
                <a:solidFill>
                  <a:srgbClr val="FF0000"/>
                </a:solidFill>
              </a:rPr>
              <a:t>Milk,Beer 2</a:t>
            </a:r>
          </a:p>
          <a:p>
            <a:pPr lvl="1"/>
            <a:r>
              <a:rPr dirty="0"/>
              <a:t>Bread,Diaper 3</a:t>
            </a:r>
          </a:p>
          <a:p>
            <a:pPr lvl="1"/>
            <a:r>
              <a:rPr dirty="0"/>
              <a:t>Bread,Beer 3</a:t>
            </a:r>
          </a:p>
          <a:p>
            <a:pPr lvl="1"/>
            <a:r>
              <a:rPr dirty="0"/>
              <a:t>Diaper,Beer </a:t>
            </a:r>
            <a:r>
              <a:rPr dirty="0" smtClean="0"/>
              <a:t>3</a:t>
            </a:r>
            <a:endParaRPr lang="en-IN" dirty="0" smtClean="0"/>
          </a:p>
          <a:p>
            <a:pPr lvl="1"/>
            <a:endParaRPr lang="en-IN" dirty="0"/>
          </a:p>
          <a:p>
            <a:pPr marL="0" indent="0">
              <a:buNone/>
            </a:pPr>
            <a:r>
              <a:rPr lang="en-IN" dirty="0" smtClean="0"/>
              <a:t>minsup </a:t>
            </a:r>
            <a:r>
              <a:rPr lang="en-IN" dirty="0"/>
              <a:t>= 3</a:t>
            </a:r>
          </a:p>
          <a:p>
            <a:pPr marL="0" indent="0">
              <a:buNone/>
            </a:pPr>
            <a:endParaRPr dirty="0"/>
          </a:p>
          <a:p>
            <a:pPr marL="0" indent="0">
              <a:buNone/>
            </a:pPr>
            <a:r>
              <a:rPr dirty="0"/>
              <a:t>L2 = {Milk,Bread; Bread,Diaper; </a:t>
            </a:r>
            <a:r>
              <a:rPr dirty="0" smtClean="0"/>
              <a:t>Bread,Beer;</a:t>
            </a:r>
            <a:r>
              <a:rPr lang="en-IN" dirty="0" smtClean="0"/>
              <a:t> </a:t>
            </a:r>
            <a:r>
              <a:rPr dirty="0" smtClean="0"/>
              <a:t>Diaper,Beer</a:t>
            </a:r>
            <a:r>
              <a:rPr dirty="0"/>
              <a: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4208" y="2052644"/>
            <a:ext cx="4432203" cy="2223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Step 4. </a:t>
            </a:r>
            <a:r>
              <a:rPr dirty="0" smtClean="0"/>
              <a:t>Candidate </a:t>
            </a:r>
            <a:r>
              <a:rPr dirty="0"/>
              <a:t>Generation for 3‑Itemsets</a:t>
            </a:r>
          </a:p>
        </p:txBody>
      </p:sp>
      <p:sp>
        <p:nvSpPr>
          <p:cNvPr id="3" name="Content Placeholder 2"/>
          <p:cNvSpPr>
            <a:spLocks noGrp="1"/>
          </p:cNvSpPr>
          <p:nvPr>
            <p:ph idx="1"/>
          </p:nvPr>
        </p:nvSpPr>
        <p:spPr>
          <a:xfrm>
            <a:off x="457200" y="1600200"/>
            <a:ext cx="8229600" cy="5081954"/>
          </a:xfrm>
        </p:spPr>
        <p:txBody>
          <a:bodyPr>
            <a:normAutofit fontScale="92500"/>
          </a:bodyPr>
          <a:lstStyle/>
          <a:p>
            <a:pPr marL="0" indent="0">
              <a:buNone/>
            </a:pPr>
            <a:r>
              <a:rPr lang="en-IN" sz="2600" dirty="0" smtClean="0"/>
              <a:t>L2 : </a:t>
            </a:r>
            <a:r>
              <a:rPr lang="en-IN" sz="2600" dirty="0" smtClean="0"/>
              <a:t>{</a:t>
            </a:r>
            <a:r>
              <a:rPr lang="en-IN" sz="2600" dirty="0" smtClean="0"/>
              <a:t>Milk,Bread</a:t>
            </a:r>
            <a:r>
              <a:rPr lang="en-IN" sz="2600" dirty="0"/>
              <a:t>; </a:t>
            </a:r>
            <a:r>
              <a:rPr lang="en-IN" sz="2600" dirty="0" smtClean="0"/>
              <a:t> Bread,Diaper</a:t>
            </a:r>
            <a:r>
              <a:rPr lang="en-IN" sz="2600" dirty="0"/>
              <a:t>; </a:t>
            </a:r>
            <a:r>
              <a:rPr lang="en-IN" sz="2600" dirty="0" smtClean="0"/>
              <a:t> Bread,Beer</a:t>
            </a:r>
            <a:r>
              <a:rPr lang="en-IN" sz="2600" dirty="0"/>
              <a:t>; </a:t>
            </a:r>
            <a:r>
              <a:rPr lang="en-IN" sz="2600" dirty="0" smtClean="0"/>
              <a:t> Diaper,Beer}</a:t>
            </a:r>
          </a:p>
          <a:p>
            <a:pPr marL="0" indent="0">
              <a:buNone/>
            </a:pPr>
            <a:r>
              <a:rPr lang="en-IN" dirty="0" smtClean="0"/>
              <a:t>Self </a:t>
            </a:r>
            <a:r>
              <a:rPr dirty="0" smtClean="0"/>
              <a:t>Join </a:t>
            </a:r>
            <a:r>
              <a:rPr dirty="0"/>
              <a:t>L2 </a:t>
            </a:r>
            <a:r>
              <a:rPr lang="en-IN" dirty="0" smtClean="0"/>
              <a:t>to </a:t>
            </a:r>
            <a:r>
              <a:rPr lang="en-IN" dirty="0" smtClean="0"/>
              <a:t>get C3 </a:t>
            </a:r>
            <a:endParaRPr dirty="0"/>
          </a:p>
          <a:p>
            <a:pPr marL="971550" lvl="1" indent="-514350">
              <a:buFont typeface="+mj-lt"/>
              <a:buAutoNum type="arabicPeriod"/>
            </a:pPr>
            <a:r>
              <a:rPr lang="en-IN" dirty="0">
                <a:solidFill>
                  <a:srgbClr val="FF0000"/>
                </a:solidFill>
              </a:rPr>
              <a:t>Milk,Bread; </a:t>
            </a:r>
            <a:r>
              <a:rPr lang="en-IN" dirty="0" smtClean="0">
                <a:solidFill>
                  <a:srgbClr val="FF0000"/>
                </a:solidFill>
              </a:rPr>
              <a:t>Bread,Diaper = Milk Bread Diaper = 2</a:t>
            </a:r>
          </a:p>
          <a:p>
            <a:pPr marL="971550" lvl="1" indent="-514350">
              <a:buFont typeface="+mj-lt"/>
              <a:buAutoNum type="arabicPeriod"/>
            </a:pPr>
            <a:r>
              <a:rPr lang="en-IN" dirty="0">
                <a:solidFill>
                  <a:srgbClr val="FF0000"/>
                </a:solidFill>
              </a:rPr>
              <a:t>Milk,Bread</a:t>
            </a:r>
            <a:r>
              <a:rPr lang="en-IN" dirty="0" smtClean="0">
                <a:solidFill>
                  <a:srgbClr val="FF0000"/>
                </a:solidFill>
              </a:rPr>
              <a:t>; Bread,Beer = Milk Bread Beer = 2</a:t>
            </a:r>
          </a:p>
          <a:p>
            <a:pPr marL="971550" lvl="1" indent="-514350">
              <a:buFont typeface="+mj-lt"/>
              <a:buAutoNum type="arabicPeriod"/>
            </a:pPr>
            <a:r>
              <a:rPr lang="en-IN" dirty="0">
                <a:solidFill>
                  <a:srgbClr val="FF0000"/>
                </a:solidFill>
              </a:rPr>
              <a:t>Milk,Bread</a:t>
            </a:r>
            <a:r>
              <a:rPr lang="en-IN" dirty="0" smtClean="0">
                <a:solidFill>
                  <a:srgbClr val="FF0000"/>
                </a:solidFill>
              </a:rPr>
              <a:t>; </a:t>
            </a:r>
            <a:r>
              <a:rPr lang="en-IN" dirty="0" smtClean="0">
                <a:solidFill>
                  <a:srgbClr val="FF0000"/>
                </a:solidFill>
              </a:rPr>
              <a:t>Diaper,Beer=Milk </a:t>
            </a:r>
            <a:r>
              <a:rPr lang="en-IN" dirty="0" smtClean="0">
                <a:solidFill>
                  <a:srgbClr val="FF0000"/>
                </a:solidFill>
              </a:rPr>
              <a:t>Bread Diaper Beer = 2</a:t>
            </a:r>
          </a:p>
          <a:p>
            <a:pPr marL="971550" lvl="1" indent="-514350">
              <a:buFont typeface="+mj-lt"/>
              <a:buAutoNum type="arabicPeriod"/>
            </a:pPr>
            <a:r>
              <a:rPr lang="en-IN" dirty="0"/>
              <a:t>Bread,Diaper</a:t>
            </a:r>
            <a:r>
              <a:rPr lang="en-IN" dirty="0" smtClean="0"/>
              <a:t>; Bread,Beer</a:t>
            </a:r>
            <a:r>
              <a:rPr lang="en-IN" dirty="0"/>
              <a:t> </a:t>
            </a:r>
            <a:r>
              <a:rPr lang="en-IN" dirty="0" smtClean="0"/>
              <a:t>= Bread Diaper Beer = 3</a:t>
            </a:r>
          </a:p>
          <a:p>
            <a:pPr marL="971550" lvl="1" indent="-514350">
              <a:buFont typeface="+mj-lt"/>
              <a:buAutoNum type="arabicPeriod"/>
            </a:pPr>
            <a:r>
              <a:rPr lang="en-IN" dirty="0"/>
              <a:t>Bread,Diaper; </a:t>
            </a:r>
            <a:r>
              <a:rPr lang="en-IN" dirty="0" smtClean="0"/>
              <a:t> Diaper,Beer = Bread Diaper Beer  = 3</a:t>
            </a:r>
          </a:p>
          <a:p>
            <a:pPr marL="971550" lvl="1" indent="-514350">
              <a:buFont typeface="+mj-lt"/>
              <a:buAutoNum type="arabicPeriod"/>
            </a:pPr>
            <a:r>
              <a:rPr lang="en-IN" dirty="0"/>
              <a:t>Bread,Beer;  </a:t>
            </a:r>
            <a:r>
              <a:rPr lang="en-IN" dirty="0" smtClean="0"/>
              <a:t>Diaper,Beer = Bread Diaper Beer  = 3</a:t>
            </a:r>
          </a:p>
          <a:p>
            <a:endParaRPr dirty="0"/>
          </a:p>
          <a:p>
            <a:r>
              <a:rPr lang="en-IN" dirty="0" smtClean="0"/>
              <a:t>L</a:t>
            </a:r>
            <a:r>
              <a:rPr dirty="0" smtClean="0"/>
              <a:t>3 </a:t>
            </a:r>
            <a:r>
              <a:rPr dirty="0"/>
              <a:t>= {Bread,Diaper,Beer}</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Attempt C4</a:t>
            </a:r>
            <a:endParaRPr dirty="0"/>
          </a:p>
        </p:txBody>
      </p:sp>
      <p:sp>
        <p:nvSpPr>
          <p:cNvPr id="3" name="Content Placeholder 2"/>
          <p:cNvSpPr>
            <a:spLocks noGrp="1"/>
          </p:cNvSpPr>
          <p:nvPr>
            <p:ph idx="1"/>
          </p:nvPr>
        </p:nvSpPr>
        <p:spPr/>
        <p:txBody>
          <a:bodyPr>
            <a:normAutofit lnSpcReduction="10000"/>
          </a:bodyPr>
          <a:lstStyle/>
          <a:p>
            <a:pPr marL="0" indent="0">
              <a:buNone/>
            </a:pPr>
            <a:r>
              <a:rPr lang="en-IN" dirty="0"/>
              <a:t>L3 = {Bread,Diaper,Beer</a:t>
            </a:r>
            <a:r>
              <a:rPr lang="en-IN" dirty="0" smtClean="0"/>
              <a:t>}</a:t>
            </a:r>
          </a:p>
          <a:p>
            <a:pPr lvl="1"/>
            <a:r>
              <a:rPr lang="en-IN" dirty="0" smtClean="0"/>
              <a:t>|L3| = 1 , hence </a:t>
            </a:r>
            <a:r>
              <a:rPr dirty="0" smtClean="0"/>
              <a:t>No </a:t>
            </a:r>
            <a:r>
              <a:rPr dirty="0"/>
              <a:t>further joins possible.</a:t>
            </a:r>
          </a:p>
          <a:p>
            <a:pPr lvl="1"/>
            <a:r>
              <a:rPr lang="en-IN" dirty="0" smtClean="0"/>
              <a:t>Algorithm terminates</a:t>
            </a:r>
          </a:p>
          <a:p>
            <a:endParaRPr dirty="0"/>
          </a:p>
          <a:p>
            <a:r>
              <a:rPr lang="en-IN" dirty="0" smtClean="0"/>
              <a:t>Final </a:t>
            </a:r>
            <a:r>
              <a:rPr dirty="0" smtClean="0"/>
              <a:t>Frequent </a:t>
            </a:r>
            <a:r>
              <a:rPr dirty="0"/>
              <a:t>itemsets:</a:t>
            </a:r>
          </a:p>
          <a:p>
            <a:pPr lvl="1"/>
            <a:r>
              <a:rPr dirty="0"/>
              <a:t>L1: </a:t>
            </a:r>
            <a:r>
              <a:rPr lang="en-IN" dirty="0"/>
              <a:t>{Milk, Bread, Diaper, Beer}</a:t>
            </a:r>
            <a:endParaRPr dirty="0"/>
          </a:p>
          <a:p>
            <a:pPr lvl="1"/>
            <a:r>
              <a:rPr dirty="0"/>
              <a:t>L2: </a:t>
            </a:r>
            <a:r>
              <a:rPr lang="en-IN" dirty="0"/>
              <a:t>{Milk,Bread; Bread,Diaper; Bread,Beer; Diaper,Beer}</a:t>
            </a:r>
            <a:endParaRPr dirty="0"/>
          </a:p>
          <a:p>
            <a:pPr lvl="1"/>
            <a:r>
              <a:rPr lang="en-IN" dirty="0" smtClean="0"/>
              <a:t>L3:{Bread,Diaper,Beer</a:t>
            </a:r>
            <a:r>
              <a:rPr lang="en-IN" dirty="0"/>
              <a:t>}</a:t>
            </a:r>
            <a:endParaRP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Industrial </a:t>
            </a:r>
            <a:r>
              <a:rPr lang="en-IN" b="1" dirty="0"/>
              <a:t>Challenges &amp; Real-World Friction</a:t>
            </a:r>
            <a:endParaRPr lang="en-IN" dirty="0"/>
          </a:p>
        </p:txBody>
      </p:sp>
      <p:sp>
        <p:nvSpPr>
          <p:cNvPr id="3" name="Content Placeholder 2"/>
          <p:cNvSpPr>
            <a:spLocks noGrp="1"/>
          </p:cNvSpPr>
          <p:nvPr>
            <p:ph idx="1"/>
          </p:nvPr>
        </p:nvSpPr>
        <p:spPr>
          <a:xfrm>
            <a:off x="457200" y="1600200"/>
            <a:ext cx="8229600" cy="4940300"/>
          </a:xfrm>
        </p:spPr>
        <p:txBody>
          <a:bodyPr>
            <a:normAutofit fontScale="77500" lnSpcReduction="20000"/>
          </a:bodyPr>
          <a:lstStyle/>
          <a:p>
            <a:r>
              <a:rPr lang="en-IN" b="1" dirty="0"/>
              <a:t>The "Candidate Explosion":</a:t>
            </a:r>
            <a:r>
              <a:rPr lang="en-IN" dirty="0"/>
              <a:t> If a dataset has </a:t>
            </a:r>
            <a:r>
              <a:rPr lang="en-IN" dirty="0" smtClean="0"/>
              <a:t> 10^4 frequent </a:t>
            </a:r>
            <a:r>
              <a:rPr lang="en-IN" dirty="0"/>
              <a:t>1-itemsets, the algorithm must generate over </a:t>
            </a:r>
            <a:r>
              <a:rPr lang="en-IN" dirty="0" smtClean="0"/>
              <a:t> 10^7 candidate </a:t>
            </a:r>
            <a:r>
              <a:rPr lang="en-IN" dirty="0"/>
              <a:t>2-itemsets.</a:t>
            </a:r>
          </a:p>
          <a:p>
            <a:r>
              <a:rPr lang="en-IN" b="1" dirty="0"/>
              <a:t>Repeated Database Scans:</a:t>
            </a:r>
            <a:r>
              <a:rPr lang="en-IN" dirty="0"/>
              <a:t> Apriori requires </a:t>
            </a:r>
            <a:r>
              <a:rPr lang="en-IN" i="1" dirty="0" smtClean="0"/>
              <a:t>mutiple scans </a:t>
            </a:r>
            <a:r>
              <a:rPr lang="en-IN" i="1" dirty="0"/>
              <a:t>of the database </a:t>
            </a:r>
            <a:r>
              <a:rPr lang="en-IN" dirty="0"/>
              <a:t>for a frequent </a:t>
            </a:r>
            <a:r>
              <a:rPr lang="en-IN" dirty="0" smtClean="0"/>
              <a:t>k-itemset</a:t>
            </a:r>
            <a:r>
              <a:rPr lang="en-IN" dirty="0"/>
              <a:t>. In large-scale industries like retail (e.g., Walmart, Target), this becomes an I/O bottleneck.</a:t>
            </a:r>
          </a:p>
          <a:p>
            <a:r>
              <a:rPr lang="en-IN" b="1" dirty="0"/>
              <a:t>High-Dimensional Sparsity:</a:t>
            </a:r>
            <a:r>
              <a:rPr lang="en-IN" dirty="0"/>
              <a:t> In e-commerce, most customers only buy a tiny fraction of total products. This "sparsity" makes it difficult for the algorithm to find strong rules without setting the </a:t>
            </a:r>
            <a:r>
              <a:rPr lang="en-IN" i="1" dirty="0"/>
              <a:t>support threshold extremely low, which then leads to memory issues</a:t>
            </a:r>
            <a:r>
              <a:rPr lang="en-IN" dirty="0"/>
              <a:t>.</a:t>
            </a:r>
          </a:p>
          <a:p>
            <a:r>
              <a:rPr lang="en-IN" b="1" dirty="0"/>
              <a:t>Memory Intensive:</a:t>
            </a:r>
            <a:r>
              <a:rPr lang="en-IN" dirty="0"/>
              <a:t> Storing massive candidate </a:t>
            </a:r>
            <a:r>
              <a:rPr lang="en-IN" dirty="0" smtClean="0"/>
              <a:t>hashes can </a:t>
            </a:r>
            <a:r>
              <a:rPr lang="en-IN" dirty="0"/>
              <a:t>crash systems with limited RAM when processing millions of </a:t>
            </a:r>
            <a:r>
              <a:rPr lang="en-IN" dirty="0" smtClean="0"/>
              <a:t>transactions.</a:t>
            </a:r>
            <a:endParaRPr lang="en-IN" dirty="0"/>
          </a:p>
        </p:txBody>
      </p:sp>
    </p:spTree>
    <p:extLst>
      <p:ext uri="{BB962C8B-B14F-4D97-AF65-F5344CB8AC3E}">
        <p14:creationId xmlns:p14="http://schemas.microsoft.com/office/powerpoint/2010/main" val="10508181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77862"/>
          </a:xfrm>
        </p:spPr>
        <p:txBody>
          <a:bodyPr>
            <a:normAutofit fontScale="90000"/>
          </a:bodyPr>
          <a:lstStyle/>
          <a:p>
            <a:r>
              <a:rPr lang="en-IN" b="1" dirty="0" smtClean="0"/>
              <a:t>The </a:t>
            </a:r>
            <a:r>
              <a:rPr lang="en-IN" b="1" dirty="0"/>
              <a:t>Mathematical </a:t>
            </a:r>
            <a:r>
              <a:rPr lang="en-IN" b="1" dirty="0" smtClean="0"/>
              <a:t>Triple</a:t>
            </a:r>
            <a:endParaRPr lang="en-IN" dirty="0"/>
          </a:p>
        </p:txBody>
      </p:sp>
      <p:sp>
        <p:nvSpPr>
          <p:cNvPr id="3" name="Content Placeholder 2"/>
          <p:cNvSpPr>
            <a:spLocks noGrp="1"/>
          </p:cNvSpPr>
          <p:nvPr>
            <p:ph idx="1"/>
          </p:nvPr>
        </p:nvSpPr>
        <p:spPr>
          <a:xfrm>
            <a:off x="457200" y="1117600"/>
            <a:ext cx="8229600" cy="5740400"/>
          </a:xfrm>
        </p:spPr>
        <p:txBody>
          <a:bodyPr>
            <a:normAutofit fontScale="77500" lnSpcReduction="20000"/>
          </a:bodyPr>
          <a:lstStyle/>
          <a:p>
            <a:pPr marL="0" indent="0">
              <a:buNone/>
            </a:pPr>
            <a:r>
              <a:rPr lang="en-IN" dirty="0" smtClean="0"/>
              <a:t>While </a:t>
            </a:r>
            <a:r>
              <a:rPr lang="en-IN" dirty="0"/>
              <a:t>support and confidence are fundamental, "Lift" and "Conviction" provide deeper insights into rule significance. </a:t>
            </a:r>
          </a:p>
          <a:p>
            <a:r>
              <a:rPr lang="en-IN" b="1" dirty="0"/>
              <a:t>Lift (Correlation):</a:t>
            </a:r>
            <a:r>
              <a:rPr lang="en-IN" dirty="0"/>
              <a:t> Measures how much more likely item </a:t>
            </a:r>
            <a:r>
              <a:rPr lang="en-IN" dirty="0" smtClean="0"/>
              <a:t> B is </a:t>
            </a:r>
            <a:r>
              <a:rPr lang="en-IN" dirty="0"/>
              <a:t>purchased when </a:t>
            </a:r>
            <a:r>
              <a:rPr lang="en-IN" dirty="0" smtClean="0"/>
              <a:t> A is </a:t>
            </a:r>
            <a:r>
              <a:rPr lang="en-IN" dirty="0"/>
              <a:t>purchased, compared to its random occurrence.</a:t>
            </a:r>
          </a:p>
          <a:p>
            <a:pPr lvl="1"/>
            <a:r>
              <a:rPr lang="en-IN" b="1" dirty="0"/>
              <a:t>Formula:</a:t>
            </a:r>
            <a:r>
              <a:rPr lang="en-IN" dirty="0"/>
              <a:t> </a:t>
            </a:r>
          </a:p>
          <a:p>
            <a:pPr lvl="1"/>
            <a:endParaRPr lang="en-IN" b="1" dirty="0" smtClean="0"/>
          </a:p>
          <a:p>
            <a:pPr lvl="1"/>
            <a:endParaRPr lang="en-IN" b="1" dirty="0" smtClean="0"/>
          </a:p>
          <a:p>
            <a:pPr lvl="1"/>
            <a:r>
              <a:rPr lang="en-IN" b="1" dirty="0" smtClean="0"/>
              <a:t>Interpretation</a:t>
            </a:r>
            <a:r>
              <a:rPr lang="en-IN" b="1" dirty="0"/>
              <a:t>:</a:t>
            </a:r>
            <a:endParaRPr lang="en-IN" dirty="0"/>
          </a:p>
          <a:p>
            <a:pPr marL="914400" lvl="2" indent="0">
              <a:buNone/>
            </a:pPr>
            <a:r>
              <a:rPr lang="en-IN" dirty="0" smtClean="0"/>
              <a:t>&gt; 1 </a:t>
            </a:r>
            <a:r>
              <a:rPr lang="en-IN" dirty="0"/>
              <a:t>Positive correlation (items "pull" each other).</a:t>
            </a:r>
          </a:p>
          <a:p>
            <a:pPr marL="914400" lvl="2" indent="0">
              <a:buNone/>
            </a:pPr>
            <a:r>
              <a:rPr lang="en-IN" dirty="0" smtClean="0"/>
              <a:t>= 1 Independence </a:t>
            </a:r>
            <a:r>
              <a:rPr lang="en-IN" dirty="0"/>
              <a:t>(no association).</a:t>
            </a:r>
          </a:p>
          <a:p>
            <a:pPr marL="914400" lvl="2" indent="0">
              <a:buNone/>
            </a:pPr>
            <a:r>
              <a:rPr lang="en-IN" dirty="0" smtClean="0"/>
              <a:t>&lt; 1 Negative </a:t>
            </a:r>
            <a:r>
              <a:rPr lang="en-IN" dirty="0"/>
              <a:t>correlation (items "repel" each other</a:t>
            </a:r>
            <a:r>
              <a:rPr lang="en-IN" dirty="0" smtClean="0"/>
              <a:t>).</a:t>
            </a:r>
            <a:endParaRPr lang="en-IN" dirty="0"/>
          </a:p>
          <a:p>
            <a:pPr marL="914400" lvl="2" indent="0">
              <a:buNone/>
            </a:pPr>
            <a:endParaRPr lang="en-IN" b="1" dirty="0" smtClean="0"/>
          </a:p>
          <a:p>
            <a:pPr marL="0" indent="0">
              <a:buNone/>
            </a:pPr>
            <a:r>
              <a:rPr lang="en-IN" b="1" dirty="0" smtClean="0"/>
              <a:t>The </a:t>
            </a:r>
            <a:r>
              <a:rPr lang="en-IN" b="1" dirty="0"/>
              <a:t>"Anti-Monotonicity" Principle:</a:t>
            </a:r>
            <a:r>
              <a:rPr lang="en-IN" dirty="0"/>
              <a:t> If an itemset is infrequent, all of its supersets are guaranteed to be infrequent. This mathematical property allows the algorithm to prune vast search spaces early.</a:t>
            </a:r>
            <a:endParaRPr lang="en-IN" dirty="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1949" y="2959100"/>
            <a:ext cx="419139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06227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The Problem with </a:t>
            </a:r>
            <a:r>
              <a:rPr lang="en-IN" b="1" dirty="0" smtClean="0"/>
              <a:t>Confidence</a:t>
            </a:r>
            <a:endParaRPr lang="en-IN" dirty="0"/>
          </a:p>
        </p:txBody>
      </p:sp>
      <p:sp>
        <p:nvSpPr>
          <p:cNvPr id="3" name="Content Placeholder 2"/>
          <p:cNvSpPr>
            <a:spLocks noGrp="1"/>
          </p:cNvSpPr>
          <p:nvPr>
            <p:ph idx="1"/>
          </p:nvPr>
        </p:nvSpPr>
        <p:spPr>
          <a:xfrm>
            <a:off x="457200" y="1600200"/>
            <a:ext cx="8229600" cy="5118100"/>
          </a:xfrm>
        </p:spPr>
        <p:txBody>
          <a:bodyPr>
            <a:normAutofit fontScale="92500" lnSpcReduction="10000"/>
          </a:bodyPr>
          <a:lstStyle/>
          <a:p>
            <a:pPr marL="0" indent="0">
              <a:buNone/>
            </a:pPr>
            <a:r>
              <a:rPr lang="en-IN" sz="2800" dirty="0" smtClean="0"/>
              <a:t>Confidence </a:t>
            </a:r>
            <a:r>
              <a:rPr lang="en-IN" sz="2800" dirty="0"/>
              <a:t>can be misleading because it ignores how popular the "consequent" (the item being predicted) is in general. If almost everyone buys an item (like Milk), any rule leading to Milk will have high confidence, even if the items are actually negatively correlated</a:t>
            </a:r>
          </a:p>
          <a:p>
            <a:r>
              <a:rPr lang="en-IN" dirty="0"/>
              <a:t>Imagine a dataset of 10 customer transactions at a grocery store:</a:t>
            </a:r>
          </a:p>
          <a:p>
            <a:pPr lvl="1"/>
            <a:r>
              <a:rPr lang="en-IN" b="1" dirty="0"/>
              <a:t>6</a:t>
            </a:r>
            <a:r>
              <a:rPr lang="en-IN" dirty="0"/>
              <a:t> people buy </a:t>
            </a:r>
            <a:r>
              <a:rPr lang="en-IN" b="1" dirty="0"/>
              <a:t>Bread</a:t>
            </a:r>
            <a:r>
              <a:rPr lang="en-IN" dirty="0"/>
              <a:t> ( Support = 0.6)</a:t>
            </a:r>
          </a:p>
          <a:p>
            <a:pPr lvl="1"/>
            <a:r>
              <a:rPr lang="en-IN" b="1" dirty="0" smtClean="0"/>
              <a:t>8</a:t>
            </a:r>
            <a:r>
              <a:rPr lang="en-IN" dirty="0"/>
              <a:t> people buy </a:t>
            </a:r>
            <a:r>
              <a:rPr lang="en-IN" b="1" dirty="0" smtClean="0"/>
              <a:t>Milk </a:t>
            </a:r>
            <a:r>
              <a:rPr lang="en-IN" dirty="0"/>
              <a:t> ( Support = </a:t>
            </a:r>
            <a:r>
              <a:rPr lang="en-IN" dirty="0" smtClean="0"/>
              <a:t>0.8)</a:t>
            </a:r>
            <a:endParaRPr lang="en-IN" dirty="0"/>
          </a:p>
          <a:p>
            <a:pPr lvl="1"/>
            <a:r>
              <a:rPr lang="en-IN" b="1" dirty="0"/>
              <a:t>4</a:t>
            </a:r>
            <a:r>
              <a:rPr lang="en-IN" dirty="0"/>
              <a:t> people </a:t>
            </a:r>
            <a:r>
              <a:rPr lang="en-IN" dirty="0" smtClean="0"/>
              <a:t>buyboth </a:t>
            </a:r>
            <a:r>
              <a:rPr lang="en-IN" dirty="0"/>
              <a:t> </a:t>
            </a:r>
            <a:r>
              <a:rPr lang="en-IN" b="1" dirty="0" smtClean="0"/>
              <a:t>Bread &amp; Milk </a:t>
            </a:r>
            <a:r>
              <a:rPr lang="en-IN" dirty="0"/>
              <a:t> </a:t>
            </a:r>
            <a:r>
              <a:rPr lang="en-IN" dirty="0" smtClean="0"/>
              <a:t>( Support = 0.4)</a:t>
            </a:r>
            <a:endParaRPr lang="en-IN" dirty="0"/>
          </a:p>
          <a:p>
            <a:r>
              <a:rPr lang="en-IN" dirty="0" smtClean="0"/>
              <a:t>Let's </a:t>
            </a:r>
            <a:r>
              <a:rPr lang="en-IN" dirty="0"/>
              <a:t>evaluate the rule: </a:t>
            </a:r>
            <a:r>
              <a:rPr lang="en-IN" b="1" dirty="0"/>
              <a:t>If a customer buys Bread, they will also buy Milk (Bread </a:t>
            </a:r>
            <a:r>
              <a:rPr lang="en-IN" b="1" dirty="0" smtClean="0"/>
              <a:t>-&gt;</a:t>
            </a:r>
            <a:r>
              <a:rPr lang="en-IN" b="1" dirty="0"/>
              <a:t> Milk).</a:t>
            </a:r>
            <a:endParaRPr lang="en-IN" dirty="0"/>
          </a:p>
          <a:p>
            <a:pPr lvl="1"/>
            <a:endParaRPr lang="en-IN" dirty="0"/>
          </a:p>
        </p:txBody>
      </p:sp>
    </p:spTree>
    <p:extLst>
      <p:ext uri="{BB962C8B-B14F-4D97-AF65-F5344CB8AC3E}">
        <p14:creationId xmlns:p14="http://schemas.microsoft.com/office/powerpoint/2010/main" val="8592725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42900"/>
            <a:ext cx="8229600" cy="6350000"/>
          </a:xfrm>
        </p:spPr>
        <p:txBody>
          <a:bodyPr>
            <a:normAutofit fontScale="92500" lnSpcReduction="20000"/>
          </a:bodyPr>
          <a:lstStyle/>
          <a:p>
            <a:r>
              <a:rPr lang="en-IN" dirty="0" smtClean="0"/>
              <a:t>Confidence ( B -&gt; M ) </a:t>
            </a:r>
          </a:p>
          <a:p>
            <a:pPr lvl="1"/>
            <a:r>
              <a:rPr lang="en-IN" dirty="0" smtClean="0"/>
              <a:t>Probability of buying milk, given they bought bread</a:t>
            </a:r>
          </a:p>
          <a:p>
            <a:pPr marL="457200" lvl="1" indent="0">
              <a:buNone/>
            </a:pPr>
            <a:endParaRPr lang="en-IN" dirty="0" smtClean="0"/>
          </a:p>
          <a:p>
            <a:pPr marL="457200" lvl="1" indent="0">
              <a:buNone/>
            </a:pPr>
            <a:r>
              <a:rPr lang="en-IN" b="1" i="1" dirty="0" smtClean="0"/>
              <a:t>Conf = Support( B ∪ M ) / Support(B) = .4/.6 = 66.7% </a:t>
            </a:r>
          </a:p>
          <a:p>
            <a:pPr marL="457200" lvl="1" indent="0">
              <a:buNone/>
            </a:pPr>
            <a:endParaRPr lang="en-IN" dirty="0" smtClean="0"/>
          </a:p>
          <a:p>
            <a:pPr lvl="1"/>
            <a:r>
              <a:rPr lang="en-IN" dirty="0" smtClean="0"/>
              <a:t>Interpretation : In your store 66.7% bread buyers also pick up milk. Great!!!</a:t>
            </a:r>
          </a:p>
          <a:p>
            <a:endParaRPr lang="en-IN" dirty="0" smtClean="0"/>
          </a:p>
          <a:p>
            <a:r>
              <a:rPr lang="en-IN" dirty="0" smtClean="0"/>
              <a:t>Lift ( Correlation ) </a:t>
            </a:r>
          </a:p>
          <a:p>
            <a:pPr lvl="1"/>
            <a:r>
              <a:rPr lang="en-IN" dirty="0" smtClean="0"/>
              <a:t>Compares confidence of to the base probability of buying Milk</a:t>
            </a:r>
          </a:p>
          <a:p>
            <a:pPr lvl="1"/>
            <a:endParaRPr lang="en-IN" dirty="0" smtClean="0"/>
          </a:p>
          <a:p>
            <a:pPr marL="457200" lvl="1" indent="0">
              <a:buNone/>
            </a:pPr>
            <a:r>
              <a:rPr lang="en-IN" b="1" i="1" dirty="0" smtClean="0"/>
              <a:t>Lift = Confidence(B -&gt; M)/Support(M) = .667/.8 = .83</a:t>
            </a:r>
          </a:p>
          <a:p>
            <a:pPr lvl="1"/>
            <a:endParaRPr lang="en-IN" dirty="0" smtClean="0"/>
          </a:p>
          <a:p>
            <a:pPr lvl="1"/>
            <a:r>
              <a:rPr lang="en-IN" dirty="0" smtClean="0"/>
              <a:t>Interpretation: &lt; 1 indicating a negative correlation </a:t>
            </a:r>
          </a:p>
          <a:p>
            <a:endParaRPr lang="en-IN" b="1" dirty="0" smtClean="0"/>
          </a:p>
        </p:txBody>
      </p:sp>
    </p:spTree>
    <p:extLst>
      <p:ext uri="{BB962C8B-B14F-4D97-AF65-F5344CB8AC3E}">
        <p14:creationId xmlns:p14="http://schemas.microsoft.com/office/powerpoint/2010/main" val="37741152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Aha Moment!!! </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dirty="0" smtClean="0"/>
              <a:t>Even </a:t>
            </a:r>
            <a:r>
              <a:rPr lang="en-IN" dirty="0"/>
              <a:t>though the </a:t>
            </a:r>
            <a:r>
              <a:rPr lang="en-IN" dirty="0" smtClean="0"/>
              <a:t>confidence of </a:t>
            </a:r>
            <a:r>
              <a:rPr lang="en-IN" i="1" dirty="0" smtClean="0"/>
              <a:t>B -&gt; M</a:t>
            </a:r>
            <a:r>
              <a:rPr lang="en-IN" dirty="0" smtClean="0"/>
              <a:t> </a:t>
            </a:r>
            <a:r>
              <a:rPr lang="en-IN" dirty="0"/>
              <a:t>is high (66.7%), it is actually </a:t>
            </a:r>
            <a:r>
              <a:rPr lang="en-IN" b="1" dirty="0"/>
              <a:t>lower</a:t>
            </a:r>
            <a:r>
              <a:rPr lang="en-IN" dirty="0"/>
              <a:t> than the average probability of buying Milk in the store (80%). </a:t>
            </a:r>
          </a:p>
          <a:p>
            <a:pPr marL="0" indent="0">
              <a:buNone/>
            </a:pPr>
            <a:r>
              <a:rPr lang="en-IN" dirty="0"/>
              <a:t>In this specific data, </a:t>
            </a:r>
            <a:r>
              <a:rPr lang="en-IN" i="1" dirty="0"/>
              <a:t>buying Bread actually makes a customer less likely to buy Milk </a:t>
            </a:r>
            <a:r>
              <a:rPr lang="en-IN" dirty="0"/>
              <a:t>than a random </a:t>
            </a:r>
            <a:r>
              <a:rPr lang="en-IN" dirty="0" smtClean="0"/>
              <a:t>shopper</a:t>
            </a:r>
          </a:p>
          <a:p>
            <a:r>
              <a:rPr lang="en-IN" dirty="0" smtClean="0"/>
              <a:t>80% of the customers who come to store buys milk</a:t>
            </a:r>
          </a:p>
          <a:p>
            <a:r>
              <a:rPr lang="en-IN" dirty="0" smtClean="0"/>
              <a:t>But when someone buys bread his probability of buying milk  drops from 80% to 66.7% </a:t>
            </a:r>
            <a:endParaRPr lang="en-IN" dirty="0"/>
          </a:p>
        </p:txBody>
      </p:sp>
    </p:spTree>
    <p:extLst>
      <p:ext uri="{BB962C8B-B14F-4D97-AF65-F5344CB8AC3E}">
        <p14:creationId xmlns:p14="http://schemas.microsoft.com/office/powerpoint/2010/main" val="37128265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 y="990600"/>
            <a:ext cx="8940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72780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Apriori </a:t>
            </a:r>
            <a:r>
              <a:rPr dirty="0"/>
              <a:t>Pseudocode</a:t>
            </a:r>
          </a:p>
        </p:txBody>
      </p:sp>
      <p:sp>
        <p:nvSpPr>
          <p:cNvPr id="3" name="Content Placeholder 2"/>
          <p:cNvSpPr>
            <a:spLocks noGrp="1"/>
          </p:cNvSpPr>
          <p:nvPr>
            <p:ph idx="1"/>
          </p:nvPr>
        </p:nvSpPr>
        <p:spPr/>
        <p:txBody>
          <a:bodyPr>
            <a:normAutofit/>
          </a:bodyPr>
          <a:lstStyle/>
          <a:p>
            <a:pPr marL="0" indent="0">
              <a:buNone/>
            </a:pPr>
            <a:r>
              <a:rPr dirty="0"/>
              <a:t>L1 = frequent 1-itemsets</a:t>
            </a:r>
          </a:p>
          <a:p>
            <a:pPr marL="0" indent="0">
              <a:buNone/>
            </a:pPr>
            <a:r>
              <a:rPr dirty="0"/>
              <a:t>k=2</a:t>
            </a:r>
          </a:p>
          <a:p>
            <a:pPr marL="0" indent="0">
              <a:buNone/>
            </a:pPr>
            <a:r>
              <a:rPr dirty="0"/>
              <a:t>while Lk-1 ≠ ∅:</a:t>
            </a:r>
          </a:p>
          <a:p>
            <a:pPr marL="400050" lvl="1" indent="0">
              <a:buNone/>
            </a:pPr>
            <a:r>
              <a:rPr dirty="0"/>
              <a:t> Ck = apriori_gen(Lk-1)</a:t>
            </a:r>
          </a:p>
          <a:p>
            <a:pPr marL="400050" lvl="1" indent="0">
              <a:buNone/>
            </a:pPr>
            <a:r>
              <a:rPr dirty="0"/>
              <a:t> count supports</a:t>
            </a:r>
          </a:p>
          <a:p>
            <a:pPr marL="400050" lvl="1" indent="0">
              <a:buNone/>
            </a:pPr>
            <a:r>
              <a:rPr dirty="0"/>
              <a:t> Lk = minsup candidates</a:t>
            </a:r>
          </a:p>
          <a:p>
            <a:pPr marL="400050" lvl="1" indent="0">
              <a:buNone/>
            </a:pPr>
            <a:r>
              <a:rPr dirty="0"/>
              <a:t> k++</a:t>
            </a:r>
          </a:p>
          <a:p>
            <a:pPr marL="0" indent="0">
              <a:buNone/>
            </a:pPr>
            <a:r>
              <a:rPr dirty="0"/>
              <a:t>return </a:t>
            </a:r>
            <a:r>
              <a:rPr dirty="0" smtClean="0"/>
              <a:t>⋃</a:t>
            </a:r>
            <a:r>
              <a:rPr lang="en-IN" dirty="0" smtClean="0"/>
              <a:t> </a:t>
            </a:r>
            <a:r>
              <a:rPr dirty="0" smtClean="0"/>
              <a:t>Lk</a:t>
            </a:r>
            <a:endParaRP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apriori_gen</a:t>
            </a:r>
            <a:endParaRPr dirty="0"/>
          </a:p>
        </p:txBody>
      </p:sp>
      <p:sp>
        <p:nvSpPr>
          <p:cNvPr id="3" name="Content Placeholder 2"/>
          <p:cNvSpPr>
            <a:spLocks noGrp="1"/>
          </p:cNvSpPr>
          <p:nvPr>
            <p:ph idx="1"/>
          </p:nvPr>
        </p:nvSpPr>
        <p:spPr/>
        <p:txBody>
          <a:bodyPr/>
          <a:lstStyle/>
          <a:p>
            <a:pPr marL="0" indent="0">
              <a:buNone/>
            </a:pPr>
            <a:r>
              <a:rPr lang="en-IN" dirty="0" smtClean="0"/>
              <a:t>Steps </a:t>
            </a:r>
          </a:p>
          <a:p>
            <a:pPr marL="0" indent="0">
              <a:buNone/>
            </a:pPr>
            <a:endParaRPr lang="en-IN" dirty="0" smtClean="0"/>
          </a:p>
          <a:p>
            <a:pPr marL="571500" indent="-514350">
              <a:buFont typeface="+mj-lt"/>
              <a:buAutoNum type="arabicPeriod"/>
            </a:pPr>
            <a:r>
              <a:rPr dirty="0" smtClean="0"/>
              <a:t>Join</a:t>
            </a:r>
            <a:r>
              <a:rPr dirty="0"/>
              <a:t>: C</a:t>
            </a:r>
            <a:r>
              <a:rPr baseline="-25000" dirty="0"/>
              <a:t>k</a:t>
            </a:r>
            <a:r>
              <a:rPr dirty="0"/>
              <a:t> = L</a:t>
            </a:r>
            <a:r>
              <a:rPr baseline="-25000" dirty="0"/>
              <a:t>k-1</a:t>
            </a:r>
            <a:r>
              <a:rPr dirty="0"/>
              <a:t> ⋈ L</a:t>
            </a:r>
            <a:r>
              <a:rPr baseline="-25000" dirty="0"/>
              <a:t>k-1</a:t>
            </a:r>
          </a:p>
          <a:p>
            <a:pPr marL="571500" indent="-514350">
              <a:buFont typeface="+mj-lt"/>
              <a:buAutoNum type="arabicPeriod"/>
            </a:pPr>
            <a:endParaRPr lang="en-IN" dirty="0" smtClean="0"/>
          </a:p>
          <a:p>
            <a:pPr marL="571500" indent="-514350">
              <a:buFont typeface="+mj-lt"/>
              <a:buAutoNum type="arabicPeriod"/>
            </a:pPr>
            <a:r>
              <a:rPr dirty="0" smtClean="0"/>
              <a:t>Prune</a:t>
            </a:r>
            <a:r>
              <a:rPr dirty="0"/>
              <a:t>: </a:t>
            </a:r>
            <a:r>
              <a:rPr lang="en-IN" dirty="0"/>
              <a:t>Remove c ∈ C</a:t>
            </a:r>
            <a:r>
              <a:rPr lang="en-IN" baseline="-25000" dirty="0"/>
              <a:t>k</a:t>
            </a:r>
            <a:r>
              <a:rPr lang="en-IN" dirty="0"/>
              <a:t> if any (k−1)-subset of c ∉ L</a:t>
            </a:r>
            <a:r>
              <a:rPr lang="en-IN" baseline="-25000" dirty="0"/>
              <a:t>k−</a:t>
            </a:r>
            <a:r>
              <a:rPr lang="en-IN" baseline="-25000" dirty="0" smtClean="0"/>
              <a:t>1</a:t>
            </a:r>
            <a:endParaRPr lang="en-IN" dirty="0"/>
          </a:p>
          <a:p>
            <a:pPr marL="57150" indent="0">
              <a:buNone/>
            </a:pPr>
            <a:r>
              <a:rPr lang="en-IN" dirty="0" smtClean="0"/>
              <a:t>Mathematically </a:t>
            </a:r>
          </a:p>
          <a:p>
            <a:pPr marL="971550" lvl="1" indent="-514350">
              <a:buFont typeface="+mj-lt"/>
              <a:buAutoNum type="arabicPeriod"/>
            </a:pPr>
            <a:endParaRPr lang="en-IN" dirty="0" smtClean="0"/>
          </a:p>
          <a:p>
            <a:pPr marL="571500" indent="-514350">
              <a:buFont typeface="+mj-lt"/>
              <a:buAutoNum type="arabicPeriod"/>
            </a:pPr>
            <a:endParaRP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595" y="5853112"/>
            <a:ext cx="8215305"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19445</TotalTime>
  <Words>927</Words>
  <Application>Microsoft Office PowerPoint</Application>
  <PresentationFormat>On-screen Show (4:3)</PresentationFormat>
  <Paragraphs>176</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Association Rule Mining</vt:lpstr>
      <vt:lpstr>Why Apriori? (Motivation)</vt:lpstr>
      <vt:lpstr>Transactional Data Model</vt:lpstr>
      <vt:lpstr>Definitions: Itemsets &amp; Support</vt:lpstr>
      <vt:lpstr>Apriori Principle (Downward Closure)</vt:lpstr>
      <vt:lpstr>Apriori Algorithm: High-Level Idea</vt:lpstr>
      <vt:lpstr>Step 1. Frequent 1‑Itemsets (L1)</vt:lpstr>
      <vt:lpstr>Step 2. Candidate Generation (C2)</vt:lpstr>
      <vt:lpstr>Step 3.  Support Counting for C2</vt:lpstr>
      <vt:lpstr>Step 4. Candidate Generation for 3‑Itemsets</vt:lpstr>
      <vt:lpstr>Attempt C4</vt:lpstr>
      <vt:lpstr>Industrial Challenges &amp; Real-World Friction</vt:lpstr>
      <vt:lpstr>The Mathematical Triple</vt:lpstr>
      <vt:lpstr>The Problem with Confidence</vt:lpstr>
      <vt:lpstr>PowerPoint Presentation</vt:lpstr>
      <vt:lpstr>Aha Moment!!! </vt:lpstr>
      <vt:lpstr>PowerPoint Presentation</vt:lpstr>
      <vt:lpstr>Apriori Pseudocode</vt:lpstr>
      <vt:lpstr>apriori_gen</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Association Rule Mining</dc:title>
  <dc:creator>Prasenjit Mukherjee</dc:creator>
  <dc:description>generated using python-pptx</dc:description>
  <cp:lastModifiedBy>Prasenjit Mukherjee</cp:lastModifiedBy>
  <cp:revision>20</cp:revision>
  <dcterms:created xsi:type="dcterms:W3CDTF">2013-01-27T09:14:16Z</dcterms:created>
  <dcterms:modified xsi:type="dcterms:W3CDTF">2026-04-06T10:45:41Z</dcterms:modified>
</cp:coreProperties>
</file>