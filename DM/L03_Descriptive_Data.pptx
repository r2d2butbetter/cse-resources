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2" r:id="rId10"/>
    <p:sldId id="264" r:id="rId11"/>
    <p:sldId id="265" r:id="rId12"/>
    <p:sldId id="266" r:id="rId13"/>
    <p:sldId id="267" r:id="rId14"/>
    <p:sldId id="268" r:id="rId15"/>
    <p:sldId id="270" r:id="rId16"/>
    <p:sldId id="274" r:id="rId17"/>
    <p:sldId id="273" r:id="rId18"/>
    <p:sldId id="275" r:id="rId19"/>
    <p:sldId id="276" r:id="rId20"/>
    <p:sldId id="288" r:id="rId21"/>
    <p:sldId id="315" r:id="rId22"/>
    <p:sldId id="277" r:id="rId23"/>
    <p:sldId id="278" r:id="rId24"/>
    <p:sldId id="279" r:id="rId25"/>
    <p:sldId id="312" r:id="rId26"/>
    <p:sldId id="313" r:id="rId27"/>
    <p:sldId id="297" r:id="rId28"/>
    <p:sldId id="280" r:id="rId29"/>
    <p:sldId id="314" r:id="rId30"/>
    <p:sldId id="281" r:id="rId31"/>
    <p:sldId id="282" r:id="rId32"/>
    <p:sldId id="283" r:id="rId33"/>
    <p:sldId id="284" r:id="rId34"/>
    <p:sldId id="285" r:id="rId35"/>
    <p:sldId id="286" r:id="rId36"/>
    <p:sldId id="287" r:id="rId37"/>
    <p:sldId id="289" r:id="rId38"/>
    <p:sldId id="290" r:id="rId39"/>
    <p:sldId id="291" r:id="rId40"/>
    <p:sldId id="292" r:id="rId41"/>
    <p:sldId id="294" r:id="rId42"/>
    <p:sldId id="295" r:id="rId43"/>
    <p:sldId id="296" r:id="rId44"/>
    <p:sldId id="298" r:id="rId45"/>
    <p:sldId id="299" r:id="rId46"/>
    <p:sldId id="300" r:id="rId47"/>
    <p:sldId id="316" r:id="rId48"/>
    <p:sldId id="301" r:id="rId49"/>
    <p:sldId id="302" r:id="rId50"/>
    <p:sldId id="303" r:id="rId51"/>
    <p:sldId id="304" r:id="rId52"/>
    <p:sldId id="317" r:id="rId53"/>
    <p:sldId id="318" r:id="rId54"/>
    <p:sldId id="305" r:id="rId55"/>
    <p:sldId id="306"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A5EF3E0-6221-460B-9C0A-BEE359BB4083}"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4237831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5EF3E0-6221-460B-9C0A-BEE359BB4083}"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518751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5EF3E0-6221-460B-9C0A-BEE359BB4083}"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3110120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A5EF3E0-6221-460B-9C0A-BEE359BB4083}"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1737887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A5EF3E0-6221-460B-9C0A-BEE359BB4083}" type="datetimeFigureOut">
              <a:rPr lang="en-IN" smtClean="0"/>
              <a:t>27-01-2026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13277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A5EF3E0-6221-460B-9C0A-BEE359BB4083}" type="datetimeFigureOut">
              <a:rPr lang="en-IN" smtClean="0"/>
              <a:t>27-01-2026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48632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5EF3E0-6221-460B-9C0A-BEE359BB4083}" type="datetimeFigureOut">
              <a:rPr lang="en-IN" smtClean="0"/>
              <a:t>27-01-2026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2133045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5EF3E0-6221-460B-9C0A-BEE359BB4083}"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398278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5EF3E0-6221-460B-9C0A-BEE359BB4083}" type="datetimeFigureOut">
              <a:rPr lang="en-IN" smtClean="0"/>
              <a:t>27-01-2026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2555575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5EF3E0-6221-460B-9C0A-BEE359BB4083}"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2493290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5EF3E0-6221-460B-9C0A-BEE359BB4083}" type="datetimeFigureOut">
              <a:rPr lang="en-IN" smtClean="0"/>
              <a:t>27-01-2026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792DBE-A348-41AE-950F-E828021AEE4C}" type="slidenum">
              <a:rPr lang="en-IN" smtClean="0"/>
              <a:t>‹#›</a:t>
            </a:fld>
            <a:endParaRPr lang="en-IN"/>
          </a:p>
        </p:txBody>
      </p:sp>
    </p:spTree>
    <p:extLst>
      <p:ext uri="{BB962C8B-B14F-4D97-AF65-F5344CB8AC3E}">
        <p14:creationId xmlns:p14="http://schemas.microsoft.com/office/powerpoint/2010/main" val="2518052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5EF3E0-6221-460B-9C0A-BEE359BB4083}" type="datetimeFigureOut">
              <a:rPr lang="en-IN" smtClean="0"/>
              <a:t>27-01-2026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792DBE-A348-41AE-950F-E828021AEE4C}" type="slidenum">
              <a:rPr lang="en-IN" smtClean="0"/>
              <a:t>‹#›</a:t>
            </a:fld>
            <a:endParaRPr lang="en-IN"/>
          </a:p>
        </p:txBody>
      </p:sp>
    </p:spTree>
    <p:extLst>
      <p:ext uri="{BB962C8B-B14F-4D97-AF65-F5344CB8AC3E}">
        <p14:creationId xmlns:p14="http://schemas.microsoft.com/office/powerpoint/2010/main" val="3082401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tatisticshowto.com/symmetric-distribu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statisticsbyjim.com/basics/skewed-distribu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b="1" dirty="0" smtClean="0"/>
              <a:t>Descriptive </a:t>
            </a:r>
            <a:r>
              <a:rPr lang="en-IN" b="1" dirty="0"/>
              <a:t>Data </a:t>
            </a:r>
            <a:r>
              <a:rPr lang="en-IN" b="1" dirty="0" smtClean="0"/>
              <a:t>Summarization</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8927428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Why Descriptive Statistics in Data Mining</a:t>
            </a:r>
            <a:r>
              <a:rPr lang="en-IN" b="1" dirty="0" smtClean="0"/>
              <a:t>?</a:t>
            </a:r>
            <a:endParaRPr lang="en-IN" dirty="0"/>
          </a:p>
        </p:txBody>
      </p:sp>
      <p:sp>
        <p:nvSpPr>
          <p:cNvPr id="3" name="Content Placeholder 2"/>
          <p:cNvSpPr>
            <a:spLocks noGrp="1"/>
          </p:cNvSpPr>
          <p:nvPr>
            <p:ph idx="1"/>
          </p:nvPr>
        </p:nvSpPr>
        <p:spPr/>
        <p:txBody>
          <a:bodyPr>
            <a:normAutofit fontScale="92500"/>
          </a:bodyPr>
          <a:lstStyle/>
          <a:p>
            <a:r>
              <a:rPr lang="en-IN" b="1" dirty="0"/>
              <a:t>The First Step in KDD Process:</a:t>
            </a:r>
            <a:endParaRPr lang="en-IN" dirty="0"/>
          </a:p>
          <a:p>
            <a:pPr lvl="1"/>
            <a:r>
              <a:rPr lang="en-IN" dirty="0"/>
              <a:t>Before mining patterns, we must understand our data</a:t>
            </a:r>
          </a:p>
          <a:p>
            <a:pPr lvl="1"/>
            <a:r>
              <a:rPr lang="en-IN" dirty="0"/>
              <a:t>Descriptive statistics provide a quantitative summary</a:t>
            </a:r>
          </a:p>
          <a:p>
            <a:pPr lvl="1"/>
            <a:r>
              <a:rPr lang="en-IN" dirty="0"/>
              <a:t>Helps identify data quality issues early</a:t>
            </a:r>
          </a:p>
          <a:p>
            <a:pPr lvl="1"/>
            <a:r>
              <a:rPr lang="en-IN" dirty="0"/>
              <a:t>Guides selection of appropriate mining algorithms</a:t>
            </a:r>
          </a:p>
          <a:p>
            <a:pPr lvl="1"/>
            <a:r>
              <a:rPr lang="en-IN" dirty="0"/>
              <a:t>Basis for data cleaning and preprocessing decisions</a:t>
            </a:r>
          </a:p>
          <a:p>
            <a:r>
              <a:rPr lang="en-IN" b="1" dirty="0"/>
              <a:t>Analogy:</a:t>
            </a:r>
            <a:r>
              <a:rPr lang="en-IN" dirty="0"/>
              <a:t> "You wouldn't start digging for treasure without first surveying the land</a:t>
            </a:r>
            <a:r>
              <a:rPr lang="en-IN" dirty="0" smtClean="0"/>
              <a:t>"</a:t>
            </a:r>
            <a:endParaRPr lang="en-IN" dirty="0"/>
          </a:p>
        </p:txBody>
      </p:sp>
    </p:spTree>
    <p:extLst>
      <p:ext uri="{BB962C8B-B14F-4D97-AF65-F5344CB8AC3E}">
        <p14:creationId xmlns:p14="http://schemas.microsoft.com/office/powerpoint/2010/main" val="34759777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Types of Data - Quick </a:t>
            </a:r>
            <a:r>
              <a:rPr lang="en-IN" b="1" dirty="0" smtClean="0"/>
              <a:t>Review</a:t>
            </a:r>
            <a:endParaRPr lang="en-IN" dirty="0"/>
          </a:p>
        </p:txBody>
      </p:sp>
      <p:sp>
        <p:nvSpPr>
          <p:cNvPr id="3" name="Content Placeholder 2"/>
          <p:cNvSpPr>
            <a:spLocks noGrp="1"/>
          </p:cNvSpPr>
          <p:nvPr>
            <p:ph idx="1"/>
          </p:nvPr>
        </p:nvSpPr>
        <p:spPr/>
        <p:txBody>
          <a:bodyPr/>
          <a:lstStyle/>
          <a:p>
            <a:r>
              <a:rPr lang="en-IN" b="1" dirty="0"/>
              <a:t>Numerical (Quantitative) Data:</a:t>
            </a:r>
            <a:endParaRPr lang="en-IN" dirty="0"/>
          </a:p>
          <a:p>
            <a:pPr lvl="1"/>
            <a:r>
              <a:rPr lang="en-IN" dirty="0"/>
              <a:t>Interval: Temperature in °C, Calendar dates</a:t>
            </a:r>
          </a:p>
          <a:p>
            <a:pPr lvl="1"/>
            <a:r>
              <a:rPr lang="en-IN" dirty="0"/>
              <a:t>Ratio: Height, Weight, Income (has true zero)</a:t>
            </a:r>
          </a:p>
          <a:p>
            <a:r>
              <a:rPr lang="en-IN" b="1" dirty="0"/>
              <a:t>Categorical (Qualitative) Data:</a:t>
            </a:r>
            <a:endParaRPr lang="en-IN" dirty="0"/>
          </a:p>
          <a:p>
            <a:pPr lvl="1"/>
            <a:r>
              <a:rPr lang="en-IN" dirty="0"/>
              <a:t>Nominal: Gender, Color, ZIP Code (no ordering)</a:t>
            </a:r>
          </a:p>
          <a:p>
            <a:pPr lvl="1"/>
            <a:r>
              <a:rPr lang="en-IN" dirty="0"/>
              <a:t>Ordinal: Education level, Customer satisfaction (ordered categories</a:t>
            </a:r>
            <a:r>
              <a:rPr lang="en-IN" dirty="0" smtClean="0"/>
              <a:t>)</a:t>
            </a:r>
            <a:endParaRPr lang="en-IN" dirty="0"/>
          </a:p>
        </p:txBody>
      </p:sp>
    </p:spTree>
    <p:extLst>
      <p:ext uri="{BB962C8B-B14F-4D97-AF65-F5344CB8AC3E}">
        <p14:creationId xmlns:p14="http://schemas.microsoft.com/office/powerpoint/2010/main" val="36009302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smtClean="0"/>
              <a:t>Measures </a:t>
            </a:r>
            <a:r>
              <a:rPr lang="en-IN" b="1" dirty="0"/>
              <a:t>of Central Tendency - </a:t>
            </a:r>
            <a:r>
              <a:rPr lang="en-IN" b="1" dirty="0" smtClean="0"/>
              <a:t>Overview</a:t>
            </a:r>
            <a:endParaRPr lang="en-IN" dirty="0"/>
          </a:p>
        </p:txBody>
      </p:sp>
      <p:sp>
        <p:nvSpPr>
          <p:cNvPr id="3" name="Content Placeholder 2"/>
          <p:cNvSpPr>
            <a:spLocks noGrp="1"/>
          </p:cNvSpPr>
          <p:nvPr>
            <p:ph idx="1"/>
          </p:nvPr>
        </p:nvSpPr>
        <p:spPr/>
        <p:txBody>
          <a:bodyPr>
            <a:normAutofit fontScale="92500"/>
          </a:bodyPr>
          <a:lstStyle/>
          <a:p>
            <a:r>
              <a:rPr lang="en-IN" b="1" dirty="0"/>
              <a:t>The "Center" of </a:t>
            </a:r>
            <a:r>
              <a:rPr lang="en-IN" b="1" dirty="0" smtClean="0"/>
              <a:t>Data</a:t>
            </a:r>
            <a:r>
              <a:rPr lang="en-IN" b="1" dirty="0"/>
              <a:t>:</a:t>
            </a:r>
            <a:endParaRPr lang="en-IN" dirty="0"/>
          </a:p>
          <a:p>
            <a:pPr lvl="1"/>
            <a:r>
              <a:rPr lang="en-IN" dirty="0"/>
              <a:t>Single values that describe the middle or typical value</a:t>
            </a:r>
          </a:p>
          <a:p>
            <a:pPr lvl="1"/>
            <a:r>
              <a:rPr lang="en-IN" dirty="0"/>
              <a:t>Different measures tell different stories</a:t>
            </a:r>
          </a:p>
          <a:p>
            <a:pPr lvl="1"/>
            <a:r>
              <a:rPr lang="en-IN" dirty="0"/>
              <a:t>Choice depends on data type and distribution shape</a:t>
            </a:r>
          </a:p>
          <a:p>
            <a:r>
              <a:rPr lang="en-IN" b="1" dirty="0"/>
              <a:t>Three Primary Measures:</a:t>
            </a:r>
            <a:endParaRPr lang="en-IN" dirty="0"/>
          </a:p>
          <a:p>
            <a:pPr lvl="1"/>
            <a:r>
              <a:rPr lang="en-IN" dirty="0"/>
              <a:t>Mean (Arithmetic Average)</a:t>
            </a:r>
          </a:p>
          <a:p>
            <a:pPr lvl="1"/>
            <a:r>
              <a:rPr lang="en-IN" dirty="0"/>
              <a:t>Median (Middle Value)</a:t>
            </a:r>
          </a:p>
          <a:p>
            <a:pPr lvl="1"/>
            <a:r>
              <a:rPr lang="en-IN" dirty="0"/>
              <a:t>Mode (Most Frequent Value)</a:t>
            </a:r>
          </a:p>
          <a:p>
            <a:pPr marL="0" indent="0">
              <a:buNone/>
            </a:pPr>
            <a:endParaRPr lang="en-IN" dirty="0"/>
          </a:p>
        </p:txBody>
      </p:sp>
    </p:spTree>
    <p:extLst>
      <p:ext uri="{BB962C8B-B14F-4D97-AF65-F5344CB8AC3E}">
        <p14:creationId xmlns:p14="http://schemas.microsoft.com/office/powerpoint/2010/main" val="33195654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Mean </a:t>
            </a:r>
            <a:r>
              <a:rPr lang="en-IN" b="1" dirty="0"/>
              <a:t>(Arithmetic Average</a:t>
            </a:r>
            <a:r>
              <a:rPr lang="en-IN" b="1" dirty="0" smtClean="0"/>
              <a:t>)</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Formula</a:t>
            </a:r>
          </a:p>
          <a:p>
            <a:endParaRPr lang="en-IN" dirty="0"/>
          </a:p>
          <a:p>
            <a:endParaRPr lang="en-IN" dirty="0" smtClean="0"/>
          </a:p>
          <a:p>
            <a:r>
              <a:rPr lang="en-IN" dirty="0" smtClean="0"/>
              <a:t>Properties</a:t>
            </a:r>
          </a:p>
          <a:p>
            <a:pPr lvl="1"/>
            <a:r>
              <a:rPr lang="en-IN" dirty="0"/>
              <a:t>Uses all data points</a:t>
            </a:r>
          </a:p>
          <a:p>
            <a:pPr lvl="1"/>
            <a:r>
              <a:rPr lang="en-IN" dirty="0"/>
              <a:t>Sensitive to extreme values (outliers)</a:t>
            </a:r>
          </a:p>
          <a:p>
            <a:pPr lvl="1"/>
            <a:r>
              <a:rPr lang="en-IN" dirty="0" smtClean="0"/>
              <a:t>Only </a:t>
            </a:r>
            <a:r>
              <a:rPr lang="en-IN" dirty="0"/>
              <a:t>meaningful for numerical </a:t>
            </a:r>
            <a:r>
              <a:rPr lang="en-IN" dirty="0" smtClean="0"/>
              <a:t>data</a:t>
            </a:r>
          </a:p>
          <a:p>
            <a:r>
              <a:rPr lang="en-IN" b="1" dirty="0"/>
              <a:t>Example:</a:t>
            </a:r>
            <a:r>
              <a:rPr lang="en-IN" dirty="0"/>
              <a:t> </a:t>
            </a:r>
            <a:endParaRPr lang="en-IN" dirty="0" smtClean="0"/>
          </a:p>
          <a:p>
            <a:pPr lvl="1"/>
            <a:r>
              <a:rPr lang="en-IN" dirty="0" smtClean="0"/>
              <a:t>Customer </a:t>
            </a:r>
            <a:r>
              <a:rPr lang="en-IN" dirty="0"/>
              <a:t>ages: 23, 27, 25, 28, </a:t>
            </a:r>
            <a:r>
              <a:rPr lang="en-IN" dirty="0" smtClean="0"/>
              <a:t>26</a:t>
            </a:r>
            <a:endParaRPr lang="en-IN" dirty="0"/>
          </a:p>
          <a:p>
            <a:pPr lvl="2"/>
            <a:r>
              <a:rPr lang="en-IN" dirty="0" smtClean="0"/>
              <a:t>(23+27+25+28+26</a:t>
            </a:r>
            <a:r>
              <a:rPr lang="en-IN" dirty="0"/>
              <a:t>)/</a:t>
            </a:r>
            <a:r>
              <a:rPr lang="en-IN" dirty="0" smtClean="0"/>
              <a:t>5=129/5=25.8</a:t>
            </a:r>
          </a:p>
          <a:p>
            <a:pPr marL="457200" lvl="1" indent="0">
              <a:buNone/>
            </a:pPr>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048" y="1844824"/>
            <a:ext cx="4718272"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48468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Weighted </a:t>
            </a:r>
            <a:r>
              <a:rPr lang="en-IN" b="1" dirty="0" smtClean="0"/>
              <a:t>Mean</a:t>
            </a:r>
            <a:endParaRPr lang="en-IN" dirty="0"/>
          </a:p>
        </p:txBody>
      </p:sp>
      <p:sp>
        <p:nvSpPr>
          <p:cNvPr id="3" name="Content Placeholder 2"/>
          <p:cNvSpPr>
            <a:spLocks noGrp="1"/>
          </p:cNvSpPr>
          <p:nvPr>
            <p:ph idx="1"/>
          </p:nvPr>
        </p:nvSpPr>
        <p:spPr>
          <a:xfrm>
            <a:off x="457200" y="1124744"/>
            <a:ext cx="8229600" cy="5472608"/>
          </a:xfrm>
        </p:spPr>
        <p:txBody>
          <a:bodyPr>
            <a:normAutofit fontScale="92500"/>
          </a:bodyPr>
          <a:lstStyle/>
          <a:p>
            <a:pPr marL="0" indent="0">
              <a:buNone/>
            </a:pPr>
            <a:r>
              <a:rPr lang="en-IN" b="1" dirty="0" smtClean="0"/>
              <a:t>When </a:t>
            </a:r>
            <a:r>
              <a:rPr lang="en-IN" b="1" dirty="0"/>
              <a:t>observations have different importance:</a:t>
            </a:r>
            <a:endParaRPr lang="en-IN" dirty="0"/>
          </a:p>
          <a:p>
            <a:endParaRPr lang="en-IN" dirty="0" smtClean="0"/>
          </a:p>
          <a:p>
            <a:endParaRPr lang="en-IN" dirty="0"/>
          </a:p>
          <a:p>
            <a:r>
              <a:rPr lang="en-IN" b="1" dirty="0" smtClean="0"/>
              <a:t>Data Mining Application </a:t>
            </a:r>
          </a:p>
          <a:p>
            <a:pPr lvl="1"/>
            <a:r>
              <a:rPr lang="en-IN" dirty="0"/>
              <a:t>Customer value analysis (weight by purchase amount)</a:t>
            </a:r>
          </a:p>
          <a:p>
            <a:pPr lvl="1"/>
            <a:r>
              <a:rPr lang="en-IN" dirty="0"/>
              <a:t>Sensor data aggregation (weight by reliability score)</a:t>
            </a:r>
          </a:p>
          <a:p>
            <a:pPr lvl="1"/>
            <a:r>
              <a:rPr lang="en-IN" dirty="0"/>
              <a:t>Survey data analysis (weight by respondent representativeness)</a:t>
            </a:r>
          </a:p>
          <a:p>
            <a:pPr marL="0" indent="0">
              <a:buNone/>
            </a:pPr>
            <a:r>
              <a:rPr lang="en-IN" sz="3000" b="1" dirty="0"/>
              <a:t>Example:</a:t>
            </a:r>
            <a:r>
              <a:rPr lang="en-IN" sz="3000" dirty="0"/>
              <a:t> Course grades with different </a:t>
            </a:r>
            <a:r>
              <a:rPr lang="en-IN" sz="3000" dirty="0" smtClean="0"/>
              <a:t>weights:</a:t>
            </a:r>
            <a:endParaRPr lang="en-IN" sz="3000" dirty="0"/>
          </a:p>
          <a:p>
            <a:pPr marL="0" indent="0">
              <a:buNone/>
            </a:pPr>
            <a:r>
              <a:rPr lang="en-IN" sz="1900" dirty="0"/>
              <a:t>	</a:t>
            </a:r>
            <a:r>
              <a:rPr lang="en-IN" sz="1900" dirty="0" smtClean="0"/>
              <a:t>Exam </a:t>
            </a:r>
            <a:r>
              <a:rPr lang="en-IN" sz="1900" dirty="0"/>
              <a:t>1 (30%, score 85), Exam 2 (30%, score 90), Project (40%, score 95</a:t>
            </a:r>
            <a:r>
              <a:rPr lang="en-IN" sz="1900" dirty="0" smtClean="0"/>
              <a:t>)</a:t>
            </a:r>
          </a:p>
          <a:p>
            <a:pPr marL="0" indent="0">
              <a:buNone/>
            </a:pPr>
            <a:r>
              <a:rPr lang="en-IN" sz="1900" dirty="0"/>
              <a:t>	</a:t>
            </a:r>
            <a:r>
              <a:rPr lang="en-IN" sz="2000" dirty="0" smtClean="0"/>
              <a:t>0.3×85+0.3×90+0.4×95 = 102.5</a:t>
            </a:r>
            <a:endParaRPr lang="en-IN" sz="1900"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1497957"/>
            <a:ext cx="2520280" cy="114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61884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Median</a:t>
            </a:r>
            <a:endParaRPr lang="en-IN" dirty="0"/>
          </a:p>
        </p:txBody>
      </p:sp>
      <p:sp>
        <p:nvSpPr>
          <p:cNvPr id="3" name="Content Placeholder 2"/>
          <p:cNvSpPr>
            <a:spLocks noGrp="1"/>
          </p:cNvSpPr>
          <p:nvPr>
            <p:ph idx="1"/>
          </p:nvPr>
        </p:nvSpPr>
        <p:spPr>
          <a:xfrm>
            <a:off x="457200" y="1600200"/>
            <a:ext cx="8229600" cy="4997152"/>
          </a:xfrm>
        </p:spPr>
        <p:txBody>
          <a:bodyPr>
            <a:normAutofit fontScale="85000" lnSpcReduction="10000"/>
          </a:bodyPr>
          <a:lstStyle/>
          <a:p>
            <a:pPr marL="0" indent="0">
              <a:buNone/>
            </a:pPr>
            <a:r>
              <a:rPr lang="en-IN" b="1" dirty="0"/>
              <a:t>Definition:</a:t>
            </a:r>
            <a:r>
              <a:rPr lang="en-IN" dirty="0"/>
              <a:t> The middle value when data is </a:t>
            </a:r>
            <a:r>
              <a:rPr lang="en-IN" dirty="0" smtClean="0"/>
              <a:t>sorted</a:t>
            </a:r>
          </a:p>
          <a:p>
            <a:pPr marL="0" indent="0">
              <a:buNone/>
            </a:pPr>
            <a:r>
              <a:rPr lang="en-IN" b="1" dirty="0" smtClean="0"/>
              <a:t>Calculation</a:t>
            </a:r>
            <a:r>
              <a:rPr lang="en-IN" b="1" dirty="0"/>
              <a:t>:</a:t>
            </a:r>
            <a:endParaRPr lang="en-IN" dirty="0"/>
          </a:p>
          <a:p>
            <a:pPr lvl="1"/>
            <a:r>
              <a:rPr lang="en-IN" dirty="0"/>
              <a:t>Sort data in ascending order</a:t>
            </a:r>
          </a:p>
          <a:p>
            <a:pPr lvl="1"/>
            <a:r>
              <a:rPr lang="en-IN" dirty="0"/>
              <a:t>If n is odd: Median = middle value</a:t>
            </a:r>
          </a:p>
          <a:p>
            <a:pPr lvl="1"/>
            <a:r>
              <a:rPr lang="en-IN" dirty="0"/>
              <a:t>If n is even: Median = average of two middle values</a:t>
            </a:r>
          </a:p>
          <a:p>
            <a:pPr marL="0" indent="0">
              <a:buNone/>
            </a:pPr>
            <a:r>
              <a:rPr lang="en-IN" b="1" dirty="0"/>
              <a:t>Properties:</a:t>
            </a:r>
            <a:endParaRPr lang="en-IN" dirty="0"/>
          </a:p>
          <a:p>
            <a:pPr lvl="1"/>
            <a:r>
              <a:rPr lang="en-IN" dirty="0"/>
              <a:t>Robust to outliers (resistant measure)</a:t>
            </a:r>
          </a:p>
          <a:p>
            <a:pPr lvl="1"/>
            <a:r>
              <a:rPr lang="en-IN" dirty="0"/>
              <a:t>Better for skewed distributions</a:t>
            </a:r>
          </a:p>
          <a:p>
            <a:pPr lvl="1"/>
            <a:r>
              <a:rPr lang="en-IN" dirty="0"/>
              <a:t>Can be used with ordinal data</a:t>
            </a:r>
          </a:p>
          <a:p>
            <a:pPr lvl="1"/>
            <a:r>
              <a:rPr lang="en-IN" dirty="0"/>
              <a:t>Not sensitive to exact values, only </a:t>
            </a:r>
            <a:r>
              <a:rPr lang="en-IN" dirty="0" smtClean="0"/>
              <a:t>positions</a:t>
            </a:r>
          </a:p>
          <a:p>
            <a:pPr marL="0" indent="0">
              <a:buNone/>
            </a:pPr>
            <a:r>
              <a:rPr lang="en-IN" sz="2800" b="1" dirty="0"/>
              <a:t>Example 1 </a:t>
            </a:r>
            <a:r>
              <a:rPr lang="en-IN" sz="2800" b="1" dirty="0" smtClean="0"/>
              <a:t>:</a:t>
            </a:r>
            <a:r>
              <a:rPr lang="en-IN" sz="2800" dirty="0"/>
              <a:t> 12, 15, 17, 21, 24 → Median = 17</a:t>
            </a:r>
            <a:br>
              <a:rPr lang="en-IN" sz="2800" dirty="0"/>
            </a:br>
            <a:r>
              <a:rPr lang="en-IN" sz="2800" b="1" dirty="0"/>
              <a:t>Example 2 </a:t>
            </a:r>
            <a:r>
              <a:rPr lang="en-IN" sz="2800" b="1" dirty="0" smtClean="0"/>
              <a:t>:</a:t>
            </a:r>
            <a:r>
              <a:rPr lang="en-IN" sz="2800" dirty="0"/>
              <a:t> 12, 15, 17, 21, 24, 30 → Median = (17+21)/2 = 19</a:t>
            </a:r>
          </a:p>
          <a:p>
            <a:endParaRPr lang="en-IN" dirty="0"/>
          </a:p>
        </p:txBody>
      </p:sp>
    </p:spTree>
    <p:extLst>
      <p:ext uri="{BB962C8B-B14F-4D97-AF65-F5344CB8AC3E}">
        <p14:creationId xmlns:p14="http://schemas.microsoft.com/office/powerpoint/2010/main" val="42921508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Mode</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b="1" dirty="0"/>
              <a:t>Definition:</a:t>
            </a:r>
            <a:r>
              <a:rPr lang="en-IN" dirty="0"/>
              <a:t> The most frequently occurring </a:t>
            </a:r>
            <a:r>
              <a:rPr lang="en-IN" dirty="0" smtClean="0"/>
              <a:t>value(s)</a:t>
            </a:r>
          </a:p>
          <a:p>
            <a:pPr marL="0" indent="0">
              <a:buNone/>
            </a:pPr>
            <a:r>
              <a:rPr lang="en-IN" b="1" dirty="0" smtClean="0"/>
              <a:t>Types</a:t>
            </a:r>
            <a:r>
              <a:rPr lang="en-IN" b="1" dirty="0"/>
              <a:t>:</a:t>
            </a:r>
            <a:endParaRPr lang="en-IN" dirty="0"/>
          </a:p>
          <a:p>
            <a:pPr lvl="1"/>
            <a:r>
              <a:rPr lang="en-IN" dirty="0"/>
              <a:t>Unimodal: One mode</a:t>
            </a:r>
          </a:p>
          <a:p>
            <a:pPr lvl="1"/>
            <a:r>
              <a:rPr lang="en-IN" dirty="0"/>
              <a:t>Bimodal: Two modes</a:t>
            </a:r>
          </a:p>
          <a:p>
            <a:pPr lvl="1"/>
            <a:r>
              <a:rPr lang="en-IN" dirty="0"/>
              <a:t>Multimodal: Multiple modes</a:t>
            </a:r>
          </a:p>
          <a:p>
            <a:pPr lvl="1"/>
            <a:r>
              <a:rPr lang="en-IN" dirty="0"/>
              <a:t>No mode: All values equally </a:t>
            </a:r>
            <a:r>
              <a:rPr lang="en-IN" dirty="0" smtClean="0"/>
              <a:t>frequent</a:t>
            </a:r>
          </a:p>
          <a:p>
            <a:pPr marL="0" indent="0">
              <a:buNone/>
            </a:pPr>
            <a:r>
              <a:rPr lang="en-IN" b="1" dirty="0" smtClean="0"/>
              <a:t>Properties:</a:t>
            </a:r>
            <a:endParaRPr lang="en-IN" dirty="0" smtClean="0"/>
          </a:p>
          <a:p>
            <a:pPr lvl="1"/>
            <a:r>
              <a:rPr lang="en-IN" dirty="0" smtClean="0"/>
              <a:t>Can </a:t>
            </a:r>
            <a:r>
              <a:rPr lang="en-IN" dirty="0"/>
              <a:t>be used with all data types (nominal, ordinal, numerical)</a:t>
            </a:r>
          </a:p>
          <a:p>
            <a:pPr lvl="1"/>
            <a:r>
              <a:rPr lang="en-IN" dirty="0"/>
              <a:t>May not exist or may not be unique</a:t>
            </a:r>
          </a:p>
          <a:p>
            <a:pPr lvl="1"/>
            <a:r>
              <a:rPr lang="en-IN" dirty="0"/>
              <a:t>Not affected by extreme values</a:t>
            </a:r>
          </a:p>
          <a:p>
            <a:pPr lvl="1"/>
            <a:r>
              <a:rPr lang="en-IN" dirty="0"/>
              <a:t>Useful for categorical data analysis</a:t>
            </a:r>
          </a:p>
          <a:p>
            <a:endParaRPr lang="en-IN" dirty="0"/>
          </a:p>
        </p:txBody>
      </p:sp>
    </p:spTree>
    <p:extLst>
      <p:ext uri="{BB962C8B-B14F-4D97-AF65-F5344CB8AC3E}">
        <p14:creationId xmlns:p14="http://schemas.microsoft.com/office/powerpoint/2010/main" val="14572052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 of Mode </a:t>
            </a:r>
          </a:p>
        </p:txBody>
      </p:sp>
      <p:sp>
        <p:nvSpPr>
          <p:cNvPr id="3" name="Content Placeholder 2"/>
          <p:cNvSpPr>
            <a:spLocks noGrp="1"/>
          </p:cNvSpPr>
          <p:nvPr>
            <p:ph idx="1"/>
          </p:nvPr>
        </p:nvSpPr>
        <p:spPr/>
        <p:txBody>
          <a:bodyPr>
            <a:normAutofit fontScale="85000" lnSpcReduction="20000"/>
          </a:bodyPr>
          <a:lstStyle/>
          <a:p>
            <a:r>
              <a:rPr lang="en-IN" b="1" dirty="0"/>
              <a:t>Product colors </a:t>
            </a:r>
            <a:r>
              <a:rPr lang="en-IN" b="1" dirty="0" smtClean="0"/>
              <a:t>sold</a:t>
            </a:r>
            <a:r>
              <a:rPr lang="en-IN" dirty="0"/>
              <a:t> </a:t>
            </a:r>
            <a:r>
              <a:rPr lang="en-IN" dirty="0" smtClean="0"/>
              <a:t>: </a:t>
            </a:r>
          </a:p>
          <a:p>
            <a:pPr lvl="1"/>
            <a:r>
              <a:rPr lang="en-IN" dirty="0" smtClean="0"/>
              <a:t>Red</a:t>
            </a:r>
            <a:r>
              <a:rPr lang="en-IN" dirty="0"/>
              <a:t>, Red, Blue, Green, Red, Blue, </a:t>
            </a:r>
            <a:r>
              <a:rPr lang="en-IN" dirty="0" smtClean="0"/>
              <a:t>Red</a:t>
            </a:r>
          </a:p>
          <a:p>
            <a:pPr lvl="1"/>
            <a:r>
              <a:rPr lang="en-IN" dirty="0" smtClean="0"/>
              <a:t>Mode </a:t>
            </a:r>
            <a:r>
              <a:rPr lang="en-IN" dirty="0"/>
              <a:t>= Red (appears 4 times</a:t>
            </a:r>
            <a:r>
              <a:rPr lang="en-IN" dirty="0" smtClean="0"/>
              <a:t>)</a:t>
            </a:r>
            <a:endParaRPr lang="en-IN" b="1" dirty="0" smtClean="0"/>
          </a:p>
          <a:p>
            <a:r>
              <a:rPr lang="en-IN" b="1" dirty="0" smtClean="0"/>
              <a:t>Bimodal </a:t>
            </a:r>
            <a:r>
              <a:rPr lang="en-IN" b="1" dirty="0"/>
              <a:t>example</a:t>
            </a:r>
            <a:r>
              <a:rPr lang="en-IN" dirty="0"/>
              <a:t> (two modes):</a:t>
            </a:r>
          </a:p>
          <a:p>
            <a:pPr lvl="1"/>
            <a:r>
              <a:rPr lang="en-IN" dirty="0"/>
              <a:t>Data: {2, </a:t>
            </a:r>
            <a:r>
              <a:rPr lang="en-IN" b="1" dirty="0"/>
              <a:t>2</a:t>
            </a:r>
            <a:r>
              <a:rPr lang="en-IN" dirty="0"/>
              <a:t>, </a:t>
            </a:r>
            <a:r>
              <a:rPr lang="en-IN" b="1" dirty="0"/>
              <a:t>2</a:t>
            </a:r>
            <a:r>
              <a:rPr lang="en-IN" dirty="0"/>
              <a:t>, 3, 4, 4, 5, </a:t>
            </a:r>
            <a:r>
              <a:rPr lang="en-IN" b="1" dirty="0"/>
              <a:t>5</a:t>
            </a:r>
            <a:r>
              <a:rPr lang="en-IN" dirty="0"/>
              <a:t>, </a:t>
            </a:r>
            <a:r>
              <a:rPr lang="en-IN" b="1" dirty="0"/>
              <a:t>5</a:t>
            </a:r>
            <a:r>
              <a:rPr lang="en-IN" dirty="0"/>
              <a:t>}</a:t>
            </a:r>
          </a:p>
          <a:p>
            <a:pPr lvl="1"/>
            <a:r>
              <a:rPr lang="en-IN" dirty="0"/>
              <a:t>Modes = </a:t>
            </a:r>
            <a:r>
              <a:rPr lang="en-IN" b="1" dirty="0"/>
              <a:t>2</a:t>
            </a:r>
            <a:r>
              <a:rPr lang="en-IN" dirty="0"/>
              <a:t> and </a:t>
            </a:r>
            <a:r>
              <a:rPr lang="en-IN" b="1" dirty="0"/>
              <a:t>5</a:t>
            </a:r>
            <a:r>
              <a:rPr lang="en-IN" dirty="0"/>
              <a:t> (both appear 3 times; useful when a dataset has two equally common peaks) </a:t>
            </a:r>
          </a:p>
          <a:p>
            <a:r>
              <a:rPr lang="en-IN" b="1" dirty="0"/>
              <a:t>Most frequent shoe size</a:t>
            </a:r>
            <a:r>
              <a:rPr lang="en-IN" dirty="0"/>
              <a:t> sold by a retailer in a week:</a:t>
            </a:r>
          </a:p>
          <a:p>
            <a:pPr lvl="1"/>
            <a:r>
              <a:rPr lang="en-IN" dirty="0"/>
              <a:t>Data: {8, 9, 8.5, 9, 10, </a:t>
            </a:r>
            <a:r>
              <a:rPr lang="en-IN" b="1" dirty="0"/>
              <a:t>9</a:t>
            </a:r>
            <a:r>
              <a:rPr lang="en-IN" dirty="0"/>
              <a:t>, 11, 9.5, </a:t>
            </a:r>
            <a:r>
              <a:rPr lang="en-IN" b="1" dirty="0"/>
              <a:t>9</a:t>
            </a:r>
            <a:r>
              <a:rPr lang="en-IN" dirty="0"/>
              <a:t>, 8}</a:t>
            </a:r>
          </a:p>
          <a:p>
            <a:pPr lvl="1"/>
            <a:r>
              <a:rPr lang="en-IN" dirty="0"/>
              <a:t>Mode = </a:t>
            </a:r>
            <a:r>
              <a:rPr lang="en-IN" b="1" dirty="0"/>
              <a:t>9</a:t>
            </a:r>
            <a:r>
              <a:rPr lang="en-IN" dirty="0"/>
              <a:t> (helps the retailer know which size to stock the most</a:t>
            </a:r>
            <a:r>
              <a:rPr lang="en-IN" dirty="0" smtClean="0"/>
              <a:t>)</a:t>
            </a:r>
            <a:r>
              <a:rPr lang="en-IN" dirty="0"/>
              <a:t/>
            </a:r>
            <a:br>
              <a:rPr lang="en-IN" dirty="0"/>
            </a:br>
            <a:endParaRPr lang="en-IN" dirty="0"/>
          </a:p>
        </p:txBody>
      </p:sp>
    </p:spTree>
    <p:extLst>
      <p:ext uri="{BB962C8B-B14F-4D97-AF65-F5344CB8AC3E}">
        <p14:creationId xmlns:p14="http://schemas.microsoft.com/office/powerpoint/2010/main" val="35845430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 of Mode </a:t>
            </a:r>
            <a:endParaRPr lang="en-IN" dirty="0"/>
          </a:p>
        </p:txBody>
      </p:sp>
      <p:sp>
        <p:nvSpPr>
          <p:cNvPr id="3" name="Content Placeholder 2"/>
          <p:cNvSpPr>
            <a:spLocks noGrp="1"/>
          </p:cNvSpPr>
          <p:nvPr>
            <p:ph idx="1"/>
          </p:nvPr>
        </p:nvSpPr>
        <p:spPr>
          <a:xfrm>
            <a:off x="457200" y="1600200"/>
            <a:ext cx="8229600" cy="5069160"/>
          </a:xfrm>
        </p:spPr>
        <p:txBody>
          <a:bodyPr>
            <a:normAutofit fontScale="77500" lnSpcReduction="20000"/>
          </a:bodyPr>
          <a:lstStyle/>
          <a:p>
            <a:r>
              <a:rPr lang="en-IN" b="1" dirty="0"/>
              <a:t>Popular majors</a:t>
            </a:r>
            <a:r>
              <a:rPr lang="en-IN" dirty="0"/>
              <a:t> at a university:</a:t>
            </a:r>
          </a:p>
          <a:p>
            <a:pPr lvl="1"/>
            <a:r>
              <a:rPr lang="en-IN" dirty="0"/>
              <a:t>Data: {Psychology, Nursing, Mathematics, Biology, </a:t>
            </a:r>
            <a:r>
              <a:rPr lang="en-IN" b="1" dirty="0"/>
              <a:t>Psychology</a:t>
            </a:r>
            <a:r>
              <a:rPr lang="en-IN" dirty="0"/>
              <a:t>, Child Development, Media Production, </a:t>
            </a:r>
            <a:r>
              <a:rPr lang="en-IN" b="1" dirty="0"/>
              <a:t>Psychology</a:t>
            </a:r>
            <a:r>
              <a:rPr lang="en-IN" dirty="0"/>
              <a:t>}</a:t>
            </a:r>
          </a:p>
          <a:p>
            <a:pPr lvl="1"/>
            <a:r>
              <a:rPr lang="en-IN" dirty="0"/>
              <a:t>Mode = </a:t>
            </a:r>
            <a:r>
              <a:rPr lang="en-IN" b="1" dirty="0"/>
              <a:t>Psychology</a:t>
            </a:r>
            <a:r>
              <a:rPr lang="en-IN" dirty="0"/>
              <a:t> (the most popular choice, even though it's not a number)</a:t>
            </a:r>
          </a:p>
          <a:p>
            <a:r>
              <a:rPr lang="en-IN" b="1" dirty="0" smtClean="0"/>
              <a:t>Most </a:t>
            </a:r>
            <a:r>
              <a:rPr lang="en-IN" b="1" dirty="0"/>
              <a:t>common hair color</a:t>
            </a:r>
            <a:r>
              <a:rPr lang="en-IN" dirty="0"/>
              <a:t> in a classroom:</a:t>
            </a:r>
          </a:p>
          <a:p>
            <a:pPr lvl="1"/>
            <a:r>
              <a:rPr lang="en-IN" dirty="0"/>
              <a:t>Data: {Brown, Blonde, Black, Red, </a:t>
            </a:r>
            <a:r>
              <a:rPr lang="en-IN" b="1" dirty="0"/>
              <a:t>Brown</a:t>
            </a:r>
            <a:r>
              <a:rPr lang="en-IN" dirty="0"/>
              <a:t>, Black, Blonde, </a:t>
            </a:r>
            <a:r>
              <a:rPr lang="en-IN" b="1" dirty="0"/>
              <a:t>Brown</a:t>
            </a:r>
            <a:r>
              <a:rPr lang="en-IN" dirty="0"/>
              <a:t>, Black, Blonde, </a:t>
            </a:r>
            <a:r>
              <a:rPr lang="en-IN" b="1" dirty="0"/>
              <a:t>Brown</a:t>
            </a:r>
            <a:r>
              <a:rPr lang="en-IN" dirty="0"/>
              <a:t>}</a:t>
            </a:r>
          </a:p>
          <a:p>
            <a:pPr lvl="1"/>
            <a:r>
              <a:rPr lang="en-IN" dirty="0"/>
              <a:t>Mode = </a:t>
            </a:r>
            <a:r>
              <a:rPr lang="en-IN" b="1" dirty="0"/>
              <a:t>Brown</a:t>
            </a:r>
            <a:r>
              <a:rPr lang="en-IN" dirty="0"/>
              <a:t> (identifies the characteristic that appears most often)</a:t>
            </a:r>
          </a:p>
          <a:p>
            <a:r>
              <a:rPr lang="en-IN" b="1" dirty="0"/>
              <a:t>Most preferred ice cream flavor</a:t>
            </a:r>
            <a:r>
              <a:rPr lang="en-IN" dirty="0"/>
              <a:t> in a survey:</a:t>
            </a:r>
          </a:p>
          <a:p>
            <a:pPr lvl="1"/>
            <a:r>
              <a:rPr lang="en-IN" dirty="0"/>
              <a:t>Data: {Vanilla, Chocolate, Strawberry, Vanilla, </a:t>
            </a:r>
            <a:r>
              <a:rPr lang="en-IN" b="1" dirty="0"/>
              <a:t>Chocolate</a:t>
            </a:r>
            <a:r>
              <a:rPr lang="en-IN" dirty="0"/>
              <a:t>, Vanilla, Strawberry, Vanilla, </a:t>
            </a:r>
            <a:r>
              <a:rPr lang="en-IN" b="1" dirty="0"/>
              <a:t>Chocolate</a:t>
            </a:r>
            <a:r>
              <a:rPr lang="en-IN" dirty="0"/>
              <a:t>, </a:t>
            </a:r>
            <a:r>
              <a:rPr lang="en-IN" b="1" dirty="0"/>
              <a:t>Chocolate</a:t>
            </a:r>
            <a:r>
              <a:rPr lang="en-IN" dirty="0"/>
              <a:t>}</a:t>
            </a:r>
          </a:p>
          <a:p>
            <a:pPr lvl="1"/>
            <a:r>
              <a:rPr lang="en-IN" dirty="0"/>
              <a:t>Mode = </a:t>
            </a:r>
            <a:r>
              <a:rPr lang="en-IN" b="1" dirty="0"/>
              <a:t>Chocolate</a:t>
            </a:r>
            <a:r>
              <a:rPr lang="en-IN" dirty="0"/>
              <a:t> (shows the most popular flavor</a:t>
            </a:r>
            <a:r>
              <a:rPr lang="en-IN" dirty="0" smtClean="0"/>
              <a:t>)</a:t>
            </a:r>
            <a:endParaRPr lang="en-IN" dirty="0"/>
          </a:p>
        </p:txBody>
      </p:sp>
    </p:spTree>
    <p:extLst>
      <p:ext uri="{BB962C8B-B14F-4D97-AF65-F5344CB8AC3E}">
        <p14:creationId xmlns:p14="http://schemas.microsoft.com/office/powerpoint/2010/main" val="29013028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4997152"/>
          </a:xfrm>
        </p:spPr>
        <p:txBody>
          <a:bodyPr>
            <a:normAutofit fontScale="92500" lnSpcReduction="10000"/>
          </a:bodyPr>
          <a:lstStyle/>
          <a:p>
            <a:r>
              <a:rPr lang="en-IN" b="1" dirty="0"/>
              <a:t>Symmetric Distribution:</a:t>
            </a:r>
            <a:r>
              <a:rPr lang="en-IN" dirty="0"/>
              <a:t/>
            </a:r>
            <a:br>
              <a:rPr lang="en-IN" dirty="0"/>
            </a:br>
            <a:r>
              <a:rPr lang="en-IN" dirty="0"/>
              <a:t>Mean ≈ Median ≈ Mode</a:t>
            </a:r>
          </a:p>
          <a:p>
            <a:r>
              <a:rPr lang="en-IN" b="1" dirty="0"/>
              <a:t>Right-Skewed (Positive Skew):</a:t>
            </a:r>
            <a:r>
              <a:rPr lang="en-IN" dirty="0"/>
              <a:t/>
            </a:r>
            <a:br>
              <a:rPr lang="en-IN" dirty="0"/>
            </a:br>
            <a:r>
              <a:rPr lang="en-IN" dirty="0"/>
              <a:t>Mean &gt; Median &gt; Mode</a:t>
            </a:r>
          </a:p>
          <a:p>
            <a:r>
              <a:rPr lang="en-IN" b="1" dirty="0"/>
              <a:t>Left-Skewed (Negative Skew):</a:t>
            </a:r>
            <a:r>
              <a:rPr lang="en-IN" dirty="0"/>
              <a:t/>
            </a:r>
            <a:br>
              <a:rPr lang="en-IN" dirty="0"/>
            </a:br>
            <a:r>
              <a:rPr lang="en-IN" dirty="0"/>
              <a:t>Mean &lt; Median &lt; Mode</a:t>
            </a:r>
          </a:p>
          <a:p>
            <a:r>
              <a:rPr lang="en-IN" b="1" dirty="0"/>
              <a:t>Which to use?</a:t>
            </a:r>
            <a:endParaRPr lang="en-IN" dirty="0"/>
          </a:p>
          <a:p>
            <a:pPr lvl="1"/>
            <a:r>
              <a:rPr lang="en-IN" dirty="0"/>
              <a:t>Symmetric, no outliers: Mean</a:t>
            </a:r>
          </a:p>
          <a:p>
            <a:pPr lvl="1"/>
            <a:r>
              <a:rPr lang="en-IN" dirty="0"/>
              <a:t>Skewed or with outliers: Median</a:t>
            </a:r>
          </a:p>
          <a:p>
            <a:pPr lvl="1"/>
            <a:r>
              <a:rPr lang="en-IN" dirty="0"/>
              <a:t>Categorical data: Mode</a:t>
            </a:r>
          </a:p>
          <a:p>
            <a:pPr lvl="1"/>
            <a:r>
              <a:rPr lang="en-IN" dirty="0"/>
              <a:t>Best practice: Report all three when possible</a:t>
            </a:r>
          </a:p>
          <a:p>
            <a:pPr marL="0" indent="0">
              <a:buNone/>
            </a:pPr>
            <a:endParaRPr lang="en-IN" dirty="0"/>
          </a:p>
        </p:txBody>
      </p:sp>
    </p:spTree>
    <p:extLst>
      <p:ext uri="{BB962C8B-B14F-4D97-AF65-F5344CB8AC3E}">
        <p14:creationId xmlns:p14="http://schemas.microsoft.com/office/powerpoint/2010/main" val="1250536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Symmetric </a:t>
            </a:r>
            <a:r>
              <a:rPr lang="en-IN" b="1" dirty="0" smtClean="0"/>
              <a:t>Distribution</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dirty="0"/>
              <a:t>In these cases, data is balanced. The average value is also the most common and sits right in the middle.</a:t>
            </a:r>
          </a:p>
          <a:p>
            <a:r>
              <a:rPr lang="en-IN" b="1" dirty="0"/>
              <a:t>Heights of adult women:</a:t>
            </a:r>
            <a:r>
              <a:rPr lang="en-IN" dirty="0"/>
              <a:t> Most women cluster around a central average height, with roughly equal numbers being taller or shorter.</a:t>
            </a:r>
          </a:p>
          <a:p>
            <a:r>
              <a:rPr lang="en-IN" b="1" dirty="0"/>
              <a:t>Standardised test scores:</a:t>
            </a:r>
            <a:r>
              <a:rPr lang="en-IN" dirty="0"/>
              <a:t> Exams like the SAT are often designed to produce a bell curve where the majority score in the middle range.</a:t>
            </a:r>
          </a:p>
          <a:p>
            <a:r>
              <a:rPr lang="en-IN" b="1" dirty="0"/>
              <a:t>Rolling a fair die:</a:t>
            </a:r>
            <a:r>
              <a:rPr lang="en-IN" dirty="0"/>
              <a:t> If you roll a die thousands of times, each number (1–6) appears with roughly equal frequency, creating a flat, symmetric </a:t>
            </a:r>
            <a:r>
              <a:rPr lang="en-IN" dirty="0">
                <a:hlinkClick r:id="rId2"/>
              </a:rPr>
              <a:t>Uniform Distribution</a:t>
            </a:r>
            <a:r>
              <a:rPr lang="en-IN" dirty="0"/>
              <a:t>. </a:t>
            </a:r>
          </a:p>
        </p:txBody>
      </p:sp>
    </p:spTree>
    <p:extLst>
      <p:ext uri="{BB962C8B-B14F-4D97-AF65-F5344CB8AC3E}">
        <p14:creationId xmlns:p14="http://schemas.microsoft.com/office/powerpoint/2010/main" val="1270320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Right-Skewed / Positive Skew</a:t>
            </a:r>
            <a:endParaRPr lang="en-IN" dirty="0"/>
          </a:p>
        </p:txBody>
      </p:sp>
      <p:sp>
        <p:nvSpPr>
          <p:cNvPr id="3" name="Content Placeholder 2"/>
          <p:cNvSpPr>
            <a:spLocks noGrp="1"/>
          </p:cNvSpPr>
          <p:nvPr>
            <p:ph idx="1"/>
          </p:nvPr>
        </p:nvSpPr>
        <p:spPr>
          <a:xfrm>
            <a:off x="457200" y="1600200"/>
            <a:ext cx="8229600" cy="5069160"/>
          </a:xfrm>
        </p:spPr>
        <p:txBody>
          <a:bodyPr>
            <a:normAutofit fontScale="85000" lnSpcReduction="20000"/>
          </a:bodyPr>
          <a:lstStyle/>
          <a:p>
            <a:pPr marL="0" indent="0">
              <a:buNone/>
            </a:pPr>
            <a:r>
              <a:rPr lang="en-IN" dirty="0"/>
              <a:t>Here, a few "extreme" high values pull the mean upward, even though most data points are lower.</a:t>
            </a:r>
          </a:p>
          <a:p>
            <a:r>
              <a:rPr lang="en-IN" b="1" dirty="0"/>
              <a:t>Household income:</a:t>
            </a:r>
            <a:r>
              <a:rPr lang="en-IN" dirty="0"/>
              <a:t> Most people earn a modest salary (the Mode), but a few billionaires (outliers) drag the </a:t>
            </a:r>
            <a:r>
              <a:rPr lang="en-IN" dirty="0">
                <a:hlinkClick r:id="rId2"/>
              </a:rPr>
              <a:t>Mean Income</a:t>
            </a:r>
            <a:r>
              <a:rPr lang="en-IN" dirty="0"/>
              <a:t> much higher than what the typical person earns.</a:t>
            </a:r>
          </a:p>
          <a:p>
            <a:r>
              <a:rPr lang="en-IN" b="1" dirty="0"/>
              <a:t>House prices in a city:</a:t>
            </a:r>
            <a:r>
              <a:rPr lang="en-IN" dirty="0"/>
              <a:t> Most homes might cost $300k, but a few $10-million mansions pull the average price up, making the mean higher than the median.</a:t>
            </a:r>
          </a:p>
          <a:p>
            <a:r>
              <a:rPr lang="en-IN" b="1" dirty="0"/>
              <a:t>Years of education:</a:t>
            </a:r>
            <a:r>
              <a:rPr lang="en-IN" dirty="0"/>
              <a:t> Most people complete high school or college, but a small number of people with multiple PhDs or extensive post-grad work create a tail to the right</a:t>
            </a:r>
            <a:r>
              <a:rPr lang="en-IN" dirty="0" smtClean="0"/>
              <a:t>.</a:t>
            </a:r>
            <a:endParaRPr lang="en-IN" dirty="0"/>
          </a:p>
        </p:txBody>
      </p:sp>
    </p:spTree>
    <p:extLst>
      <p:ext uri="{BB962C8B-B14F-4D97-AF65-F5344CB8AC3E}">
        <p14:creationId xmlns:p14="http://schemas.microsoft.com/office/powerpoint/2010/main" val="2128782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Left-Skewed / Negative Skew</a:t>
            </a:r>
            <a:endParaRPr lang="en-IN" dirty="0"/>
          </a:p>
        </p:txBody>
      </p:sp>
      <p:sp>
        <p:nvSpPr>
          <p:cNvPr id="3" name="Content Placeholder 2"/>
          <p:cNvSpPr>
            <a:spLocks noGrp="1"/>
          </p:cNvSpPr>
          <p:nvPr>
            <p:ph idx="1"/>
          </p:nvPr>
        </p:nvSpPr>
        <p:spPr>
          <a:xfrm>
            <a:off x="457200" y="1600200"/>
            <a:ext cx="8229600" cy="4997152"/>
          </a:xfrm>
        </p:spPr>
        <p:txBody>
          <a:bodyPr>
            <a:normAutofit fontScale="85000" lnSpcReduction="20000"/>
          </a:bodyPr>
          <a:lstStyle/>
          <a:p>
            <a:pPr marL="0" indent="0">
              <a:buNone/>
            </a:pPr>
            <a:r>
              <a:rPr lang="en-IN" dirty="0"/>
              <a:t>In this scenario, a few very low values pull the mean downward, while the majority of data clusters at the high end.</a:t>
            </a:r>
          </a:p>
          <a:p>
            <a:r>
              <a:rPr lang="en-IN" b="1" dirty="0"/>
              <a:t>Age at retirement:</a:t>
            </a:r>
            <a:r>
              <a:rPr lang="en-IN" dirty="0"/>
              <a:t> Most people retire in their 60s (the Mode), but a few people who retire in their 30s or 40s pull the Mean Retirement Age down.</a:t>
            </a:r>
          </a:p>
          <a:p>
            <a:r>
              <a:rPr lang="en-IN" b="1" dirty="0"/>
              <a:t>Easy exam scores:</a:t>
            </a:r>
            <a:r>
              <a:rPr lang="en-IN" dirty="0"/>
              <a:t> If a test is very easy, most students will score 90–100%, but a few students who fail will drag the class average (mean) below the most common score.</a:t>
            </a:r>
          </a:p>
          <a:p>
            <a:r>
              <a:rPr lang="en-IN" b="1" dirty="0"/>
              <a:t>Gestational age of births:</a:t>
            </a:r>
            <a:r>
              <a:rPr lang="en-IN" dirty="0"/>
              <a:t> Most babies are born at full term (around 38–40 weeks), but premature births (the "tail" on the left) pull the average pregnancy length down. </a:t>
            </a:r>
          </a:p>
        </p:txBody>
      </p:sp>
    </p:spTree>
    <p:extLst>
      <p:ext uri="{BB962C8B-B14F-4D97-AF65-F5344CB8AC3E}">
        <p14:creationId xmlns:p14="http://schemas.microsoft.com/office/powerpoint/2010/main" val="3205753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3515" y="1844824"/>
            <a:ext cx="6738845" cy="3887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5346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1" y="2078368"/>
            <a:ext cx="7518046" cy="3726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0346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5" y="1844824"/>
            <a:ext cx="5643317" cy="447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4134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2683" y="2204864"/>
            <a:ext cx="7074080"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0759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dirty="0" smtClean="0"/>
              <a:t>dispersion</a:t>
            </a:r>
            <a:endParaRPr lang="en-IN" dirty="0"/>
          </a:p>
        </p:txBody>
      </p:sp>
      <p:sp>
        <p:nvSpPr>
          <p:cNvPr id="5" name="Text Placeholder 4"/>
          <p:cNvSpPr>
            <a:spLocks noGrp="1"/>
          </p:cNvSpPr>
          <p:nvPr>
            <p:ph type="body" idx="1"/>
          </p:nvPr>
        </p:nvSpPr>
        <p:spPr/>
        <p:txBody>
          <a:bodyPr/>
          <a:lstStyle/>
          <a:p>
            <a:endParaRPr lang="en-IN"/>
          </a:p>
        </p:txBody>
      </p:sp>
    </p:spTree>
    <p:extLst>
      <p:ext uri="{BB962C8B-B14F-4D97-AF65-F5344CB8AC3E}">
        <p14:creationId xmlns:p14="http://schemas.microsoft.com/office/powerpoint/2010/main" val="29585881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smtClean="0"/>
              <a:t>Measures </a:t>
            </a:r>
            <a:r>
              <a:rPr lang="en-IN" b="1" dirty="0"/>
              <a:t>of Dispersion - </a:t>
            </a:r>
            <a:r>
              <a:rPr lang="en-IN" b="1" dirty="0" smtClean="0"/>
              <a:t>Introduction</a:t>
            </a:r>
            <a:endParaRPr lang="en-IN" dirty="0"/>
          </a:p>
        </p:txBody>
      </p:sp>
      <p:sp>
        <p:nvSpPr>
          <p:cNvPr id="5" name="Content Placeholder 4"/>
          <p:cNvSpPr>
            <a:spLocks noGrp="1"/>
          </p:cNvSpPr>
          <p:nvPr>
            <p:ph idx="1"/>
          </p:nvPr>
        </p:nvSpPr>
        <p:spPr/>
        <p:txBody>
          <a:bodyPr>
            <a:normAutofit fontScale="92500" lnSpcReduction="20000"/>
          </a:bodyPr>
          <a:lstStyle/>
          <a:p>
            <a:pPr marL="0" indent="0">
              <a:buNone/>
            </a:pPr>
            <a:r>
              <a:rPr lang="en-IN" b="1" dirty="0"/>
              <a:t>Why dispersion matters:</a:t>
            </a:r>
            <a:endParaRPr lang="en-IN" dirty="0"/>
          </a:p>
          <a:p>
            <a:pPr lvl="1"/>
            <a:r>
              <a:rPr lang="en-IN" dirty="0"/>
              <a:t>Central tendency alone is misleading</a:t>
            </a:r>
          </a:p>
          <a:p>
            <a:pPr lvl="1"/>
            <a:r>
              <a:rPr lang="en-IN" dirty="0"/>
              <a:t>Two datasets can have same mean but different spreads</a:t>
            </a:r>
          </a:p>
          <a:p>
            <a:pPr lvl="1"/>
            <a:r>
              <a:rPr lang="en-IN" dirty="0"/>
              <a:t>Risk assessment in business applications</a:t>
            </a:r>
          </a:p>
          <a:p>
            <a:pPr lvl="1"/>
            <a:r>
              <a:rPr lang="en-IN" dirty="0"/>
              <a:t>Quality control in manufacturing</a:t>
            </a:r>
          </a:p>
          <a:p>
            <a:pPr marL="0" indent="0">
              <a:buNone/>
            </a:pPr>
            <a:r>
              <a:rPr lang="en-IN" b="1" dirty="0"/>
              <a:t>Key Measures:</a:t>
            </a:r>
            <a:endParaRPr lang="en-IN" dirty="0"/>
          </a:p>
          <a:p>
            <a:pPr lvl="1"/>
            <a:r>
              <a:rPr lang="en-IN" dirty="0"/>
              <a:t>Range</a:t>
            </a:r>
          </a:p>
          <a:p>
            <a:pPr lvl="1"/>
            <a:r>
              <a:rPr lang="en-IN" dirty="0"/>
              <a:t>Variance</a:t>
            </a:r>
          </a:p>
          <a:p>
            <a:pPr lvl="1"/>
            <a:r>
              <a:rPr lang="en-IN" dirty="0"/>
              <a:t>Standard Deviation</a:t>
            </a:r>
          </a:p>
          <a:p>
            <a:pPr lvl="1"/>
            <a:r>
              <a:rPr lang="en-IN" dirty="0"/>
              <a:t>Interquartile Range (IQR)</a:t>
            </a:r>
          </a:p>
          <a:p>
            <a:pPr marL="0" indent="0">
              <a:buNone/>
            </a:pPr>
            <a:endParaRPr lang="en-IN" dirty="0"/>
          </a:p>
        </p:txBody>
      </p:sp>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 Applications of Standard Deviation and Varian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Image: Applications of Standard Deviation and Varianc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descr="Image: Applications of Standard Deviation and Varianc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206" y="1196752"/>
            <a:ext cx="6971894" cy="4140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22727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easures of Dispersion in Statistics and its ty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980728"/>
            <a:ext cx="7822572"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0109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b="1" dirty="0" smtClean="0"/>
              <a:t>Range </a:t>
            </a:r>
            <a:r>
              <a:rPr lang="en-IN" b="1" dirty="0"/>
              <a:t>and </a:t>
            </a:r>
            <a:r>
              <a:rPr lang="en-IN" b="1" dirty="0" smtClean="0"/>
              <a:t>Quartiles</a:t>
            </a:r>
            <a:endParaRPr lang="en-IN" dirty="0"/>
          </a:p>
        </p:txBody>
      </p:sp>
      <p:sp>
        <p:nvSpPr>
          <p:cNvPr id="5" name="Content Placeholder 4"/>
          <p:cNvSpPr>
            <a:spLocks noGrp="1"/>
          </p:cNvSpPr>
          <p:nvPr>
            <p:ph idx="1"/>
          </p:nvPr>
        </p:nvSpPr>
        <p:spPr/>
        <p:txBody>
          <a:bodyPr>
            <a:normAutofit fontScale="85000" lnSpcReduction="20000"/>
          </a:bodyPr>
          <a:lstStyle/>
          <a:p>
            <a:r>
              <a:rPr lang="en-IN" b="1" dirty="0" smtClean="0"/>
              <a:t>Range</a:t>
            </a:r>
            <a:r>
              <a:rPr lang="en-IN" dirty="0" smtClean="0"/>
              <a:t> </a:t>
            </a:r>
          </a:p>
          <a:p>
            <a:pPr lvl="1"/>
            <a:r>
              <a:rPr lang="en-IN" dirty="0" smtClean="0"/>
              <a:t>Range=Maximum</a:t>
            </a:r>
            <a:r>
              <a:rPr lang="en-IN" dirty="0"/>
              <a:t>−</a:t>
            </a:r>
            <a:r>
              <a:rPr lang="en-IN" dirty="0" smtClean="0"/>
              <a:t>Minimum</a:t>
            </a:r>
          </a:p>
          <a:p>
            <a:pPr lvl="1"/>
            <a:r>
              <a:rPr lang="en-IN" dirty="0"/>
              <a:t>Simple but sensitive to outliers</a:t>
            </a:r>
          </a:p>
          <a:p>
            <a:r>
              <a:rPr lang="en-IN" b="1" dirty="0"/>
              <a:t>Quartiles:</a:t>
            </a:r>
            <a:r>
              <a:rPr lang="en-IN" dirty="0"/>
              <a:t> Divide sorted data into four equal parts</a:t>
            </a:r>
          </a:p>
          <a:p>
            <a:pPr lvl="1"/>
            <a:r>
              <a:rPr lang="en-IN" dirty="0"/>
              <a:t>Q1 (First Quartile): 25th percentile</a:t>
            </a:r>
          </a:p>
          <a:p>
            <a:pPr lvl="1"/>
            <a:r>
              <a:rPr lang="en-IN" dirty="0"/>
              <a:t>Q2 (Second Quartile): Median (50th percentile)</a:t>
            </a:r>
          </a:p>
          <a:p>
            <a:pPr lvl="1"/>
            <a:r>
              <a:rPr lang="en-IN" dirty="0"/>
              <a:t>Q3 (Third Quartile): 75th percentile</a:t>
            </a:r>
          </a:p>
          <a:p>
            <a:r>
              <a:rPr lang="en-IN" b="1" dirty="0"/>
              <a:t>Interquartile Range (IQR</a:t>
            </a:r>
            <a:r>
              <a:rPr lang="en-IN" b="1" dirty="0" smtClean="0"/>
              <a:t>):</a:t>
            </a:r>
            <a:endParaRPr lang="en-IN" dirty="0"/>
          </a:p>
          <a:p>
            <a:pPr lvl="1"/>
            <a:r>
              <a:rPr lang="en-IN" dirty="0"/>
              <a:t>IQR=</a:t>
            </a:r>
            <a:r>
              <a:rPr lang="en-IN" i="1" dirty="0"/>
              <a:t>Q</a:t>
            </a:r>
            <a:r>
              <a:rPr lang="en-IN" dirty="0"/>
              <a:t>3−</a:t>
            </a:r>
            <a:r>
              <a:rPr lang="en-IN" i="1" dirty="0" smtClean="0"/>
              <a:t>Q</a:t>
            </a:r>
            <a:r>
              <a:rPr lang="en-IN" dirty="0" smtClean="0"/>
              <a:t>1</a:t>
            </a:r>
          </a:p>
          <a:p>
            <a:pPr lvl="1"/>
            <a:r>
              <a:rPr lang="en-IN" dirty="0"/>
              <a:t>Range of middle 50% of data</a:t>
            </a:r>
          </a:p>
          <a:p>
            <a:pPr lvl="1"/>
            <a:r>
              <a:rPr lang="en-IN" dirty="0"/>
              <a:t>Robust to outliers</a:t>
            </a:r>
          </a:p>
          <a:p>
            <a:pPr marL="0" indent="0">
              <a:buNone/>
            </a:pPr>
            <a:endParaRPr lang="en-IN" b="1" dirty="0"/>
          </a:p>
        </p:txBody>
      </p:sp>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a:t>Example 1: Standard Sequential </a:t>
            </a:r>
            <a:r>
              <a:rPr lang="en-IN" b="1" dirty="0" smtClean="0"/>
              <a:t>Data</a:t>
            </a:r>
            <a:endParaRPr lang="en-IN" dirty="0"/>
          </a:p>
        </p:txBody>
      </p:sp>
      <p:sp>
        <p:nvSpPr>
          <p:cNvPr id="5" name="Content Placeholder 4"/>
          <p:cNvSpPr>
            <a:spLocks noGrp="1"/>
          </p:cNvSpPr>
          <p:nvPr>
            <p:ph idx="1"/>
          </p:nvPr>
        </p:nvSpPr>
        <p:spPr/>
        <p:txBody>
          <a:bodyPr>
            <a:normAutofit fontScale="92500" lnSpcReduction="10000"/>
          </a:bodyPr>
          <a:lstStyle/>
          <a:p>
            <a:pPr marL="0" indent="0">
              <a:buNone/>
            </a:pPr>
            <a:r>
              <a:rPr lang="en-IN" dirty="0" smtClean="0"/>
              <a:t>For the Set  1 to 10</a:t>
            </a:r>
          </a:p>
          <a:p>
            <a:r>
              <a:rPr lang="en-IN" dirty="0" smtClean="0"/>
              <a:t>Sorted Data = {1 2 3 4 5 6 7 8 9 10 11 .... 20}</a:t>
            </a:r>
          </a:p>
          <a:p>
            <a:r>
              <a:rPr lang="en-IN" dirty="0" smtClean="0"/>
              <a:t>Step 1 : Find Q2 ( Median  : 50th percentile) </a:t>
            </a:r>
          </a:p>
          <a:p>
            <a:pPr lvl="1"/>
            <a:r>
              <a:rPr lang="en-IN" dirty="0" smtClean="0"/>
              <a:t> (10 + 11)/2  </a:t>
            </a:r>
            <a:r>
              <a:rPr lang="en-IN" dirty="0" smtClean="0">
                <a:sym typeface="Wingdings" pitchFamily="2" charset="2"/>
              </a:rPr>
              <a:t>== 10.5</a:t>
            </a:r>
          </a:p>
          <a:p>
            <a:r>
              <a:rPr lang="en-IN" dirty="0" smtClean="0"/>
              <a:t>Step 2 </a:t>
            </a:r>
            <a:r>
              <a:rPr lang="en-IN" dirty="0"/>
              <a:t>: Find </a:t>
            </a:r>
            <a:r>
              <a:rPr lang="en-IN" dirty="0" smtClean="0"/>
              <a:t>Q1 </a:t>
            </a:r>
            <a:r>
              <a:rPr lang="en-IN" dirty="0"/>
              <a:t>( Median </a:t>
            </a:r>
            <a:r>
              <a:rPr lang="en-IN" dirty="0" smtClean="0"/>
              <a:t>of first lower half ) </a:t>
            </a:r>
            <a:endParaRPr lang="en-IN" dirty="0"/>
          </a:p>
          <a:p>
            <a:pPr lvl="1"/>
            <a:r>
              <a:rPr lang="en-IN" dirty="0"/>
              <a:t> </a:t>
            </a:r>
            <a:r>
              <a:rPr lang="en-IN" dirty="0" smtClean="0"/>
              <a:t>(</a:t>
            </a:r>
            <a:r>
              <a:rPr lang="en-IN" dirty="0"/>
              <a:t>5</a:t>
            </a:r>
            <a:r>
              <a:rPr lang="en-IN" dirty="0" smtClean="0"/>
              <a:t> </a:t>
            </a:r>
            <a:r>
              <a:rPr lang="en-IN" dirty="0"/>
              <a:t>+ 6</a:t>
            </a:r>
            <a:r>
              <a:rPr lang="en-IN" dirty="0" smtClean="0"/>
              <a:t>)/</a:t>
            </a:r>
            <a:r>
              <a:rPr lang="en-IN" dirty="0"/>
              <a:t>2  </a:t>
            </a:r>
            <a:r>
              <a:rPr lang="en-IN" dirty="0">
                <a:sym typeface="Wingdings" pitchFamily="2" charset="2"/>
              </a:rPr>
              <a:t>== </a:t>
            </a:r>
            <a:r>
              <a:rPr lang="en-IN" dirty="0" smtClean="0">
                <a:sym typeface="Wingdings" pitchFamily="2" charset="2"/>
              </a:rPr>
              <a:t>5.5</a:t>
            </a:r>
            <a:endParaRPr lang="en-IN" dirty="0">
              <a:sym typeface="Wingdings" pitchFamily="2" charset="2"/>
            </a:endParaRPr>
          </a:p>
          <a:p>
            <a:r>
              <a:rPr lang="en-IN" dirty="0"/>
              <a:t>Step </a:t>
            </a:r>
            <a:r>
              <a:rPr lang="en-IN" dirty="0" smtClean="0"/>
              <a:t>3 </a:t>
            </a:r>
            <a:r>
              <a:rPr lang="en-IN" dirty="0"/>
              <a:t>: Find </a:t>
            </a:r>
            <a:r>
              <a:rPr lang="en-IN" dirty="0" smtClean="0"/>
              <a:t>Q3 </a:t>
            </a:r>
            <a:r>
              <a:rPr lang="en-IN" dirty="0"/>
              <a:t>( Median of </a:t>
            </a:r>
            <a:r>
              <a:rPr lang="en-IN" dirty="0" smtClean="0"/>
              <a:t>upper half) </a:t>
            </a:r>
            <a:endParaRPr lang="en-IN" dirty="0"/>
          </a:p>
          <a:p>
            <a:pPr lvl="1"/>
            <a:r>
              <a:rPr lang="en-IN" dirty="0"/>
              <a:t> </a:t>
            </a:r>
            <a:r>
              <a:rPr lang="en-IN" dirty="0" smtClean="0"/>
              <a:t>(15 </a:t>
            </a:r>
            <a:r>
              <a:rPr lang="en-IN" dirty="0"/>
              <a:t>+ </a:t>
            </a:r>
            <a:r>
              <a:rPr lang="en-IN" dirty="0" smtClean="0"/>
              <a:t>16</a:t>
            </a:r>
            <a:r>
              <a:rPr lang="en-IN" dirty="0"/>
              <a:t>)/2  </a:t>
            </a:r>
            <a:r>
              <a:rPr lang="en-IN" dirty="0">
                <a:sym typeface="Wingdings" pitchFamily="2" charset="2"/>
              </a:rPr>
              <a:t>== </a:t>
            </a:r>
            <a:r>
              <a:rPr lang="en-IN" dirty="0" smtClean="0">
                <a:sym typeface="Wingdings" pitchFamily="2" charset="2"/>
              </a:rPr>
              <a:t>15.5</a:t>
            </a:r>
          </a:p>
          <a:p>
            <a:r>
              <a:rPr lang="en-IN" dirty="0" smtClean="0">
                <a:sym typeface="Wingdings" pitchFamily="2" charset="2"/>
              </a:rPr>
              <a:t>Step 4. Calculate IQR : Q3 – Q1 = 15.5-10.5 = 5</a:t>
            </a:r>
            <a:endParaRPr lang="en-IN" dirty="0">
              <a:sym typeface="Wingdings" pitchFamily="2" charset="2"/>
            </a:endParaRPr>
          </a:p>
          <a:p>
            <a:endParaRPr lang="en-IN" dirty="0" smtClean="0">
              <a:sym typeface="Wingdings" pitchFamily="2" charset="2"/>
            </a:endParaRPr>
          </a:p>
        </p:txBody>
      </p:sp>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horizontal number line is labeled “Circumference (measured in millimeters)” and it runs from 10 to 250 millimeters. A horizontal boxplot is positioned above the number line. The boxplot consists of a box, which begins at 70 millimeters and ends at 190 millimeters. The beginning of the box is labeled first quartile, Q1, and the end of the box is labeled third quartile, Q3. The box is divided into 2 by a dark vertical line that is labeled as the median, Q2, which is at 130 millimeters. A horizontal line runs through the center of the box and extends to the left and the right of the box. This horizontal line extends from the left edge of the box to 10 millimeters, which is the minimum value of the data set, and it extends from the right edge of the box to 250 millimeters, which is the maximum value of the data set. Generally, a boxplot is always plotted along 1 numeric variable (the circumference line in this instance). The box begins at the first quartile and ends at the third quartile. A line that cuts the box in half indicates the median. The interquartile range of the data set is represented by the length of the box. A line runs through the box that extends from the minimum to the maximum, and its length indicates the range of the data s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836712"/>
            <a:ext cx="8860607" cy="42098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8881" y="6453336"/>
            <a:ext cx="2124621" cy="307777"/>
          </a:xfrm>
          <a:prstGeom prst="rect">
            <a:avLst/>
          </a:prstGeom>
          <a:noFill/>
        </p:spPr>
        <p:txBody>
          <a:bodyPr wrap="none" rtlCol="0">
            <a:spAutoFit/>
          </a:bodyPr>
          <a:lstStyle/>
          <a:p>
            <a:r>
              <a:rPr lang="en-IN" sz="1400" dirty="0" smtClean="0"/>
              <a:t>Copyright : labxchange.org</a:t>
            </a:r>
            <a:endParaRPr lang="en-IN" sz="1400" dirty="0"/>
          </a:p>
        </p:txBody>
      </p:sp>
    </p:spTree>
    <p:extLst>
      <p:ext uri="{BB962C8B-B14F-4D97-AF65-F5344CB8AC3E}">
        <p14:creationId xmlns:p14="http://schemas.microsoft.com/office/powerpoint/2010/main" val="799203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ox plot median quartile and interquartile r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8640"/>
            <a:ext cx="8760023" cy="61206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8881" y="6453336"/>
            <a:ext cx="2026517" cy="307777"/>
          </a:xfrm>
          <a:prstGeom prst="rect">
            <a:avLst/>
          </a:prstGeom>
          <a:noFill/>
        </p:spPr>
        <p:txBody>
          <a:bodyPr wrap="none" rtlCol="0">
            <a:spAutoFit/>
          </a:bodyPr>
          <a:lstStyle/>
          <a:p>
            <a:r>
              <a:rPr lang="en-IN" sz="1400" dirty="0" smtClean="0"/>
              <a:t>Copyright : slideteam.net</a:t>
            </a:r>
            <a:endParaRPr lang="en-IN" sz="1400" dirty="0"/>
          </a:p>
        </p:txBody>
      </p:sp>
    </p:spTree>
    <p:extLst>
      <p:ext uri="{BB962C8B-B14F-4D97-AF65-F5344CB8AC3E}">
        <p14:creationId xmlns:p14="http://schemas.microsoft.com/office/powerpoint/2010/main" val="36871188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variance</a:t>
            </a:r>
            <a:endParaRPr lang="en-IN" dirty="0"/>
          </a:p>
        </p:txBody>
      </p:sp>
      <p:sp>
        <p:nvSpPr>
          <p:cNvPr id="5" name="Text Placeholder 4"/>
          <p:cNvSpPr>
            <a:spLocks noGrp="1"/>
          </p:cNvSpPr>
          <p:nvPr>
            <p:ph type="body" idx="1"/>
          </p:nvPr>
        </p:nvSpPr>
        <p:spPr/>
        <p:txBody>
          <a:bodyPr/>
          <a:lstStyle/>
          <a:p>
            <a:endParaRPr lang="en-IN"/>
          </a:p>
        </p:txBody>
      </p:sp>
    </p:spTree>
    <p:extLst>
      <p:ext uri="{BB962C8B-B14F-4D97-AF65-F5344CB8AC3E}">
        <p14:creationId xmlns:p14="http://schemas.microsoft.com/office/powerpoint/2010/main" val="17100681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b="1" dirty="0" smtClean="0"/>
              <a:t>Variance</a:t>
            </a:r>
            <a:endParaRPr lang="en-IN" dirty="0"/>
          </a:p>
        </p:txBody>
      </p:sp>
      <p:sp>
        <p:nvSpPr>
          <p:cNvPr id="5" name="Content Placeholder 4"/>
          <p:cNvSpPr>
            <a:spLocks noGrp="1"/>
          </p:cNvSpPr>
          <p:nvPr>
            <p:ph idx="1"/>
          </p:nvPr>
        </p:nvSpPr>
        <p:spPr/>
        <p:txBody>
          <a:bodyPr/>
          <a:lstStyle/>
          <a:p>
            <a:pPr marL="0" indent="0">
              <a:buNone/>
            </a:pPr>
            <a:r>
              <a:rPr lang="en-IN" sz="2800" b="1" dirty="0"/>
              <a:t>Measures average squared deviation from </a:t>
            </a:r>
            <a:r>
              <a:rPr lang="en-IN" sz="2800" b="1" dirty="0" smtClean="0"/>
              <a:t>mean</a:t>
            </a:r>
          </a:p>
          <a:p>
            <a:pPr marL="0" indent="0">
              <a:buNone/>
            </a:pPr>
            <a:r>
              <a:rPr lang="en-IN" sz="2800" b="1" dirty="0"/>
              <a:t>Population </a:t>
            </a:r>
            <a:r>
              <a:rPr lang="en-IN" sz="2800" b="1" dirty="0" smtClean="0"/>
              <a:t>Variance</a:t>
            </a:r>
          </a:p>
          <a:p>
            <a:pPr marL="0" indent="0">
              <a:buNone/>
            </a:pPr>
            <a:endParaRPr lang="en-IN" sz="2800" b="1" dirty="0"/>
          </a:p>
          <a:p>
            <a:pPr marL="0" indent="0">
              <a:buNone/>
            </a:pPr>
            <a:endParaRPr lang="en-IN" sz="2800" b="1" dirty="0" smtClean="0"/>
          </a:p>
          <a:p>
            <a:pPr marL="0" indent="0">
              <a:buNone/>
            </a:pPr>
            <a:endParaRPr lang="en-IN" sz="2800" b="1" dirty="0"/>
          </a:p>
          <a:p>
            <a:pPr marL="0" indent="0">
              <a:buNone/>
            </a:pPr>
            <a:endParaRPr lang="en-IN" sz="2800" b="1" dirty="0"/>
          </a:p>
          <a:p>
            <a:pPr marL="0" indent="0">
              <a:buNone/>
            </a:pPr>
            <a:r>
              <a:rPr lang="en-IN" sz="2800" b="1" dirty="0" smtClean="0"/>
              <a:t>Sample </a:t>
            </a:r>
            <a:r>
              <a:rPr lang="en-IN" sz="2800" b="1" dirty="0"/>
              <a:t>Variance </a:t>
            </a:r>
            <a:endParaRPr lang="en-IN" sz="2800" dirty="0"/>
          </a:p>
          <a:p>
            <a:pPr marL="0" indent="0">
              <a:buNone/>
            </a:pP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564904"/>
            <a:ext cx="3888432" cy="18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5169268"/>
            <a:ext cx="3688815"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Variance in Statistics? Definition, Formula, and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260648"/>
            <a:ext cx="8761140" cy="5840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369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Bessel’s Correction </a:t>
            </a:r>
            <a:endParaRPr lang="en-IN" dirty="0"/>
          </a:p>
        </p:txBody>
      </p:sp>
      <p:sp>
        <p:nvSpPr>
          <p:cNvPr id="5" name="Content Placeholder 4"/>
          <p:cNvSpPr>
            <a:spLocks noGrp="1"/>
          </p:cNvSpPr>
          <p:nvPr>
            <p:ph idx="1"/>
          </p:nvPr>
        </p:nvSpPr>
        <p:spPr/>
        <p:txBody>
          <a:bodyPr>
            <a:normAutofit fontScale="70000" lnSpcReduction="20000"/>
          </a:bodyPr>
          <a:lstStyle/>
          <a:p>
            <a:r>
              <a:rPr lang="en-IN" b="1" dirty="0"/>
              <a:t>Why n-1 for sample?</a:t>
            </a:r>
            <a:r>
              <a:rPr lang="en-IN" dirty="0"/>
              <a:t> (Bessel's correction)</a:t>
            </a:r>
          </a:p>
          <a:p>
            <a:pPr lvl="1"/>
            <a:r>
              <a:rPr lang="en-IN" dirty="0"/>
              <a:t>Corrects bias in estimation of population variance</a:t>
            </a:r>
          </a:p>
          <a:p>
            <a:pPr lvl="1"/>
            <a:r>
              <a:rPr lang="en-IN" dirty="0"/>
              <a:t>Accounts for degrees of </a:t>
            </a:r>
            <a:r>
              <a:rPr lang="en-IN" dirty="0" smtClean="0"/>
              <a:t>freedom</a:t>
            </a:r>
            <a:endParaRPr lang="en-IN" b="1" dirty="0" smtClean="0"/>
          </a:p>
          <a:p>
            <a:pPr marL="0" indent="0">
              <a:buNone/>
            </a:pPr>
            <a:r>
              <a:rPr lang="en-IN" b="1" dirty="0" smtClean="0"/>
              <a:t>Population </a:t>
            </a:r>
            <a:r>
              <a:rPr lang="en-IN" b="1" dirty="0"/>
              <a:t>variance (no correction</a:t>
            </a:r>
            <a:r>
              <a:rPr lang="en-IN" b="1" dirty="0" smtClean="0"/>
              <a:t>)</a:t>
            </a:r>
          </a:p>
          <a:p>
            <a:pPr marL="0" indent="0">
              <a:buNone/>
            </a:pPr>
            <a:r>
              <a:rPr lang="en-IN" dirty="0"/>
              <a:t>If you have </a:t>
            </a:r>
            <a:r>
              <a:rPr lang="en-IN" b="1" dirty="0"/>
              <a:t>data for the entire population</a:t>
            </a:r>
            <a:r>
              <a:rPr lang="en-IN" dirty="0"/>
              <a:t>, the variance is defined as</a:t>
            </a:r>
            <a:r>
              <a:rPr lang="en-IN" dirty="0" smtClean="0"/>
              <a:t>:</a:t>
            </a:r>
            <a:endParaRPr lang="en-IN" b="1" dirty="0" smtClean="0"/>
          </a:p>
          <a:p>
            <a:pPr marL="0" indent="0">
              <a:buNone/>
            </a:pPr>
            <a:endParaRPr lang="en-IN" b="1" dirty="0" smtClean="0"/>
          </a:p>
          <a:p>
            <a:pPr marL="0" indent="0">
              <a:buNone/>
            </a:pPr>
            <a:r>
              <a:rPr lang="en-IN" b="1" dirty="0" smtClean="0"/>
              <a:t>Why </a:t>
            </a:r>
            <a:r>
              <a:rPr lang="en-IN" b="1" dirty="0"/>
              <a:t>divide by </a:t>
            </a:r>
            <a:r>
              <a:rPr lang="en-IN" b="1" dirty="0" smtClean="0"/>
              <a:t>N?</a:t>
            </a:r>
            <a:endParaRPr lang="en-IN" b="1" dirty="0"/>
          </a:p>
          <a:p>
            <a:pPr marL="0" indent="0">
              <a:buNone/>
            </a:pPr>
            <a:r>
              <a:rPr lang="en-IN" dirty="0"/>
              <a:t>Because:</a:t>
            </a:r>
          </a:p>
          <a:p>
            <a:pPr lvl="1"/>
            <a:r>
              <a:rPr lang="en-IN" dirty="0"/>
              <a:t>You know the </a:t>
            </a:r>
            <a:r>
              <a:rPr lang="en-IN" b="1" dirty="0"/>
              <a:t>true mean</a:t>
            </a:r>
            <a:endParaRPr lang="en-IN" dirty="0"/>
          </a:p>
          <a:p>
            <a:pPr lvl="1"/>
            <a:r>
              <a:rPr lang="en-IN" dirty="0"/>
              <a:t>You are measuring </a:t>
            </a:r>
            <a:r>
              <a:rPr lang="en-IN" b="1" dirty="0"/>
              <a:t>actual spread</a:t>
            </a:r>
            <a:r>
              <a:rPr lang="en-IN" dirty="0"/>
              <a:t>, not estimating anything</a:t>
            </a:r>
          </a:p>
          <a:p>
            <a:pPr lvl="1"/>
            <a:r>
              <a:rPr lang="en-IN" dirty="0"/>
              <a:t>No bias is introduced</a:t>
            </a:r>
          </a:p>
          <a:p>
            <a:pPr marL="0" indent="0">
              <a:buNone/>
            </a:pPr>
            <a:r>
              <a:rPr lang="en-IN" dirty="0"/>
              <a:t>So </a:t>
            </a:r>
            <a:r>
              <a:rPr lang="en-IN" b="1" dirty="0"/>
              <a:t>no correction is needed</a:t>
            </a:r>
            <a:r>
              <a:rPr lang="en-IN" dirty="0"/>
              <a:t>.</a:t>
            </a:r>
          </a:p>
          <a:p>
            <a:pPr lvl="1"/>
            <a:endParaRPr lang="en-IN" dirty="0"/>
          </a:p>
          <a:p>
            <a:endParaRPr lang="en-IN"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3140968"/>
            <a:ext cx="2518222" cy="119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b="1" dirty="0" smtClean="0"/>
              <a:t>Sample variance</a:t>
            </a:r>
            <a:endParaRPr lang="en-IN" b="1" dirty="0"/>
          </a:p>
        </p:txBody>
      </p:sp>
      <p:sp>
        <p:nvSpPr>
          <p:cNvPr id="5" name="Content Placeholder 4"/>
          <p:cNvSpPr>
            <a:spLocks noGrp="1"/>
          </p:cNvSpPr>
          <p:nvPr>
            <p:ph idx="1"/>
          </p:nvPr>
        </p:nvSpPr>
        <p:spPr/>
        <p:txBody>
          <a:bodyPr>
            <a:normAutofit lnSpcReduction="10000"/>
          </a:bodyPr>
          <a:lstStyle/>
          <a:p>
            <a:r>
              <a:rPr lang="en-IN" dirty="0"/>
              <a:t>In practice, we usually have </a:t>
            </a:r>
            <a:r>
              <a:rPr lang="en-IN" b="1" dirty="0"/>
              <a:t>only a sample</a:t>
            </a:r>
            <a:r>
              <a:rPr lang="en-IN" dirty="0"/>
              <a:t>, not the full population</a:t>
            </a:r>
            <a:r>
              <a:rPr lang="en-IN" dirty="0" smtClean="0"/>
              <a:t>.</a:t>
            </a:r>
          </a:p>
          <a:p>
            <a:r>
              <a:rPr lang="en-IN" dirty="0" smtClean="0"/>
              <a:t>Estimated mean </a:t>
            </a:r>
          </a:p>
          <a:p>
            <a:pPr marL="0" indent="0">
              <a:buNone/>
            </a:pPr>
            <a:endParaRPr lang="en-IN" dirty="0" smtClean="0"/>
          </a:p>
          <a:p>
            <a:r>
              <a:rPr lang="en-IN" dirty="0" smtClean="0"/>
              <a:t>Lets see the issue with estimated variance</a:t>
            </a:r>
          </a:p>
          <a:p>
            <a:pPr lvl="1"/>
            <a:endParaRPr lang="en-IN" dirty="0" smtClean="0"/>
          </a:p>
          <a:p>
            <a:pPr lvl="1"/>
            <a:endParaRPr lang="en-IN" dirty="0"/>
          </a:p>
          <a:p>
            <a:pPr marL="0" indent="0">
              <a:buNone/>
            </a:pPr>
            <a:r>
              <a:rPr lang="en-IN" dirty="0"/>
              <a:t>⚠️ </a:t>
            </a:r>
            <a:r>
              <a:rPr lang="en-IN" b="1" dirty="0"/>
              <a:t>This is biased</a:t>
            </a:r>
            <a:r>
              <a:rPr lang="en-IN" dirty="0"/>
              <a:t> — it </a:t>
            </a:r>
            <a:r>
              <a:rPr lang="en-IN" b="1" dirty="0"/>
              <a:t>underestimates</a:t>
            </a:r>
            <a:r>
              <a:rPr lang="en-IN" dirty="0"/>
              <a:t> the true population variance.</a:t>
            </a:r>
          </a:p>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5688" y="2948682"/>
            <a:ext cx="116840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0820" y="4293096"/>
            <a:ext cx="1511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Why Underestimation </a:t>
            </a:r>
            <a:endParaRPr lang="en-IN" dirty="0"/>
          </a:p>
        </p:txBody>
      </p:sp>
      <p:sp>
        <p:nvSpPr>
          <p:cNvPr id="5" name="Content Placeholder 4"/>
          <p:cNvSpPr>
            <a:spLocks noGrp="1"/>
          </p:cNvSpPr>
          <p:nvPr>
            <p:ph idx="1"/>
          </p:nvPr>
        </p:nvSpPr>
        <p:spPr>
          <a:xfrm>
            <a:off x="457200" y="1600200"/>
            <a:ext cx="8229600" cy="5069160"/>
          </a:xfrm>
        </p:spPr>
        <p:txBody>
          <a:bodyPr>
            <a:normAutofit fontScale="92500" lnSpcReduction="20000"/>
          </a:bodyPr>
          <a:lstStyle/>
          <a:p>
            <a:r>
              <a:rPr lang="en-IN" dirty="0" smtClean="0"/>
              <a:t>K</a:t>
            </a:r>
            <a:r>
              <a:rPr lang="en-IN" b="1" dirty="0"/>
              <a:t>ey idea: The sample mean is “too close” to the data</a:t>
            </a:r>
          </a:p>
          <a:p>
            <a:pPr lvl="1"/>
            <a:r>
              <a:rPr lang="en-IN" dirty="0"/>
              <a:t>The sample mean </a:t>
            </a:r>
            <a:r>
              <a:rPr lang="en-IN" dirty="0" smtClean="0"/>
              <a:t>x</a:t>
            </a:r>
            <a:r>
              <a:rPr lang="en-IN" dirty="0"/>
              <a:t>ˉ is computed </a:t>
            </a:r>
            <a:r>
              <a:rPr lang="en-IN" b="1" dirty="0"/>
              <a:t>from the same data</a:t>
            </a:r>
            <a:endParaRPr lang="en-IN" dirty="0"/>
          </a:p>
          <a:p>
            <a:pPr lvl="1"/>
            <a:r>
              <a:rPr lang="en-IN" dirty="0"/>
              <a:t>It is chosen specifically to </a:t>
            </a:r>
            <a:r>
              <a:rPr lang="en-IN" b="1" dirty="0"/>
              <a:t>minimize squared deviations</a:t>
            </a:r>
            <a:endParaRPr lang="en-IN" dirty="0"/>
          </a:p>
          <a:p>
            <a:pPr lvl="1"/>
            <a:r>
              <a:rPr lang="en-IN" dirty="0"/>
              <a:t>This makes the data points appear </a:t>
            </a:r>
            <a:r>
              <a:rPr lang="en-IN" b="1" dirty="0"/>
              <a:t>artificially closer</a:t>
            </a:r>
            <a:r>
              <a:rPr lang="en-IN" dirty="0"/>
              <a:t> to the mean</a:t>
            </a:r>
          </a:p>
          <a:p>
            <a:r>
              <a:rPr lang="en-IN" dirty="0" smtClean="0"/>
              <a:t>Result</a:t>
            </a:r>
            <a:r>
              <a:rPr lang="en-IN" dirty="0"/>
              <a:t>:</a:t>
            </a:r>
            <a:br>
              <a:rPr lang="en-IN" dirty="0"/>
            </a:br>
            <a:r>
              <a:rPr lang="en-IN" dirty="0"/>
              <a:t>The squared deviations are </a:t>
            </a:r>
            <a:r>
              <a:rPr lang="en-IN" b="1" dirty="0"/>
              <a:t>systematically smaller</a:t>
            </a:r>
            <a:r>
              <a:rPr lang="en-IN" dirty="0"/>
              <a:t> than they would be around the true </a:t>
            </a:r>
            <a:r>
              <a:rPr lang="en-IN" dirty="0" smtClean="0"/>
              <a:t>mean mu</a:t>
            </a:r>
          </a:p>
          <a:p>
            <a:pPr marL="0" indent="0">
              <a:buNone/>
            </a:pPr>
            <a:r>
              <a:rPr lang="en-IN" b="1" dirty="0" smtClean="0"/>
              <a:t>Why Smaller and not bigger </a:t>
            </a:r>
            <a:endParaRPr lang="el-GR" b="1" dirty="0"/>
          </a:p>
        </p:txBody>
      </p:sp>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heart of Bessel’s correction</a:t>
            </a:r>
          </a:p>
        </p:txBody>
      </p:sp>
      <p:sp>
        <p:nvSpPr>
          <p:cNvPr id="5" name="Content Placeholder 4"/>
          <p:cNvSpPr>
            <a:spLocks noGrp="1"/>
          </p:cNvSpPr>
          <p:nvPr>
            <p:ph idx="1"/>
          </p:nvPr>
        </p:nvSpPr>
        <p:spPr/>
        <p:txBody>
          <a:bodyPr>
            <a:normAutofit lnSpcReduction="10000"/>
          </a:bodyPr>
          <a:lstStyle/>
          <a:p>
            <a:r>
              <a:rPr lang="en-IN" dirty="0"/>
              <a:t>Once you compute the sample mean:</a:t>
            </a:r>
          </a:p>
          <a:p>
            <a:pPr lvl="1"/>
            <a:r>
              <a:rPr lang="en-IN" dirty="0"/>
              <a:t>Only </a:t>
            </a:r>
            <a:r>
              <a:rPr lang="en-IN" b="1" dirty="0" smtClean="0"/>
              <a:t>n</a:t>
            </a:r>
            <a:r>
              <a:rPr lang="en-IN" b="1" dirty="0"/>
              <a:t>−1</a:t>
            </a:r>
            <a:r>
              <a:rPr lang="en-IN" dirty="0"/>
              <a:t> values are free to vary</a:t>
            </a:r>
          </a:p>
          <a:p>
            <a:pPr lvl="1"/>
            <a:r>
              <a:rPr lang="en-IN" dirty="0"/>
              <a:t>The last value is </a:t>
            </a:r>
            <a:r>
              <a:rPr lang="en-IN" b="1" dirty="0"/>
              <a:t>forced</a:t>
            </a:r>
            <a:r>
              <a:rPr lang="en-IN" dirty="0"/>
              <a:t> to satisfy the mean</a:t>
            </a:r>
          </a:p>
          <a:p>
            <a:r>
              <a:rPr lang="en-IN" dirty="0"/>
              <a:t>Example:</a:t>
            </a:r>
            <a:br>
              <a:rPr lang="en-IN" dirty="0"/>
            </a:br>
            <a:r>
              <a:rPr lang="en-IN" dirty="0"/>
              <a:t>If </a:t>
            </a:r>
            <a:r>
              <a:rPr lang="en-IN" dirty="0" smtClean="0"/>
              <a:t>n=5 </a:t>
            </a:r>
            <a:r>
              <a:rPr lang="en-IN" dirty="0"/>
              <a:t>and you know 4 deviations from the mean,</a:t>
            </a:r>
            <a:br>
              <a:rPr lang="en-IN" dirty="0"/>
            </a:br>
            <a:r>
              <a:rPr lang="en-IN" dirty="0"/>
              <a:t>the 5th is </a:t>
            </a:r>
            <a:r>
              <a:rPr lang="en-IN" b="1" dirty="0"/>
              <a:t>fully determined</a:t>
            </a:r>
            <a:r>
              <a:rPr lang="en-IN" dirty="0"/>
              <a:t>.</a:t>
            </a:r>
          </a:p>
          <a:p>
            <a:pPr marL="0" indent="0">
              <a:buNone/>
            </a:pPr>
            <a:r>
              <a:rPr lang="en-IN" dirty="0" smtClean="0"/>
              <a:t>➡So </a:t>
            </a:r>
            <a:r>
              <a:rPr lang="en-IN" dirty="0"/>
              <a:t>you really have </a:t>
            </a:r>
            <a:r>
              <a:rPr lang="en-IN" b="1" dirty="0"/>
              <a:t>n−</a:t>
            </a:r>
            <a:r>
              <a:rPr lang="en-IN" b="1" dirty="0" smtClean="0"/>
              <a:t>1 independent </a:t>
            </a:r>
            <a:r>
              <a:rPr lang="en-IN" b="1" dirty="0"/>
              <a:t>pieces of information</a:t>
            </a:r>
            <a:endParaRPr lang="en-IN" dirty="0"/>
          </a:p>
          <a:p>
            <a:pPr marL="0" indent="0">
              <a:buNone/>
            </a:pPr>
            <a:endParaRPr lang="en-IN" dirty="0"/>
          </a:p>
        </p:txBody>
      </p:sp>
    </p:spTree>
    <p:extLst>
      <p:ext uri="{BB962C8B-B14F-4D97-AF65-F5344CB8AC3E}">
        <p14:creationId xmlns:p14="http://schemas.microsoft.com/office/powerpoint/2010/main" val="51776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Bessel’s Correction ( the Fix )</a:t>
            </a:r>
            <a:endParaRPr lang="en-IN" dirty="0"/>
          </a:p>
        </p:txBody>
      </p:sp>
      <p:sp>
        <p:nvSpPr>
          <p:cNvPr id="5" name="Content Placeholder 4"/>
          <p:cNvSpPr>
            <a:spLocks noGrp="1"/>
          </p:cNvSpPr>
          <p:nvPr>
            <p:ph idx="1"/>
          </p:nvPr>
        </p:nvSpPr>
        <p:spPr/>
        <p:txBody>
          <a:bodyPr>
            <a:normAutofit fontScale="92500" lnSpcReduction="20000"/>
          </a:bodyPr>
          <a:lstStyle/>
          <a:p>
            <a:pPr marL="0" indent="0">
              <a:buNone/>
            </a:pPr>
            <a:r>
              <a:rPr lang="en-IN" dirty="0"/>
              <a:t>To correct the bias, we divide by </a:t>
            </a:r>
            <a:r>
              <a:rPr lang="en-IN" b="1" dirty="0" smtClean="0"/>
              <a:t>n-1 </a:t>
            </a:r>
            <a:r>
              <a:rPr lang="en-IN" dirty="0" smtClean="0"/>
              <a:t>instead </a:t>
            </a:r>
            <a:r>
              <a:rPr lang="en-IN" dirty="0"/>
              <a:t>of </a:t>
            </a:r>
            <a:r>
              <a:rPr lang="en-IN" dirty="0" smtClean="0"/>
              <a:t>n</a:t>
            </a:r>
            <a:endParaRPr lang="en-IN" dirty="0"/>
          </a:p>
          <a:p>
            <a:pPr marL="0" indent="0">
              <a:buNone/>
            </a:pPr>
            <a:endParaRPr lang="en-IN" dirty="0" smtClean="0"/>
          </a:p>
          <a:p>
            <a:pPr marL="0" indent="0">
              <a:buNone/>
            </a:pPr>
            <a:endParaRPr lang="en-IN" dirty="0"/>
          </a:p>
          <a:p>
            <a:pPr marL="0" indent="0">
              <a:buNone/>
            </a:pPr>
            <a:endParaRPr lang="en-IN" dirty="0"/>
          </a:p>
          <a:p>
            <a:pPr marL="0" indent="0">
              <a:buNone/>
            </a:pPr>
            <a:r>
              <a:rPr lang="en-IN" dirty="0"/>
              <a:t>This is </a:t>
            </a:r>
            <a:r>
              <a:rPr lang="en-IN" b="1" dirty="0"/>
              <a:t>Bessel’s correction</a:t>
            </a:r>
            <a:r>
              <a:rPr lang="en-IN" dirty="0" smtClean="0"/>
              <a:t>.</a:t>
            </a:r>
          </a:p>
          <a:p>
            <a:r>
              <a:rPr lang="en-IN" b="1" dirty="0"/>
              <a:t>What it does</a:t>
            </a:r>
          </a:p>
          <a:p>
            <a:pPr lvl="1"/>
            <a:r>
              <a:rPr lang="en-IN" dirty="0"/>
              <a:t>Inflates the variance slightly</a:t>
            </a:r>
          </a:p>
          <a:p>
            <a:pPr lvl="1"/>
            <a:r>
              <a:rPr lang="en-IN" dirty="0"/>
              <a:t>Exactly compensates for the bias introduced by estimating the mean</a:t>
            </a:r>
          </a:p>
          <a:p>
            <a:pPr lvl="1"/>
            <a:r>
              <a:rPr lang="en-IN" dirty="0"/>
              <a:t>Makes </a:t>
            </a:r>
            <a:r>
              <a:rPr lang="en-IN" dirty="0" smtClean="0"/>
              <a:t>s^2 an </a:t>
            </a:r>
            <a:r>
              <a:rPr lang="en-IN" b="1" dirty="0"/>
              <a:t>unbiased estimator</a:t>
            </a:r>
            <a:r>
              <a:rPr lang="en-IN" dirty="0"/>
              <a:t> of </a:t>
            </a:r>
            <a:r>
              <a:rPr lang="el-GR" dirty="0" smtClean="0"/>
              <a:t>σ</a:t>
            </a:r>
            <a:r>
              <a:rPr lang="en-IN" dirty="0" smtClean="0"/>
              <a:t>^2</a:t>
            </a:r>
            <a:endParaRPr lang="el-GR" dirty="0"/>
          </a:p>
          <a:p>
            <a:pPr marL="0" indent="0">
              <a:buNone/>
            </a:pPr>
            <a:endParaRPr lang="en-IN" dirty="0"/>
          </a:p>
          <a:p>
            <a:pPr marL="0" indent="0">
              <a:buNone/>
            </a:pPr>
            <a:endParaRPr lang="en-IN"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132856"/>
            <a:ext cx="3688815"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7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sp>
        <p:nvSpPr>
          <p:cNvPr id="5" name="Content Placeholder 4"/>
          <p:cNvSpPr>
            <a:spLocks noGrp="1"/>
          </p:cNvSpPr>
          <p:nvPr>
            <p:ph idx="1"/>
          </p:nvPr>
        </p:nvSpPr>
        <p:spPr/>
        <p:txBody>
          <a:bodyPr>
            <a:normAutofit/>
          </a:bodyPr>
          <a:lstStyle/>
          <a:p>
            <a:pPr marL="0" indent="0">
              <a:buNone/>
            </a:pPr>
            <a:r>
              <a:rPr lang="en-IN" b="1" dirty="0"/>
              <a:t>Bessel’s correction compensates for the loss of one degree of freedom caused by estimating the mean from the sample, preventing systematic underestimation of variance</a:t>
            </a:r>
            <a:r>
              <a:rPr lang="en-IN" b="1" dirty="0" smtClean="0"/>
              <a:t>.</a:t>
            </a:r>
          </a:p>
          <a:p>
            <a:pPr marL="0" indent="0">
              <a:buNone/>
            </a:pPr>
            <a:endParaRPr lang="en-IN" b="1" dirty="0"/>
          </a:p>
        </p:txBody>
      </p:sp>
    </p:spTree>
    <p:extLst>
      <p:ext uri="{BB962C8B-B14F-4D97-AF65-F5344CB8AC3E}">
        <p14:creationId xmlns:p14="http://schemas.microsoft.com/office/powerpoint/2010/main" val="5177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Explain with Example</a:t>
            </a:r>
            <a:endParaRPr lang="en-IN" dirty="0"/>
          </a:p>
        </p:txBody>
      </p:sp>
      <p:sp>
        <p:nvSpPr>
          <p:cNvPr id="5" name="Content Placeholder 4"/>
          <p:cNvSpPr>
            <a:spLocks noGrp="1"/>
          </p:cNvSpPr>
          <p:nvPr>
            <p:ph idx="1"/>
          </p:nvPr>
        </p:nvSpPr>
        <p:spPr/>
        <p:txBody>
          <a:bodyPr/>
          <a:lstStyle/>
          <a:p>
            <a:pPr marL="0" indent="0">
              <a:buNone/>
            </a:pPr>
            <a:r>
              <a:rPr lang="en-IN" b="1" dirty="0"/>
              <a:t>Toy numerical </a:t>
            </a:r>
            <a:r>
              <a:rPr lang="en-IN" b="1" dirty="0" smtClean="0"/>
              <a:t>example</a:t>
            </a:r>
            <a:endParaRPr lang="en-IN" b="1" dirty="0"/>
          </a:p>
          <a:p>
            <a:r>
              <a:rPr lang="en-IN" b="1" dirty="0" smtClean="0"/>
              <a:t>Data</a:t>
            </a:r>
          </a:p>
          <a:p>
            <a:pPr marL="457200" lvl="1" indent="0">
              <a:buNone/>
            </a:pPr>
            <a:r>
              <a:rPr lang="en-IN" b="1" dirty="0"/>
              <a:t>	</a:t>
            </a:r>
            <a:r>
              <a:rPr lang="en-IN" b="1" dirty="0" smtClean="0"/>
              <a:t>x = { 2, 4, 6 }</a:t>
            </a:r>
          </a:p>
          <a:p>
            <a:pPr marL="457200" lvl="1" indent="0">
              <a:buNone/>
            </a:pPr>
            <a:r>
              <a:rPr lang="en-IN" dirty="0" smtClean="0"/>
              <a:t>Assume this is a sample from a population</a:t>
            </a:r>
          </a:p>
          <a:p>
            <a:pPr marL="457200" lvl="1" indent="0">
              <a:buNone/>
            </a:pPr>
            <a:r>
              <a:rPr lang="en-IN" dirty="0" smtClean="0"/>
              <a:t>Sample Mean = 2+4+6/3 = 4</a:t>
            </a:r>
          </a:p>
          <a:p>
            <a:endParaRPr lang="en-IN" dirty="0" smtClean="0"/>
          </a:p>
          <a:p>
            <a:r>
              <a:rPr lang="en-IN" dirty="0" smtClean="0"/>
              <a:t>Assume Population mean = 5 </a:t>
            </a:r>
          </a:p>
          <a:p>
            <a:endParaRPr lang="en-IN" dirty="0" smtClean="0"/>
          </a:p>
          <a:p>
            <a:pPr lvl="1"/>
            <a:endParaRPr lang="en-IN" dirty="0" smtClean="0"/>
          </a:p>
          <a:p>
            <a:pPr marL="457200" lvl="1" indent="0">
              <a:buNone/>
            </a:pPr>
            <a:endParaRPr lang="en-IN" dirty="0"/>
          </a:p>
          <a:p>
            <a:endParaRPr lang="en-IN" dirty="0" smtClean="0"/>
          </a:p>
        </p:txBody>
      </p:sp>
    </p:spTree>
    <p:extLst>
      <p:ext uri="{BB962C8B-B14F-4D97-AF65-F5344CB8AC3E}">
        <p14:creationId xmlns:p14="http://schemas.microsoft.com/office/powerpoint/2010/main" val="5177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Pupolation Style Varianve</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98263601"/>
              </p:ext>
            </p:extLst>
          </p:nvPr>
        </p:nvGraphicFramePr>
        <p:xfrm>
          <a:off x="899592" y="2924944"/>
          <a:ext cx="7355160" cy="2025532"/>
        </p:xfrm>
        <a:graphic>
          <a:graphicData uri="http://schemas.openxmlformats.org/drawingml/2006/table">
            <a:tbl>
              <a:tblPr/>
              <a:tblGrid>
                <a:gridCol w="2451720"/>
                <a:gridCol w="2451720"/>
                <a:gridCol w="2451720"/>
              </a:tblGrid>
              <a:tr h="506383">
                <a:tc>
                  <a:txBody>
                    <a:bodyPr/>
                    <a:lstStyle/>
                    <a:p>
                      <a:r>
                        <a:rPr lang="en-IN" b="1" dirty="0"/>
                        <a:t>Point</a:t>
                      </a:r>
                    </a:p>
                  </a:txBody>
                  <a:tcPr anchor="ctr">
                    <a:lnL>
                      <a:noFill/>
                    </a:lnL>
                    <a:lnR>
                      <a:noFill/>
                    </a:lnR>
                    <a:lnT>
                      <a:noFill/>
                    </a:lnT>
                    <a:lnB>
                      <a:noFill/>
                    </a:lnB>
                  </a:tcPr>
                </a:tc>
                <a:tc>
                  <a:txBody>
                    <a:bodyPr/>
                    <a:lstStyle/>
                    <a:p>
                      <a:r>
                        <a:rPr lang="en-IN" b="1"/>
                        <a:t>Deviation</a:t>
                      </a:r>
                    </a:p>
                  </a:txBody>
                  <a:tcPr anchor="ctr">
                    <a:lnL>
                      <a:noFill/>
                    </a:lnL>
                    <a:lnR>
                      <a:noFill/>
                    </a:lnR>
                    <a:lnT>
                      <a:noFill/>
                    </a:lnT>
                    <a:lnB>
                      <a:noFill/>
                    </a:lnB>
                  </a:tcPr>
                </a:tc>
                <a:tc>
                  <a:txBody>
                    <a:bodyPr/>
                    <a:lstStyle/>
                    <a:p>
                      <a:r>
                        <a:rPr lang="en-IN" b="1"/>
                        <a:t>Squared</a:t>
                      </a:r>
                    </a:p>
                  </a:txBody>
                  <a:tcPr anchor="ctr">
                    <a:lnL>
                      <a:noFill/>
                    </a:lnL>
                    <a:lnR>
                      <a:noFill/>
                    </a:lnR>
                    <a:lnT>
                      <a:noFill/>
                    </a:lnT>
                    <a:lnB>
                      <a:noFill/>
                    </a:lnB>
                  </a:tcPr>
                </a:tc>
              </a:tr>
              <a:tr h="506383">
                <a:tc>
                  <a:txBody>
                    <a:bodyPr/>
                    <a:lstStyle/>
                    <a:p>
                      <a:r>
                        <a:rPr lang="en-IN" b="1"/>
                        <a:t>2</a:t>
                      </a:r>
                    </a:p>
                  </a:txBody>
                  <a:tcPr anchor="ctr">
                    <a:lnL>
                      <a:noFill/>
                    </a:lnL>
                    <a:lnR>
                      <a:noFill/>
                    </a:lnR>
                    <a:lnT>
                      <a:noFill/>
                    </a:lnT>
                    <a:lnB>
                      <a:noFill/>
                    </a:lnB>
                  </a:tcPr>
                </a:tc>
                <a:tc>
                  <a:txBody>
                    <a:bodyPr/>
                    <a:lstStyle/>
                    <a:p>
                      <a:r>
                        <a:rPr lang="en-IN" b="1" dirty="0"/>
                        <a:t>−3</a:t>
                      </a:r>
                    </a:p>
                  </a:txBody>
                  <a:tcPr anchor="ctr">
                    <a:lnL>
                      <a:noFill/>
                    </a:lnL>
                    <a:lnR>
                      <a:noFill/>
                    </a:lnR>
                    <a:lnT>
                      <a:noFill/>
                    </a:lnT>
                    <a:lnB>
                      <a:noFill/>
                    </a:lnB>
                  </a:tcPr>
                </a:tc>
                <a:tc>
                  <a:txBody>
                    <a:bodyPr/>
                    <a:lstStyle/>
                    <a:p>
                      <a:r>
                        <a:rPr lang="en-IN" b="1"/>
                        <a:t>9</a:t>
                      </a:r>
                    </a:p>
                  </a:txBody>
                  <a:tcPr anchor="ctr">
                    <a:lnL>
                      <a:noFill/>
                    </a:lnL>
                    <a:lnR>
                      <a:noFill/>
                    </a:lnR>
                    <a:lnT>
                      <a:noFill/>
                    </a:lnT>
                    <a:lnB>
                      <a:noFill/>
                    </a:lnB>
                  </a:tcPr>
                </a:tc>
              </a:tr>
              <a:tr h="506383">
                <a:tc>
                  <a:txBody>
                    <a:bodyPr/>
                    <a:lstStyle/>
                    <a:p>
                      <a:r>
                        <a:rPr lang="en-IN" b="1"/>
                        <a:t>4</a:t>
                      </a:r>
                    </a:p>
                  </a:txBody>
                  <a:tcPr anchor="ctr">
                    <a:lnL>
                      <a:noFill/>
                    </a:lnL>
                    <a:lnR>
                      <a:noFill/>
                    </a:lnR>
                    <a:lnT>
                      <a:noFill/>
                    </a:lnT>
                    <a:lnB>
                      <a:noFill/>
                    </a:lnB>
                  </a:tcPr>
                </a:tc>
                <a:tc>
                  <a:txBody>
                    <a:bodyPr/>
                    <a:lstStyle/>
                    <a:p>
                      <a:r>
                        <a:rPr lang="en-IN" b="1" dirty="0"/>
                        <a:t>−1</a:t>
                      </a:r>
                    </a:p>
                  </a:txBody>
                  <a:tcPr anchor="ctr">
                    <a:lnL>
                      <a:noFill/>
                    </a:lnL>
                    <a:lnR>
                      <a:noFill/>
                    </a:lnR>
                    <a:lnT>
                      <a:noFill/>
                    </a:lnT>
                    <a:lnB>
                      <a:noFill/>
                    </a:lnB>
                  </a:tcPr>
                </a:tc>
                <a:tc>
                  <a:txBody>
                    <a:bodyPr/>
                    <a:lstStyle/>
                    <a:p>
                      <a:r>
                        <a:rPr lang="en-IN" b="1"/>
                        <a:t>1</a:t>
                      </a:r>
                    </a:p>
                  </a:txBody>
                  <a:tcPr anchor="ctr">
                    <a:lnL>
                      <a:noFill/>
                    </a:lnL>
                    <a:lnR>
                      <a:noFill/>
                    </a:lnR>
                    <a:lnT>
                      <a:noFill/>
                    </a:lnT>
                    <a:lnB>
                      <a:noFill/>
                    </a:lnB>
                  </a:tcPr>
                </a:tc>
              </a:tr>
              <a:tr h="506383">
                <a:tc>
                  <a:txBody>
                    <a:bodyPr/>
                    <a:lstStyle/>
                    <a:p>
                      <a:r>
                        <a:rPr lang="en-IN" b="1"/>
                        <a:t>6</a:t>
                      </a:r>
                    </a:p>
                  </a:txBody>
                  <a:tcPr anchor="ctr">
                    <a:lnL>
                      <a:noFill/>
                    </a:lnL>
                    <a:lnR>
                      <a:noFill/>
                    </a:lnR>
                    <a:lnT>
                      <a:noFill/>
                    </a:lnT>
                    <a:lnB>
                      <a:noFill/>
                    </a:lnB>
                  </a:tcPr>
                </a:tc>
                <a:tc>
                  <a:txBody>
                    <a:bodyPr/>
                    <a:lstStyle/>
                    <a:p>
                      <a:r>
                        <a:rPr lang="en-IN" b="1"/>
                        <a:t>+1</a:t>
                      </a:r>
                    </a:p>
                  </a:txBody>
                  <a:tcPr anchor="ctr">
                    <a:lnL>
                      <a:noFill/>
                    </a:lnL>
                    <a:lnR>
                      <a:noFill/>
                    </a:lnR>
                    <a:lnT>
                      <a:noFill/>
                    </a:lnT>
                    <a:lnB>
                      <a:noFill/>
                    </a:lnB>
                  </a:tcPr>
                </a:tc>
                <a:tc>
                  <a:txBody>
                    <a:bodyPr/>
                    <a:lstStyle/>
                    <a:p>
                      <a:r>
                        <a:rPr lang="en-IN" b="1" dirty="0"/>
                        <a:t>1</a:t>
                      </a:r>
                    </a:p>
                  </a:txBody>
                  <a:tcPr anchor="ctr">
                    <a:lnL>
                      <a:noFill/>
                    </a:lnL>
                    <a:lnR>
                      <a:noFill/>
                    </a:lnR>
                    <a:lnT>
                      <a:noFill/>
                    </a:lnT>
                    <a:lnB>
                      <a:noFill/>
                    </a:lnB>
                  </a:tcPr>
                </a:tc>
              </a:tr>
            </a:tbl>
          </a:graphicData>
        </a:graphic>
      </p:graphicFrame>
      <p:sp>
        <p:nvSpPr>
          <p:cNvPr id="9" name="Rectangle 8"/>
          <p:cNvSpPr/>
          <p:nvPr/>
        </p:nvSpPr>
        <p:spPr>
          <a:xfrm>
            <a:off x="3762687" y="1988840"/>
            <a:ext cx="1061509" cy="769441"/>
          </a:xfrm>
          <a:prstGeom prst="rect">
            <a:avLst/>
          </a:prstGeom>
        </p:spPr>
        <p:txBody>
          <a:bodyPr wrap="none">
            <a:spAutoFit/>
          </a:bodyPr>
          <a:lstStyle/>
          <a:p>
            <a:r>
              <a:rPr lang="el-GR" sz="4400" dirty="0"/>
              <a:t>μ=5</a:t>
            </a:r>
            <a:endParaRPr lang="en-IN" sz="4400" dirty="0"/>
          </a:p>
        </p:txBody>
      </p:sp>
      <p:sp>
        <p:nvSpPr>
          <p:cNvPr id="10" name="TextBox 9"/>
          <p:cNvSpPr txBox="1"/>
          <p:nvPr/>
        </p:nvSpPr>
        <p:spPr>
          <a:xfrm>
            <a:off x="1763688" y="5554106"/>
            <a:ext cx="4370042" cy="646331"/>
          </a:xfrm>
          <a:prstGeom prst="rect">
            <a:avLst/>
          </a:prstGeom>
          <a:noFill/>
        </p:spPr>
        <p:txBody>
          <a:bodyPr wrap="none" rtlCol="0">
            <a:spAutoFit/>
          </a:bodyPr>
          <a:lstStyle/>
          <a:p>
            <a:r>
              <a:rPr lang="en-IN" sz="3600" dirty="0" smtClean="0"/>
              <a:t>Variance = 11/3 = 3.67</a:t>
            </a:r>
            <a:endParaRPr lang="en-IN" sz="3600" dirty="0"/>
          </a:p>
        </p:txBody>
      </p:sp>
    </p:spTree>
    <p:extLst>
      <p:ext uri="{BB962C8B-B14F-4D97-AF65-F5344CB8AC3E}">
        <p14:creationId xmlns:p14="http://schemas.microsoft.com/office/powerpoint/2010/main" val="3747260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Sample Mean </a:t>
            </a:r>
            <a:endParaRPr lang="en-IN" dirty="0"/>
          </a:p>
        </p:txBody>
      </p:sp>
      <p:sp>
        <p:nvSpPr>
          <p:cNvPr id="3" name="Content Placeholder 2"/>
          <p:cNvSpPr>
            <a:spLocks noGrp="1"/>
          </p:cNvSpPr>
          <p:nvPr>
            <p:ph idx="1"/>
          </p:nvPr>
        </p:nvSpPr>
        <p:spPr/>
        <p:txBody>
          <a:bodyPr/>
          <a:lstStyle/>
          <a:p>
            <a:r>
              <a:rPr lang="en-IN" dirty="0" smtClean="0"/>
              <a:t>Sample Mean = 4</a:t>
            </a:r>
          </a:p>
          <a:p>
            <a:r>
              <a:rPr lang="en-IN" dirty="0" smtClean="0"/>
              <a:t>Naive Sample Variance = 8/3 = 2.67 </a:t>
            </a:r>
          </a:p>
          <a:p>
            <a:endParaRPr lang="en-IN" dirty="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694135189"/>
              </p:ext>
            </p:extLst>
          </p:nvPr>
        </p:nvGraphicFramePr>
        <p:xfrm>
          <a:off x="457200" y="3131661"/>
          <a:ext cx="5194920" cy="1463040"/>
        </p:xfrm>
        <a:graphic>
          <a:graphicData uri="http://schemas.openxmlformats.org/drawingml/2006/table">
            <a:tbl>
              <a:tblPr/>
              <a:tblGrid>
                <a:gridCol w="1731640"/>
                <a:gridCol w="1731640"/>
                <a:gridCol w="1731640"/>
              </a:tblGrid>
              <a:tr h="0">
                <a:tc>
                  <a:txBody>
                    <a:bodyPr/>
                    <a:lstStyle/>
                    <a:p>
                      <a:r>
                        <a:rPr lang="en-IN" b="1" dirty="0"/>
                        <a:t>Point</a:t>
                      </a:r>
                    </a:p>
                  </a:txBody>
                  <a:tcPr anchor="ctr">
                    <a:lnL>
                      <a:noFill/>
                    </a:lnL>
                    <a:lnR>
                      <a:noFill/>
                    </a:lnR>
                    <a:lnT>
                      <a:noFill/>
                    </a:lnT>
                    <a:lnB>
                      <a:noFill/>
                    </a:lnB>
                  </a:tcPr>
                </a:tc>
                <a:tc>
                  <a:txBody>
                    <a:bodyPr/>
                    <a:lstStyle/>
                    <a:p>
                      <a:r>
                        <a:rPr lang="en-IN" b="1" dirty="0"/>
                        <a:t>Deviation</a:t>
                      </a:r>
                    </a:p>
                  </a:txBody>
                  <a:tcPr anchor="ctr">
                    <a:lnL>
                      <a:noFill/>
                    </a:lnL>
                    <a:lnR>
                      <a:noFill/>
                    </a:lnR>
                    <a:lnT>
                      <a:noFill/>
                    </a:lnT>
                    <a:lnB>
                      <a:noFill/>
                    </a:lnB>
                  </a:tcPr>
                </a:tc>
                <a:tc>
                  <a:txBody>
                    <a:bodyPr/>
                    <a:lstStyle/>
                    <a:p>
                      <a:r>
                        <a:rPr lang="en-IN" b="1"/>
                        <a:t>Squared</a:t>
                      </a:r>
                    </a:p>
                  </a:txBody>
                  <a:tcPr anchor="ctr">
                    <a:lnL>
                      <a:noFill/>
                    </a:lnL>
                    <a:lnR>
                      <a:noFill/>
                    </a:lnR>
                    <a:lnT>
                      <a:noFill/>
                    </a:lnT>
                    <a:lnB>
                      <a:noFill/>
                    </a:lnB>
                  </a:tcPr>
                </a:tc>
              </a:tr>
              <a:tr h="0">
                <a:tc>
                  <a:txBody>
                    <a:bodyPr/>
                    <a:lstStyle/>
                    <a:p>
                      <a:r>
                        <a:rPr lang="en-IN" b="1" dirty="0"/>
                        <a:t>2</a:t>
                      </a:r>
                    </a:p>
                  </a:txBody>
                  <a:tcPr anchor="ctr">
                    <a:lnL>
                      <a:noFill/>
                    </a:lnL>
                    <a:lnR>
                      <a:noFill/>
                    </a:lnR>
                    <a:lnT>
                      <a:noFill/>
                    </a:lnT>
                    <a:lnB>
                      <a:noFill/>
                    </a:lnB>
                  </a:tcPr>
                </a:tc>
                <a:tc>
                  <a:txBody>
                    <a:bodyPr/>
                    <a:lstStyle/>
                    <a:p>
                      <a:r>
                        <a:rPr lang="en-IN" b="1" dirty="0"/>
                        <a:t>−2</a:t>
                      </a:r>
                    </a:p>
                  </a:txBody>
                  <a:tcPr anchor="ctr">
                    <a:lnL>
                      <a:noFill/>
                    </a:lnL>
                    <a:lnR>
                      <a:noFill/>
                    </a:lnR>
                    <a:lnT>
                      <a:noFill/>
                    </a:lnT>
                    <a:lnB>
                      <a:noFill/>
                    </a:lnB>
                  </a:tcPr>
                </a:tc>
                <a:tc>
                  <a:txBody>
                    <a:bodyPr/>
                    <a:lstStyle/>
                    <a:p>
                      <a:r>
                        <a:rPr lang="en-IN" b="1"/>
                        <a:t>4</a:t>
                      </a:r>
                    </a:p>
                  </a:txBody>
                  <a:tcPr anchor="ctr">
                    <a:lnL>
                      <a:noFill/>
                    </a:lnL>
                    <a:lnR>
                      <a:noFill/>
                    </a:lnR>
                    <a:lnT>
                      <a:noFill/>
                    </a:lnT>
                    <a:lnB>
                      <a:noFill/>
                    </a:lnB>
                  </a:tcPr>
                </a:tc>
              </a:tr>
              <a:tr h="0">
                <a:tc>
                  <a:txBody>
                    <a:bodyPr/>
                    <a:lstStyle/>
                    <a:p>
                      <a:r>
                        <a:rPr lang="en-IN" b="1"/>
                        <a:t>4</a:t>
                      </a:r>
                    </a:p>
                  </a:txBody>
                  <a:tcPr anchor="ctr">
                    <a:lnL>
                      <a:noFill/>
                    </a:lnL>
                    <a:lnR>
                      <a:noFill/>
                    </a:lnR>
                    <a:lnT>
                      <a:noFill/>
                    </a:lnT>
                    <a:lnB>
                      <a:noFill/>
                    </a:lnB>
                  </a:tcPr>
                </a:tc>
                <a:tc>
                  <a:txBody>
                    <a:bodyPr/>
                    <a:lstStyle/>
                    <a:p>
                      <a:r>
                        <a:rPr lang="en-IN" b="1"/>
                        <a:t>0</a:t>
                      </a:r>
                    </a:p>
                  </a:txBody>
                  <a:tcPr anchor="ctr">
                    <a:lnL>
                      <a:noFill/>
                    </a:lnL>
                    <a:lnR>
                      <a:noFill/>
                    </a:lnR>
                    <a:lnT>
                      <a:noFill/>
                    </a:lnT>
                    <a:lnB>
                      <a:noFill/>
                    </a:lnB>
                  </a:tcPr>
                </a:tc>
                <a:tc>
                  <a:txBody>
                    <a:bodyPr/>
                    <a:lstStyle/>
                    <a:p>
                      <a:r>
                        <a:rPr lang="en-IN" b="1"/>
                        <a:t>0</a:t>
                      </a:r>
                    </a:p>
                  </a:txBody>
                  <a:tcPr anchor="ctr">
                    <a:lnL>
                      <a:noFill/>
                    </a:lnL>
                    <a:lnR>
                      <a:noFill/>
                    </a:lnR>
                    <a:lnT>
                      <a:noFill/>
                    </a:lnT>
                    <a:lnB>
                      <a:noFill/>
                    </a:lnB>
                  </a:tcPr>
                </a:tc>
              </a:tr>
              <a:tr h="0">
                <a:tc>
                  <a:txBody>
                    <a:bodyPr/>
                    <a:lstStyle/>
                    <a:p>
                      <a:r>
                        <a:rPr lang="en-IN" b="1"/>
                        <a:t>6</a:t>
                      </a:r>
                    </a:p>
                  </a:txBody>
                  <a:tcPr anchor="ctr">
                    <a:lnL>
                      <a:noFill/>
                    </a:lnL>
                    <a:lnR>
                      <a:noFill/>
                    </a:lnR>
                    <a:lnT>
                      <a:noFill/>
                    </a:lnT>
                    <a:lnB>
                      <a:noFill/>
                    </a:lnB>
                  </a:tcPr>
                </a:tc>
                <a:tc>
                  <a:txBody>
                    <a:bodyPr/>
                    <a:lstStyle/>
                    <a:p>
                      <a:r>
                        <a:rPr lang="en-IN" b="1"/>
                        <a:t>+2</a:t>
                      </a:r>
                    </a:p>
                  </a:txBody>
                  <a:tcPr anchor="ctr">
                    <a:lnL>
                      <a:noFill/>
                    </a:lnL>
                    <a:lnR>
                      <a:noFill/>
                    </a:lnR>
                    <a:lnT>
                      <a:noFill/>
                    </a:lnT>
                    <a:lnB>
                      <a:noFill/>
                    </a:lnB>
                  </a:tcPr>
                </a:tc>
                <a:tc>
                  <a:txBody>
                    <a:bodyPr/>
                    <a:lstStyle/>
                    <a:p>
                      <a:r>
                        <a:rPr lang="en-IN" b="1" dirty="0"/>
                        <a:t>4</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016832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4997152"/>
          </a:xfrm>
        </p:spPr>
        <p:txBody>
          <a:bodyPr>
            <a:normAutofit fontScale="92500" lnSpcReduction="20000"/>
          </a:bodyPr>
          <a:lstStyle/>
          <a:p>
            <a:r>
              <a:rPr lang="en-IN" dirty="0" smtClean="0"/>
              <a:t>Constraint</a:t>
            </a:r>
          </a:p>
          <a:p>
            <a:pPr lvl="1"/>
            <a:r>
              <a:rPr lang="en-IN" dirty="0" smtClean="0"/>
              <a:t>Deviations </a:t>
            </a:r>
            <a:r>
              <a:rPr lang="en-IN" dirty="0"/>
              <a:t>must sum to </a:t>
            </a:r>
            <a:r>
              <a:rPr lang="en-IN" b="1" dirty="0" smtClean="0"/>
              <a:t>zero</a:t>
            </a:r>
            <a:endParaRPr lang="en-IN" dirty="0"/>
          </a:p>
          <a:p>
            <a:pPr lvl="1"/>
            <a:r>
              <a:rPr lang="en-IN" dirty="0"/>
              <a:t>Once two deviations are chosen, the third is </a:t>
            </a:r>
            <a:r>
              <a:rPr lang="en-IN" b="1" dirty="0"/>
              <a:t>forced</a:t>
            </a:r>
            <a:endParaRPr lang="en-IN" dirty="0"/>
          </a:p>
          <a:p>
            <a:r>
              <a:rPr lang="en-IN" dirty="0"/>
              <a:t>Example:</a:t>
            </a:r>
          </a:p>
          <a:p>
            <a:pPr marL="0" indent="0">
              <a:buNone/>
            </a:pPr>
            <a:r>
              <a:rPr lang="en-IN" dirty="0" smtClean="0"/>
              <a:t> 		(</a:t>
            </a:r>
            <a:r>
              <a:rPr lang="en-IN" dirty="0"/>
              <a:t>−2</a:t>
            </a:r>
            <a:r>
              <a:rPr lang="en-IN" dirty="0" smtClean="0"/>
              <a:t>) + 0 + 2=0</a:t>
            </a:r>
          </a:p>
          <a:p>
            <a:pPr marL="0" indent="0">
              <a:buNone/>
            </a:pPr>
            <a:endParaRPr lang="en-IN" dirty="0"/>
          </a:p>
          <a:p>
            <a:pPr marL="0" indent="0">
              <a:buNone/>
            </a:pPr>
            <a:r>
              <a:rPr lang="en-IN" dirty="0" smtClean="0"/>
              <a:t>1 Equation </a:t>
            </a:r>
            <a:r>
              <a:rPr lang="en-IN" dirty="0" smtClean="0">
                <a:sym typeface="Wingdings" pitchFamily="2" charset="2"/>
              </a:rPr>
              <a:t> 1 less degree of freedom </a:t>
            </a:r>
          </a:p>
          <a:p>
            <a:pPr marL="0" indent="0">
              <a:buNone/>
            </a:pPr>
            <a:r>
              <a:rPr lang="en-IN" dirty="0" smtClean="0"/>
              <a:t>Only </a:t>
            </a:r>
            <a:r>
              <a:rPr lang="en-IN" b="1" dirty="0"/>
              <a:t>2 independent directions</a:t>
            </a:r>
            <a:r>
              <a:rPr lang="en-IN" dirty="0"/>
              <a:t> of movement exist</a:t>
            </a:r>
            <a:r>
              <a:rPr lang="en-IN" dirty="0" smtClean="0"/>
              <a:t>.</a:t>
            </a:r>
          </a:p>
          <a:p>
            <a:pPr marL="0" indent="0">
              <a:buNone/>
            </a:pPr>
            <a:r>
              <a:rPr lang="en-IN" dirty="0" smtClean="0"/>
              <a:t>Bessel’s Correction fixes the geometry</a:t>
            </a:r>
          </a:p>
          <a:p>
            <a:pPr marL="0" indent="0">
              <a:buNone/>
            </a:pPr>
            <a:endParaRPr lang="en-IN" dirty="0" smtClean="0"/>
          </a:p>
          <a:p>
            <a:pPr marL="0" indent="0">
              <a:buNone/>
            </a:pPr>
            <a:r>
              <a:rPr lang="en-IN" sz="3800" b="1" dirty="0"/>
              <a:t>	</a:t>
            </a:r>
            <a:r>
              <a:rPr lang="en-IN" sz="3800" b="1" dirty="0" smtClean="0"/>
              <a:t>S^2 = 8/(3-1) = 4 ( closer to 3.67 ) </a:t>
            </a:r>
            <a:endParaRPr lang="en-IN" sz="3800" b="1" dirty="0"/>
          </a:p>
          <a:p>
            <a:endParaRPr lang="en-IN" dirty="0"/>
          </a:p>
        </p:txBody>
      </p:sp>
    </p:spTree>
    <p:extLst>
      <p:ext uri="{BB962C8B-B14F-4D97-AF65-F5344CB8AC3E}">
        <p14:creationId xmlns:p14="http://schemas.microsoft.com/office/powerpoint/2010/main" val="14088630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Standard Deviation</a:t>
            </a:r>
            <a:endParaRPr lang="en-IN" dirty="0"/>
          </a:p>
        </p:txBody>
      </p:sp>
      <p:sp>
        <p:nvSpPr>
          <p:cNvPr id="3" name="Content Placeholder 2"/>
          <p:cNvSpPr>
            <a:spLocks noGrp="1"/>
          </p:cNvSpPr>
          <p:nvPr>
            <p:ph idx="1"/>
          </p:nvPr>
        </p:nvSpPr>
        <p:spPr/>
        <p:txBody>
          <a:bodyPr>
            <a:normAutofit/>
          </a:bodyPr>
          <a:lstStyle/>
          <a:p>
            <a:pPr marL="0" indent="0">
              <a:buNone/>
            </a:pPr>
            <a:r>
              <a:rPr lang="en-IN" b="1" dirty="0"/>
              <a:t>Square root of variance:</a:t>
            </a:r>
            <a:endParaRPr lang="en-IN" dirty="0"/>
          </a:p>
          <a:p>
            <a:pPr marL="457200" lvl="1" indent="0">
              <a:buNone/>
            </a:pPr>
            <a:r>
              <a:rPr lang="en-IN" dirty="0" smtClean="0"/>
              <a:t>	s=SqRoot(s^2)</a:t>
            </a:r>
          </a:p>
          <a:p>
            <a:r>
              <a:rPr lang="en-IN" dirty="0" smtClean="0"/>
              <a:t>​</a:t>
            </a:r>
            <a:r>
              <a:rPr lang="en-IN" b="1" dirty="0"/>
              <a:t>Properties:</a:t>
            </a:r>
            <a:endParaRPr lang="en-IN" dirty="0"/>
          </a:p>
          <a:p>
            <a:pPr lvl="1"/>
            <a:r>
              <a:rPr lang="en-IN" dirty="0"/>
              <a:t>In original units of measurement</a:t>
            </a:r>
          </a:p>
          <a:p>
            <a:pPr lvl="1"/>
            <a:r>
              <a:rPr lang="en-IN" dirty="0"/>
              <a:t>Measures "typical" deviation from </a:t>
            </a:r>
            <a:r>
              <a:rPr lang="en-IN" dirty="0" smtClean="0"/>
              <a:t>mean</a:t>
            </a:r>
            <a:endParaRPr lang="en-IN" dirty="0"/>
          </a:p>
        </p:txBody>
      </p:sp>
      <p:pic>
        <p:nvPicPr>
          <p:cNvPr id="4" name="Picture 2" descr="The normal curve is shown over a horizontal axis. The axis is labeled with points m-3s, m-2s, m-1s, m, m+1s, m+2s, m+3s. Vertical lines connect the axis to the curve at each labeled point. The peak of the curve aligns with the mean point m. The curve changes concavity at m-s and m+s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4293095"/>
            <a:ext cx="5832648" cy="2392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3217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1"/>
            <a:r>
              <a:rPr lang="en-IN" dirty="0"/>
              <a:t>For normal distribution:</a:t>
            </a:r>
          </a:p>
          <a:p>
            <a:pPr lvl="2"/>
            <a:r>
              <a:rPr lang="en-IN" dirty="0"/>
              <a:t>~68% within ±1 SD</a:t>
            </a:r>
          </a:p>
          <a:p>
            <a:pPr lvl="2"/>
            <a:r>
              <a:rPr lang="en-IN" dirty="0"/>
              <a:t>~95% within ±2 SD</a:t>
            </a:r>
          </a:p>
          <a:p>
            <a:pPr lvl="2"/>
            <a:r>
              <a:rPr lang="en-IN" dirty="0"/>
              <a:t>~99.7% within ±3 SD</a:t>
            </a:r>
          </a:p>
          <a:p>
            <a:endParaRPr lang="en-IN" dirty="0"/>
          </a:p>
        </p:txBody>
      </p:sp>
      <p:pic>
        <p:nvPicPr>
          <p:cNvPr id="4" name="Picture 4" descr="Visual illustrating the empirical rule. Area left tail m-3s and below is .15%, from m-3s to m-2s is 2.4%, from m-2s to m-1s is 13.5%, from m-1s to m is 34%, from m to m+1s is 34%, from m+1s to m+2s is 13.5%, from m+2s to m+3s is 2.4%, from m+3s and above is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3861048"/>
            <a:ext cx="5774229" cy="2550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8774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Questions</a:t>
            </a:r>
            <a:endParaRPr lang="en-IN" dirty="0"/>
          </a:p>
        </p:txBody>
      </p:sp>
      <p:sp>
        <p:nvSpPr>
          <p:cNvPr id="3" name="Content Placeholder 2"/>
          <p:cNvSpPr>
            <a:spLocks noGrp="1"/>
          </p:cNvSpPr>
          <p:nvPr>
            <p:ph idx="1"/>
          </p:nvPr>
        </p:nvSpPr>
        <p:spPr/>
        <p:txBody>
          <a:bodyPr/>
          <a:lstStyle/>
          <a:p>
            <a:r>
              <a:rPr lang="en-IN" dirty="0"/>
              <a:t>Suppose we have a normal distribution with a mean of 10 and standard deviation of 2.</a:t>
            </a:r>
          </a:p>
          <a:p>
            <a:pPr lvl="1"/>
            <a:r>
              <a:rPr lang="en-IN" dirty="0"/>
              <a:t>What is the percentage of the population that has a value between 8 and 12?</a:t>
            </a:r>
          </a:p>
          <a:p>
            <a:pPr lvl="1"/>
            <a:r>
              <a:rPr lang="en-IN" dirty="0"/>
              <a:t>What is the percentage of the population that has a value below 12?</a:t>
            </a:r>
          </a:p>
          <a:p>
            <a:pPr lvl="1"/>
            <a:r>
              <a:rPr lang="en-IN" dirty="0"/>
              <a:t>What is the percentage of the population with values between 6 and 12?</a:t>
            </a:r>
          </a:p>
          <a:p>
            <a:endParaRPr lang="en-IN" dirty="0"/>
          </a:p>
        </p:txBody>
      </p:sp>
    </p:spTree>
    <p:extLst>
      <p:ext uri="{BB962C8B-B14F-4D97-AF65-F5344CB8AC3E}">
        <p14:creationId xmlns:p14="http://schemas.microsoft.com/office/powerpoint/2010/main" val="23167681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Coefficient </a:t>
            </a:r>
            <a:r>
              <a:rPr lang="en-IN" b="1" dirty="0"/>
              <a:t>of Variation (CV</a:t>
            </a:r>
            <a:r>
              <a:rPr lang="en-IN" b="1" dirty="0" smtClean="0"/>
              <a:t>)</a:t>
            </a:r>
            <a:endParaRPr lang="en-IN" dirty="0"/>
          </a:p>
        </p:txBody>
      </p:sp>
      <p:sp>
        <p:nvSpPr>
          <p:cNvPr id="3" name="Content Placeholder 2"/>
          <p:cNvSpPr>
            <a:spLocks noGrp="1"/>
          </p:cNvSpPr>
          <p:nvPr>
            <p:ph idx="1"/>
          </p:nvPr>
        </p:nvSpPr>
        <p:spPr>
          <a:xfrm>
            <a:off x="457200" y="1600200"/>
            <a:ext cx="8229600" cy="4997152"/>
          </a:xfrm>
        </p:spPr>
        <p:txBody>
          <a:bodyPr>
            <a:normAutofit fontScale="85000" lnSpcReduction="20000"/>
          </a:bodyPr>
          <a:lstStyle/>
          <a:p>
            <a:r>
              <a:rPr lang="en-IN" b="1" dirty="0" smtClean="0"/>
              <a:t>Relative </a:t>
            </a:r>
            <a:r>
              <a:rPr lang="en-IN" b="1" dirty="0"/>
              <a:t>measure of dispersion:</a:t>
            </a:r>
            <a:endParaRPr lang="en-IN" dirty="0"/>
          </a:p>
          <a:p>
            <a:pPr marL="457200" lvl="1" indent="0">
              <a:buNone/>
            </a:pPr>
            <a:r>
              <a:rPr lang="en-IN" dirty="0" smtClean="0"/>
              <a:t>		</a:t>
            </a:r>
          </a:p>
          <a:p>
            <a:endParaRPr lang="en-IN" b="1" dirty="0" smtClean="0"/>
          </a:p>
          <a:p>
            <a:endParaRPr lang="en-IN" b="1" dirty="0"/>
          </a:p>
          <a:p>
            <a:r>
              <a:rPr lang="en-IN" b="1" dirty="0" smtClean="0"/>
              <a:t>Purpose</a:t>
            </a:r>
            <a:r>
              <a:rPr lang="en-IN" b="1" dirty="0"/>
              <a:t>:</a:t>
            </a:r>
            <a:r>
              <a:rPr lang="en-IN" dirty="0"/>
              <a:t> Compare variability across different datasets</a:t>
            </a:r>
          </a:p>
          <a:p>
            <a:pPr lvl="1"/>
            <a:r>
              <a:rPr lang="en-IN" dirty="0"/>
              <a:t>Unitless measure</a:t>
            </a:r>
          </a:p>
          <a:p>
            <a:pPr lvl="1"/>
            <a:r>
              <a:rPr lang="en-IN" dirty="0"/>
              <a:t>Useful when means are different</a:t>
            </a:r>
          </a:p>
          <a:p>
            <a:r>
              <a:rPr lang="en-IN" b="1" dirty="0"/>
              <a:t>Example:</a:t>
            </a:r>
            <a:endParaRPr lang="en-IN" dirty="0"/>
          </a:p>
          <a:p>
            <a:pPr lvl="1"/>
            <a:r>
              <a:rPr lang="en-IN" dirty="0"/>
              <a:t>Dataset A: </a:t>
            </a:r>
            <a:r>
              <a:rPr lang="en-IN" i="1" dirty="0" smtClean="0"/>
              <a:t>x</a:t>
            </a:r>
            <a:r>
              <a:rPr lang="en-IN" dirty="0"/>
              <a:t>ˉ=100, </a:t>
            </a:r>
            <a:r>
              <a:rPr lang="en-IN" dirty="0" smtClean="0"/>
              <a:t>s=10 </a:t>
            </a:r>
            <a:r>
              <a:rPr lang="en-IN" dirty="0"/>
              <a:t> → CV = 10%</a:t>
            </a:r>
          </a:p>
          <a:p>
            <a:pPr lvl="1"/>
            <a:r>
              <a:rPr lang="en-IN" dirty="0"/>
              <a:t>Dataset B: xˉ=</a:t>
            </a:r>
            <a:r>
              <a:rPr lang="en-IN" dirty="0" smtClean="0"/>
              <a:t>200</a:t>
            </a:r>
            <a:r>
              <a:rPr lang="en-IN" i="1" dirty="0" smtClean="0"/>
              <a:t>, s</a:t>
            </a:r>
            <a:r>
              <a:rPr lang="en-IN" dirty="0" smtClean="0"/>
              <a:t>=20</a:t>
            </a:r>
            <a:r>
              <a:rPr lang="en-IN" dirty="0"/>
              <a:t> → CV = 10%</a:t>
            </a:r>
            <a:br>
              <a:rPr lang="en-IN" dirty="0"/>
            </a:br>
            <a:endParaRPr lang="en-IN" dirty="0" smtClean="0"/>
          </a:p>
          <a:p>
            <a:pPr marL="0" indent="0">
              <a:buNone/>
            </a:pPr>
            <a:r>
              <a:rPr lang="en-IN" i="1" dirty="0" smtClean="0"/>
              <a:t>Both </a:t>
            </a:r>
            <a:r>
              <a:rPr lang="en-IN" i="1" dirty="0"/>
              <a:t>have same relative variability despite different </a:t>
            </a:r>
            <a:r>
              <a:rPr lang="en-IN" i="1" dirty="0" smtClean="0"/>
              <a:t>scales</a:t>
            </a:r>
            <a:endParaRPr lang="en-IN"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132856"/>
            <a:ext cx="2320039"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69487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Five-Number </a:t>
            </a:r>
            <a:r>
              <a:rPr lang="en-IN" b="1" dirty="0" smtClean="0"/>
              <a:t>Summary</a:t>
            </a:r>
            <a:endParaRPr lang="en-IN" dirty="0"/>
          </a:p>
        </p:txBody>
      </p:sp>
      <p:sp>
        <p:nvSpPr>
          <p:cNvPr id="3" name="Content Placeholder 2"/>
          <p:cNvSpPr>
            <a:spLocks noGrp="1"/>
          </p:cNvSpPr>
          <p:nvPr>
            <p:ph idx="1"/>
          </p:nvPr>
        </p:nvSpPr>
        <p:spPr/>
        <p:txBody>
          <a:bodyPr>
            <a:normAutofit fontScale="85000" lnSpcReduction="20000"/>
          </a:bodyPr>
          <a:lstStyle/>
          <a:p>
            <a:r>
              <a:rPr lang="en-IN" b="1" dirty="0"/>
              <a:t>Compact description of distribution:</a:t>
            </a:r>
            <a:endParaRPr lang="en-IN" dirty="0"/>
          </a:p>
          <a:p>
            <a:pPr marL="971550" lvl="1" indent="-514350">
              <a:buFont typeface="+mj-lt"/>
              <a:buAutoNum type="arabicPeriod"/>
            </a:pPr>
            <a:r>
              <a:rPr lang="en-IN" dirty="0"/>
              <a:t>Minimum</a:t>
            </a:r>
          </a:p>
          <a:p>
            <a:pPr marL="971550" lvl="1" indent="-514350">
              <a:buFont typeface="+mj-lt"/>
              <a:buAutoNum type="arabicPeriod"/>
            </a:pPr>
            <a:r>
              <a:rPr lang="en-IN" dirty="0"/>
              <a:t>First Quartile (Q1)</a:t>
            </a:r>
          </a:p>
          <a:p>
            <a:pPr marL="971550" lvl="1" indent="-514350">
              <a:buFont typeface="+mj-lt"/>
              <a:buAutoNum type="arabicPeriod"/>
            </a:pPr>
            <a:r>
              <a:rPr lang="en-IN" dirty="0"/>
              <a:t>Median (Q2)</a:t>
            </a:r>
          </a:p>
          <a:p>
            <a:pPr marL="971550" lvl="1" indent="-514350">
              <a:buFont typeface="+mj-lt"/>
              <a:buAutoNum type="arabicPeriod"/>
            </a:pPr>
            <a:r>
              <a:rPr lang="en-IN" dirty="0"/>
              <a:t>Third Quartile (Q3)</a:t>
            </a:r>
          </a:p>
          <a:p>
            <a:pPr marL="971550" lvl="1" indent="-514350">
              <a:buFont typeface="+mj-lt"/>
              <a:buAutoNum type="arabicPeriod"/>
            </a:pPr>
            <a:r>
              <a:rPr lang="en-IN" dirty="0"/>
              <a:t>Maximum</a:t>
            </a:r>
          </a:p>
          <a:p>
            <a:r>
              <a:rPr lang="en-IN" b="1" dirty="0"/>
              <a:t>Example </a:t>
            </a:r>
            <a:r>
              <a:rPr lang="en-IN" b="1" dirty="0" smtClean="0"/>
              <a:t>:</a:t>
            </a:r>
            <a:r>
              <a:rPr lang="en-IN" dirty="0"/>
              <a:t/>
            </a:r>
            <a:br>
              <a:rPr lang="en-IN" dirty="0"/>
            </a:br>
            <a:r>
              <a:rPr lang="en-IN" dirty="0"/>
              <a:t>Min=12, Q1=17, Median=27, Q3=40, Max=50</a:t>
            </a:r>
          </a:p>
          <a:p>
            <a:r>
              <a:rPr lang="en-IN" b="1" dirty="0"/>
              <a:t>Provides information about:</a:t>
            </a:r>
            <a:endParaRPr lang="en-IN" dirty="0"/>
          </a:p>
          <a:p>
            <a:pPr lvl="1"/>
            <a:r>
              <a:rPr lang="en-IN" dirty="0"/>
              <a:t>Center (median)</a:t>
            </a:r>
          </a:p>
          <a:p>
            <a:pPr lvl="1"/>
            <a:r>
              <a:rPr lang="en-IN" dirty="0"/>
              <a:t>Spread (range, IQR)</a:t>
            </a:r>
          </a:p>
          <a:p>
            <a:pPr lvl="1"/>
            <a:r>
              <a:rPr lang="en-IN" dirty="0"/>
              <a:t>Shape (symmetry, skewness)</a:t>
            </a:r>
          </a:p>
          <a:p>
            <a:pPr marL="0" indent="0">
              <a:buNone/>
            </a:pPr>
            <a:endParaRPr lang="en-IN" dirty="0"/>
          </a:p>
        </p:txBody>
      </p:sp>
    </p:spTree>
    <p:extLst>
      <p:ext uri="{BB962C8B-B14F-4D97-AF65-F5344CB8AC3E}">
        <p14:creationId xmlns:p14="http://schemas.microsoft.com/office/powerpoint/2010/main" val="35527912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smtClean="0"/>
              <a:t>Introduction </a:t>
            </a:r>
            <a:r>
              <a:rPr lang="en-IN" b="1" dirty="0"/>
              <a:t>to Boxplots (Box-and-Whisker Plots</a:t>
            </a:r>
            <a:r>
              <a:rPr lang="en-IN" b="1" dirty="0" smtClean="0"/>
              <a:t>)</a:t>
            </a:r>
            <a:endParaRPr lang="en-IN" dirty="0"/>
          </a:p>
        </p:txBody>
      </p:sp>
      <p:sp>
        <p:nvSpPr>
          <p:cNvPr id="5" name="Content Placeholder 4"/>
          <p:cNvSpPr>
            <a:spLocks noGrp="1"/>
          </p:cNvSpPr>
          <p:nvPr>
            <p:ph idx="1"/>
          </p:nvPr>
        </p:nvSpPr>
        <p:spPr>
          <a:xfrm>
            <a:off x="457200" y="1600200"/>
            <a:ext cx="8229600" cy="4997152"/>
          </a:xfrm>
        </p:spPr>
        <p:txBody>
          <a:bodyPr>
            <a:normAutofit fontScale="92500" lnSpcReduction="20000"/>
          </a:bodyPr>
          <a:lstStyle/>
          <a:p>
            <a:pPr marL="0" indent="0">
              <a:buNone/>
            </a:pPr>
            <a:r>
              <a:rPr lang="en-IN" b="1" dirty="0"/>
              <a:t>Visual representation of five-number summary:</a:t>
            </a:r>
            <a:endParaRPr lang="en-IN" dirty="0"/>
          </a:p>
          <a:p>
            <a:endParaRPr lang="en-IN" dirty="0"/>
          </a:p>
          <a:p>
            <a:endParaRPr lang="en-IN" b="1" dirty="0" smtClean="0"/>
          </a:p>
          <a:p>
            <a:endParaRPr lang="en-IN" b="1" dirty="0" smtClean="0"/>
          </a:p>
          <a:p>
            <a:endParaRPr lang="en-IN" b="1" dirty="0" smtClean="0"/>
          </a:p>
          <a:p>
            <a:endParaRPr lang="en-IN" b="1" dirty="0"/>
          </a:p>
          <a:p>
            <a:r>
              <a:rPr lang="en-IN" b="1" dirty="0" smtClean="0"/>
              <a:t>Components</a:t>
            </a:r>
            <a:r>
              <a:rPr lang="en-IN" b="1" dirty="0"/>
              <a:t>:</a:t>
            </a:r>
            <a:endParaRPr lang="en-IN" dirty="0"/>
          </a:p>
          <a:p>
            <a:pPr lvl="1"/>
            <a:r>
              <a:rPr lang="en-IN" dirty="0"/>
              <a:t>Box: From Q1 to Q3 (contains middle 50%)</a:t>
            </a:r>
          </a:p>
          <a:p>
            <a:pPr lvl="1"/>
            <a:r>
              <a:rPr lang="en-IN" dirty="0"/>
              <a:t>Line inside box: Median</a:t>
            </a:r>
          </a:p>
          <a:p>
            <a:pPr lvl="1"/>
            <a:r>
              <a:rPr lang="en-IN" dirty="0"/>
              <a:t>Whiskers: Extend to min/max within 1.5×IQR</a:t>
            </a:r>
          </a:p>
          <a:p>
            <a:pPr lvl="1"/>
            <a:r>
              <a:rPr lang="en-IN" dirty="0"/>
              <a:t>Outliers: Plotted individually as points</a:t>
            </a:r>
          </a:p>
          <a:p>
            <a:endParaRPr lang="en-IN" dirty="0"/>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204864"/>
            <a:ext cx="6386753"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8766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Constructing a Boxplot - Step by </a:t>
            </a:r>
            <a:r>
              <a:rPr lang="en-IN" b="1" dirty="0" smtClean="0"/>
              <a:t>Step</a:t>
            </a:r>
            <a:endParaRPr lang="en-IN" dirty="0"/>
          </a:p>
        </p:txBody>
      </p:sp>
      <p:sp>
        <p:nvSpPr>
          <p:cNvPr id="3" name="Content Placeholder 2"/>
          <p:cNvSpPr>
            <a:spLocks noGrp="1"/>
          </p:cNvSpPr>
          <p:nvPr>
            <p:ph idx="1"/>
          </p:nvPr>
        </p:nvSpPr>
        <p:spPr>
          <a:xfrm>
            <a:off x="457200" y="1600200"/>
            <a:ext cx="8229600" cy="5141168"/>
          </a:xfrm>
        </p:spPr>
        <p:txBody>
          <a:bodyPr>
            <a:normAutofit fontScale="85000" lnSpcReduction="20000"/>
          </a:bodyPr>
          <a:lstStyle/>
          <a:p>
            <a:r>
              <a:rPr lang="en-IN" b="1" dirty="0"/>
              <a:t>Data:</a:t>
            </a:r>
            <a:r>
              <a:rPr lang="en-IN" dirty="0"/>
              <a:t> </a:t>
            </a:r>
            <a:endParaRPr lang="en-IN" dirty="0" smtClean="0"/>
          </a:p>
          <a:p>
            <a:pPr lvl="1"/>
            <a:r>
              <a:rPr lang="en-IN" dirty="0" smtClean="0"/>
              <a:t>12</a:t>
            </a:r>
            <a:r>
              <a:rPr lang="en-IN" dirty="0"/>
              <a:t>, 15, 17, 21, 24, 30, 35, 40, 45, 50</a:t>
            </a:r>
          </a:p>
          <a:p>
            <a:r>
              <a:rPr lang="en-IN" b="1" dirty="0"/>
              <a:t>Step 1:</a:t>
            </a:r>
            <a:r>
              <a:rPr lang="en-IN" dirty="0"/>
              <a:t> Calculate five-number </a:t>
            </a:r>
            <a:r>
              <a:rPr lang="en-IN" dirty="0" smtClean="0"/>
              <a:t>summary</a:t>
            </a:r>
          </a:p>
          <a:p>
            <a:pPr lvl="1"/>
            <a:r>
              <a:rPr lang="en-IN" dirty="0" smtClean="0"/>
              <a:t>Min=12</a:t>
            </a:r>
            <a:r>
              <a:rPr lang="en-IN" dirty="0"/>
              <a:t>, Q1=17, Median=27, Q3=40, Max=50</a:t>
            </a:r>
          </a:p>
          <a:p>
            <a:r>
              <a:rPr lang="en-IN" b="1" dirty="0"/>
              <a:t>Step 2:</a:t>
            </a:r>
            <a:r>
              <a:rPr lang="en-IN" dirty="0"/>
              <a:t> Calculate </a:t>
            </a:r>
            <a:r>
              <a:rPr lang="en-IN" dirty="0" smtClean="0"/>
              <a:t>IQR</a:t>
            </a:r>
          </a:p>
          <a:p>
            <a:pPr lvl="1"/>
            <a:r>
              <a:rPr lang="en-IN" dirty="0" smtClean="0"/>
              <a:t>IQR </a:t>
            </a:r>
            <a:r>
              <a:rPr lang="en-IN" dirty="0"/>
              <a:t>= Q3 - Q1 = 40 - 17 = 23</a:t>
            </a:r>
          </a:p>
          <a:p>
            <a:r>
              <a:rPr lang="en-IN" b="1" dirty="0"/>
              <a:t>Step 3:</a:t>
            </a:r>
            <a:r>
              <a:rPr lang="en-IN" dirty="0"/>
              <a:t> Determine whisker </a:t>
            </a:r>
            <a:r>
              <a:rPr lang="en-IN" dirty="0" smtClean="0"/>
              <a:t>limits</a:t>
            </a:r>
          </a:p>
          <a:p>
            <a:pPr lvl="1"/>
            <a:r>
              <a:rPr lang="en-IN" dirty="0" smtClean="0"/>
              <a:t>Lower </a:t>
            </a:r>
            <a:r>
              <a:rPr lang="en-IN" dirty="0"/>
              <a:t>limit = Q1 - 1.5×IQR = 17 - 34.5 = -</a:t>
            </a:r>
            <a:r>
              <a:rPr lang="en-IN" dirty="0" smtClean="0"/>
              <a:t>17.5</a:t>
            </a:r>
          </a:p>
          <a:p>
            <a:pPr lvl="1"/>
            <a:r>
              <a:rPr lang="en-IN" dirty="0" smtClean="0"/>
              <a:t>Upper </a:t>
            </a:r>
            <a:r>
              <a:rPr lang="en-IN" dirty="0"/>
              <a:t>limit = Q3 + 1.5×IQR = 40 + 34.5 = 74.5</a:t>
            </a:r>
          </a:p>
          <a:p>
            <a:r>
              <a:rPr lang="en-IN" b="1" dirty="0"/>
              <a:t>Step 4:</a:t>
            </a:r>
            <a:r>
              <a:rPr lang="en-IN" dirty="0"/>
              <a:t> Identify </a:t>
            </a:r>
            <a:r>
              <a:rPr lang="en-IN" dirty="0" smtClean="0"/>
              <a:t>outliers</a:t>
            </a:r>
          </a:p>
          <a:p>
            <a:pPr lvl="1"/>
            <a:r>
              <a:rPr lang="en-IN" dirty="0" smtClean="0"/>
              <a:t>No </a:t>
            </a:r>
            <a:r>
              <a:rPr lang="en-IN" dirty="0"/>
              <a:t>values below -17.5 or above 74.5 → No </a:t>
            </a:r>
            <a:r>
              <a:rPr lang="en-IN" dirty="0" smtClean="0"/>
              <a:t>outliers</a:t>
            </a:r>
          </a:p>
          <a:p>
            <a:r>
              <a:rPr lang="en-IN" b="1" dirty="0"/>
              <a:t>Step 5:</a:t>
            </a:r>
            <a:r>
              <a:rPr lang="en-IN" dirty="0"/>
              <a:t> </a:t>
            </a:r>
            <a:endParaRPr lang="en-IN" dirty="0" smtClean="0"/>
          </a:p>
          <a:p>
            <a:pPr lvl="1"/>
            <a:r>
              <a:rPr lang="en-IN" dirty="0" smtClean="0"/>
              <a:t>Draw </a:t>
            </a:r>
            <a:r>
              <a:rPr lang="en-IN" dirty="0"/>
              <a:t>boxplot with whiskers to min and </a:t>
            </a:r>
            <a:r>
              <a:rPr lang="en-IN" dirty="0" smtClean="0"/>
              <a:t>max</a:t>
            </a:r>
            <a:endParaRPr lang="en-IN" dirty="0"/>
          </a:p>
        </p:txBody>
      </p:sp>
    </p:spTree>
    <p:extLst>
      <p:ext uri="{BB962C8B-B14F-4D97-AF65-F5344CB8AC3E}">
        <p14:creationId xmlns:p14="http://schemas.microsoft.com/office/powerpoint/2010/main" val="32170364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339660"/>
            <a:ext cx="6408712" cy="632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158208" y="16494"/>
            <a:ext cx="4572000" cy="646331"/>
          </a:xfrm>
          <a:prstGeom prst="rect">
            <a:avLst/>
          </a:prstGeom>
        </p:spPr>
        <p:txBody>
          <a:bodyPr>
            <a:spAutoFit/>
          </a:bodyPr>
          <a:lstStyle/>
          <a:p>
            <a:r>
              <a:rPr lang="en-IN" dirty="0"/>
              <a:t>https://loppsided.blog/posts/2021-06-18-boxplots-and-p-values/</a:t>
            </a:r>
          </a:p>
        </p:txBody>
      </p:sp>
    </p:spTree>
    <p:extLst>
      <p:ext uri="{BB962C8B-B14F-4D97-AF65-F5344CB8AC3E}">
        <p14:creationId xmlns:p14="http://schemas.microsoft.com/office/powerpoint/2010/main" val="315754788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Interpreting Boxplots</a:t>
            </a:r>
            <a:endParaRPr lang="en-IN" dirty="0"/>
          </a:p>
        </p:txBody>
      </p:sp>
      <p:sp>
        <p:nvSpPr>
          <p:cNvPr id="3" name="Content Placeholder 2"/>
          <p:cNvSpPr>
            <a:spLocks noGrp="1"/>
          </p:cNvSpPr>
          <p:nvPr>
            <p:ph idx="1"/>
          </p:nvPr>
        </p:nvSpPr>
        <p:spPr/>
        <p:txBody>
          <a:bodyPr>
            <a:normAutofit fontScale="85000" lnSpcReduction="20000"/>
          </a:bodyPr>
          <a:lstStyle/>
          <a:p>
            <a:r>
              <a:rPr lang="en-IN" b="1" dirty="0"/>
              <a:t>Shape Identification:</a:t>
            </a:r>
            <a:endParaRPr lang="en-IN" dirty="0"/>
          </a:p>
          <a:p>
            <a:pPr lvl="1"/>
            <a:r>
              <a:rPr lang="en-IN" b="1" dirty="0"/>
              <a:t>Symmetric:</a:t>
            </a:r>
            <a:r>
              <a:rPr lang="en-IN" dirty="0"/>
              <a:t> Median centered in box, whiskers similar length</a:t>
            </a:r>
          </a:p>
          <a:p>
            <a:pPr lvl="1"/>
            <a:r>
              <a:rPr lang="en-IN" b="1" dirty="0"/>
              <a:t>Right-skewed:</a:t>
            </a:r>
            <a:r>
              <a:rPr lang="en-IN" dirty="0"/>
              <a:t> Median closer to Q1, right whisker longer</a:t>
            </a:r>
          </a:p>
          <a:p>
            <a:pPr lvl="1"/>
            <a:r>
              <a:rPr lang="en-IN" b="1" dirty="0"/>
              <a:t>Left-skewed:</a:t>
            </a:r>
            <a:r>
              <a:rPr lang="en-IN" dirty="0"/>
              <a:t> Median closer to Q3, left whisker longer</a:t>
            </a:r>
          </a:p>
          <a:p>
            <a:r>
              <a:rPr lang="en-IN" b="1" dirty="0"/>
              <a:t>Spread Assessment:</a:t>
            </a:r>
            <a:endParaRPr lang="en-IN" dirty="0"/>
          </a:p>
          <a:p>
            <a:pPr lvl="1"/>
            <a:r>
              <a:rPr lang="en-IN" dirty="0"/>
              <a:t>Tall box = high variability in middle 50%</a:t>
            </a:r>
          </a:p>
          <a:p>
            <a:pPr lvl="1"/>
            <a:r>
              <a:rPr lang="en-IN" dirty="0"/>
              <a:t>Long whiskers = extreme values far from center</a:t>
            </a:r>
          </a:p>
          <a:p>
            <a:pPr lvl="1"/>
            <a:r>
              <a:rPr lang="en-IN" dirty="0"/>
              <a:t>Short box/whiskers = data concentrated</a:t>
            </a:r>
          </a:p>
          <a:p>
            <a:r>
              <a:rPr lang="en-IN" b="1" dirty="0"/>
              <a:t>Outlier Detection:</a:t>
            </a:r>
            <a:endParaRPr lang="en-IN" dirty="0"/>
          </a:p>
          <a:p>
            <a:pPr lvl="1"/>
            <a:r>
              <a:rPr lang="en-IN" dirty="0"/>
              <a:t>Points beyond whiskers are potential outliers</a:t>
            </a:r>
          </a:p>
          <a:p>
            <a:pPr lvl="1"/>
            <a:r>
              <a:rPr lang="en-IN" dirty="0"/>
              <a:t>Indicates extreme values that may need investigation</a:t>
            </a:r>
          </a:p>
          <a:p>
            <a:pPr marL="0" indent="0">
              <a:buNone/>
            </a:pPr>
            <a:endParaRPr lang="en-IN" dirty="0"/>
          </a:p>
        </p:txBody>
      </p:sp>
    </p:spTree>
    <p:extLst>
      <p:ext uri="{BB962C8B-B14F-4D97-AF65-F5344CB8AC3E}">
        <p14:creationId xmlns:p14="http://schemas.microsoft.com/office/powerpoint/2010/main" val="11569920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Histograms </a:t>
            </a:r>
            <a:r>
              <a:rPr lang="en-IN" b="1" dirty="0"/>
              <a:t>- </a:t>
            </a:r>
            <a:r>
              <a:rPr lang="en-IN" b="1" dirty="0" smtClean="0"/>
              <a:t>Construction</a:t>
            </a:r>
            <a:endParaRPr lang="en-IN" dirty="0"/>
          </a:p>
        </p:txBody>
      </p:sp>
      <p:sp>
        <p:nvSpPr>
          <p:cNvPr id="3" name="Content Placeholder 2"/>
          <p:cNvSpPr>
            <a:spLocks noGrp="1"/>
          </p:cNvSpPr>
          <p:nvPr>
            <p:ph idx="1"/>
          </p:nvPr>
        </p:nvSpPr>
        <p:spPr>
          <a:xfrm>
            <a:off x="457200" y="1600200"/>
            <a:ext cx="8229600" cy="5069160"/>
          </a:xfrm>
        </p:spPr>
        <p:txBody>
          <a:bodyPr>
            <a:normAutofit fontScale="92500" lnSpcReduction="20000"/>
          </a:bodyPr>
          <a:lstStyle/>
          <a:p>
            <a:r>
              <a:rPr lang="en-IN" b="1" dirty="0" smtClean="0"/>
              <a:t>Step </a:t>
            </a:r>
            <a:r>
              <a:rPr lang="en-IN" b="1" dirty="0"/>
              <a:t>1: Determine number of bins (</a:t>
            </a:r>
            <a:r>
              <a:rPr lang="en-IN" b="1" dirty="0" smtClean="0"/>
              <a:t>k)</a:t>
            </a:r>
          </a:p>
          <a:p>
            <a:pPr marL="0" indent="0">
              <a:buNone/>
            </a:pPr>
            <a:r>
              <a:rPr lang="en-IN" dirty="0" smtClean="0"/>
              <a:t>Common </a:t>
            </a:r>
            <a:r>
              <a:rPr lang="en-IN" dirty="0"/>
              <a:t>rules:</a:t>
            </a:r>
          </a:p>
          <a:p>
            <a:pPr lvl="1"/>
            <a:r>
              <a:rPr lang="en-IN" dirty="0"/>
              <a:t>Square-root: k=</a:t>
            </a:r>
            <a:r>
              <a:rPr lang="en-IN" dirty="0" smtClean="0"/>
              <a:t>⌈sqrt of n⌉</a:t>
            </a:r>
            <a:endParaRPr lang="en-IN" dirty="0"/>
          </a:p>
          <a:p>
            <a:pPr lvl="1"/>
            <a:r>
              <a:rPr lang="en-IN" dirty="0"/>
              <a:t>Sturges' formula: k=⌈log⁡2n+1</a:t>
            </a:r>
            <a:r>
              <a:rPr lang="en-IN" dirty="0" smtClean="0"/>
              <a:t>⌉</a:t>
            </a:r>
            <a:endParaRPr lang="en-IN" dirty="0"/>
          </a:p>
          <a:p>
            <a:pPr lvl="1"/>
            <a:r>
              <a:rPr lang="en-IN" dirty="0"/>
              <a:t>Rice rule: k=⌈</a:t>
            </a:r>
            <a:r>
              <a:rPr lang="en-IN" dirty="0" smtClean="0"/>
              <a:t>2 sq cube of n⌉</a:t>
            </a:r>
            <a:endParaRPr lang="en-IN" dirty="0"/>
          </a:p>
          <a:p>
            <a:r>
              <a:rPr lang="en-IN" b="1" dirty="0"/>
              <a:t>Step 2: Calculate bin width</a:t>
            </a:r>
            <a:endParaRPr lang="en-IN" dirty="0"/>
          </a:p>
          <a:p>
            <a:pPr lvl="1"/>
            <a:r>
              <a:rPr lang="en-IN" dirty="0"/>
              <a:t>Bin </a:t>
            </a:r>
            <a:r>
              <a:rPr lang="en-IN" dirty="0" smtClean="0"/>
              <a:t>width=Range/k=(Max</a:t>
            </a:r>
            <a:r>
              <a:rPr lang="en-IN" dirty="0"/>
              <a:t>−</a:t>
            </a:r>
            <a:r>
              <a:rPr lang="en-IN" dirty="0" smtClean="0"/>
              <a:t>Min)/k​</a:t>
            </a:r>
          </a:p>
          <a:p>
            <a:r>
              <a:rPr lang="en-IN" b="1" dirty="0" smtClean="0"/>
              <a:t>Step </a:t>
            </a:r>
            <a:r>
              <a:rPr lang="en-IN" b="1" dirty="0"/>
              <a:t>3: </a:t>
            </a:r>
            <a:endParaRPr lang="en-IN" b="1" dirty="0" smtClean="0"/>
          </a:p>
          <a:p>
            <a:pPr lvl="1"/>
            <a:r>
              <a:rPr lang="en-IN" dirty="0" smtClean="0"/>
              <a:t>Create </a:t>
            </a:r>
            <a:r>
              <a:rPr lang="en-IN" dirty="0"/>
              <a:t>bins and count frequencies</a:t>
            </a:r>
          </a:p>
          <a:p>
            <a:r>
              <a:rPr lang="en-IN" b="1" dirty="0"/>
              <a:t>Step 4: </a:t>
            </a:r>
            <a:endParaRPr lang="en-IN" b="1" dirty="0" smtClean="0"/>
          </a:p>
          <a:p>
            <a:pPr lvl="1"/>
            <a:r>
              <a:rPr lang="en-IN" dirty="0" smtClean="0"/>
              <a:t>Draw </a:t>
            </a:r>
            <a:r>
              <a:rPr lang="en-IN" dirty="0"/>
              <a:t>rectangles with height = frequency</a:t>
            </a:r>
          </a:p>
          <a:p>
            <a:pPr marL="0" indent="0">
              <a:buNone/>
            </a:pPr>
            <a:endParaRPr lang="en-IN" dirty="0"/>
          </a:p>
        </p:txBody>
      </p:sp>
    </p:spTree>
    <p:extLst>
      <p:ext uri="{BB962C8B-B14F-4D97-AF65-F5344CB8AC3E}">
        <p14:creationId xmlns:p14="http://schemas.microsoft.com/office/powerpoint/2010/main" val="9331018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fontScale="92500" lnSpcReduction="10000"/>
          </a:bodyPr>
          <a:lstStyle/>
          <a:p>
            <a:r>
              <a:rPr lang="en-IN" b="1" dirty="0"/>
              <a:t>Data:</a:t>
            </a:r>
            <a:r>
              <a:rPr lang="en-IN" dirty="0"/>
              <a:t> Customer ages (</a:t>
            </a:r>
            <a:r>
              <a:rPr lang="en-IN" dirty="0" smtClean="0"/>
              <a:t>n=20)</a:t>
            </a:r>
          </a:p>
          <a:p>
            <a:pPr lvl="1"/>
            <a:r>
              <a:rPr lang="en-IN" dirty="0" smtClean="0"/>
              <a:t>22, 23, 24, 25, 25, 26, 27, 28, 29, 30, 31, 32, 33, 34, 35, 36, 38, 40, 45, 50</a:t>
            </a:r>
            <a:endParaRPr lang="en-IN" dirty="0"/>
          </a:p>
          <a:p>
            <a:r>
              <a:rPr lang="en-IN" b="1" dirty="0"/>
              <a:t>Step 1:</a:t>
            </a:r>
            <a:r>
              <a:rPr lang="en-IN" dirty="0"/>
              <a:t> Range = 50 - 22 = </a:t>
            </a:r>
            <a:r>
              <a:rPr lang="en-IN" dirty="0" smtClean="0"/>
              <a:t>28</a:t>
            </a:r>
          </a:p>
          <a:p>
            <a:r>
              <a:rPr lang="en-IN" b="1" dirty="0" smtClean="0"/>
              <a:t>Step </a:t>
            </a:r>
            <a:r>
              <a:rPr lang="en-IN" b="1" dirty="0"/>
              <a:t>2:</a:t>
            </a:r>
            <a:r>
              <a:rPr lang="en-IN" dirty="0"/>
              <a:t> Using k=5 bins, width = 28/5 = 5.6 ≈ </a:t>
            </a:r>
            <a:r>
              <a:rPr lang="en-IN" dirty="0" smtClean="0"/>
              <a:t>6</a:t>
            </a:r>
          </a:p>
          <a:p>
            <a:r>
              <a:rPr lang="en-IN" b="1" dirty="0" smtClean="0"/>
              <a:t>Step </a:t>
            </a:r>
            <a:r>
              <a:rPr lang="en-IN" b="1" dirty="0"/>
              <a:t>3:</a:t>
            </a:r>
            <a:r>
              <a:rPr lang="en-IN" dirty="0"/>
              <a:t> Bins: 22-27, 28-33, 34-39, 40-45, </a:t>
            </a:r>
            <a:r>
              <a:rPr lang="en-IN" dirty="0" smtClean="0"/>
              <a:t>46-51</a:t>
            </a:r>
          </a:p>
          <a:p>
            <a:r>
              <a:rPr lang="en-IN" b="1" dirty="0" smtClean="0"/>
              <a:t>Step </a:t>
            </a:r>
            <a:r>
              <a:rPr lang="en-IN" b="1" dirty="0"/>
              <a:t>4:</a:t>
            </a:r>
            <a:r>
              <a:rPr lang="en-IN" dirty="0"/>
              <a:t> Frequencies: 7, 6, 4, 2, 1</a:t>
            </a:r>
          </a:p>
          <a:p>
            <a:r>
              <a:rPr lang="en-IN" b="1" dirty="0"/>
              <a:t>Interpretation:</a:t>
            </a:r>
            <a:r>
              <a:rPr lang="en-IN" dirty="0"/>
              <a:t> Right-skewed distribution, most customers 22-33 years old</a:t>
            </a:r>
          </a:p>
          <a:p>
            <a:endParaRPr lang="en-IN" dirty="0"/>
          </a:p>
        </p:txBody>
      </p:sp>
    </p:spTree>
    <p:extLst>
      <p:ext uri="{BB962C8B-B14F-4D97-AF65-F5344CB8AC3E}">
        <p14:creationId xmlns:p14="http://schemas.microsoft.com/office/powerpoint/2010/main" val="36830577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Histogram vs. </a:t>
            </a:r>
            <a:r>
              <a:rPr lang="en-IN" b="1" dirty="0" smtClean="0"/>
              <a:t>Boxplot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5183070"/>
              </p:ext>
            </p:extLst>
          </p:nvPr>
        </p:nvGraphicFramePr>
        <p:xfrm>
          <a:off x="683568" y="1282867"/>
          <a:ext cx="7056783" cy="4525962"/>
        </p:xfrm>
        <a:graphic>
          <a:graphicData uri="http://schemas.openxmlformats.org/drawingml/2006/table">
            <a:tbl>
              <a:tblPr/>
              <a:tblGrid>
                <a:gridCol w="2352261"/>
                <a:gridCol w="2352261"/>
                <a:gridCol w="2352261"/>
              </a:tblGrid>
              <a:tr h="334786">
                <a:tc>
                  <a:txBody>
                    <a:bodyPr/>
                    <a:lstStyle/>
                    <a:p>
                      <a:pPr algn="l"/>
                      <a:r>
                        <a:rPr lang="en-IN" sz="1500" b="1" dirty="0">
                          <a:effectLst/>
                          <a:latin typeface="quote-cjk-patch"/>
                        </a:rPr>
                        <a:t>Aspect</a:t>
                      </a:r>
                      <a:endParaRPr lang="en-IN" sz="1500" b="0" dirty="0">
                        <a:effectLst/>
                        <a:latin typeface="quote-cjk-patch"/>
                      </a:endParaRPr>
                    </a:p>
                  </a:txBody>
                  <a:tcPr marL="76280" marR="84756" marT="52972" marB="52972" anchor="ctr">
                    <a:lnL>
                      <a:noFill/>
                    </a:lnL>
                    <a:lnR>
                      <a:noFill/>
                    </a:lnR>
                    <a:lnT>
                      <a:noFill/>
                    </a:lnT>
                    <a:lnB>
                      <a:noFill/>
                    </a:lnB>
                    <a:solidFill>
                      <a:srgbClr val="FFFFFF"/>
                    </a:solidFill>
                  </a:tcPr>
                </a:tc>
                <a:tc>
                  <a:txBody>
                    <a:bodyPr/>
                    <a:lstStyle/>
                    <a:p>
                      <a:pPr algn="l"/>
                      <a:r>
                        <a:rPr lang="en-IN" sz="1500" b="1">
                          <a:effectLst/>
                          <a:latin typeface="quote-cjk-patch"/>
                        </a:rPr>
                        <a:t>Histogram</a:t>
                      </a:r>
                      <a:endParaRPr lang="en-IN" sz="1500" b="0">
                        <a:effectLst/>
                        <a:latin typeface="quote-cjk-patch"/>
                      </a:endParaRPr>
                    </a:p>
                  </a:txBody>
                  <a:tcPr marL="84756" marR="84756" marT="52972" marB="52972" anchor="ctr">
                    <a:lnL>
                      <a:noFill/>
                    </a:lnL>
                    <a:lnR>
                      <a:noFill/>
                    </a:lnR>
                    <a:lnT>
                      <a:noFill/>
                    </a:lnT>
                    <a:lnB>
                      <a:noFill/>
                    </a:lnB>
                    <a:solidFill>
                      <a:srgbClr val="FFFFFF"/>
                    </a:solidFill>
                  </a:tcPr>
                </a:tc>
                <a:tc>
                  <a:txBody>
                    <a:bodyPr/>
                    <a:lstStyle/>
                    <a:p>
                      <a:pPr algn="l"/>
                      <a:r>
                        <a:rPr lang="en-IN" sz="1500" b="1">
                          <a:effectLst/>
                          <a:latin typeface="quote-cjk-patch"/>
                        </a:rPr>
                        <a:t>Boxplot</a:t>
                      </a:r>
                      <a:endParaRPr lang="en-IN" sz="1500" b="0">
                        <a:effectLst/>
                        <a:latin typeface="quote-cjk-patch"/>
                      </a:endParaRPr>
                    </a:p>
                  </a:txBody>
                  <a:tcPr marL="84756" marR="84756" marT="52972" marB="52972" anchor="ctr">
                    <a:lnL>
                      <a:noFill/>
                    </a:lnL>
                    <a:lnR>
                      <a:noFill/>
                    </a:lnR>
                    <a:lnT>
                      <a:noFill/>
                    </a:lnT>
                    <a:lnB>
                      <a:noFill/>
                    </a:lnB>
                    <a:solidFill>
                      <a:srgbClr val="FFFFFF"/>
                    </a:solidFill>
                  </a:tcPr>
                </a:tc>
              </a:tr>
              <a:tr h="563626">
                <a:tc>
                  <a:txBody>
                    <a:bodyPr/>
                    <a:lstStyle/>
                    <a:p>
                      <a:r>
                        <a:rPr lang="en-IN" sz="1500" b="1">
                          <a:effectLst/>
                          <a:latin typeface="quote-cjk-patch"/>
                        </a:rPr>
                        <a:t>Shows</a:t>
                      </a:r>
                      <a:endParaRPr lang="en-IN" sz="1500" b="0">
                        <a:effectLst/>
                        <a:latin typeface="quote-cjk-patch"/>
                      </a:endParaRPr>
                    </a:p>
                  </a:txBody>
                  <a:tcPr marL="76280" marR="84756" marT="52972" marB="52972" anchor="ctr">
                    <a:lnL>
                      <a:noFill/>
                    </a:lnL>
                    <a:lnR>
                      <a:noFill/>
                    </a:lnR>
                    <a:lnT>
                      <a:noFill/>
                    </a:lnT>
                    <a:lnB>
                      <a:noFill/>
                    </a:lnB>
                    <a:solidFill>
                      <a:srgbClr val="FFFFFF"/>
                    </a:solidFill>
                  </a:tcPr>
                </a:tc>
                <a:tc>
                  <a:txBody>
                    <a:bodyPr/>
                    <a:lstStyle/>
                    <a:p>
                      <a:r>
                        <a:rPr lang="en-IN" sz="1500" b="0" dirty="0">
                          <a:effectLst/>
                          <a:latin typeface="quote-cjk-patch"/>
                        </a:rPr>
                        <a:t>Distribution shape</a:t>
                      </a:r>
                    </a:p>
                  </a:txBody>
                  <a:tcPr marL="84756" marR="84756" marT="52972" marB="52972" anchor="ctr">
                    <a:lnL>
                      <a:noFill/>
                    </a:lnL>
                    <a:lnR>
                      <a:noFill/>
                    </a:lnR>
                    <a:lnT>
                      <a:noFill/>
                    </a:lnT>
                    <a:lnB>
                      <a:noFill/>
                    </a:lnB>
                    <a:solidFill>
                      <a:srgbClr val="FFFFFF"/>
                    </a:solidFill>
                  </a:tcPr>
                </a:tc>
                <a:tc>
                  <a:txBody>
                    <a:bodyPr/>
                    <a:lstStyle/>
                    <a:p>
                      <a:r>
                        <a:rPr lang="en-IN" sz="1500" b="0">
                          <a:effectLst/>
                          <a:latin typeface="quote-cjk-patch"/>
                        </a:rPr>
                        <a:t>Summary statistics</a:t>
                      </a:r>
                    </a:p>
                  </a:txBody>
                  <a:tcPr marL="84756" marR="76280" marT="52972" marB="52972" anchor="ctr">
                    <a:lnL>
                      <a:noFill/>
                    </a:lnL>
                    <a:lnR>
                      <a:noFill/>
                    </a:lnR>
                    <a:lnT>
                      <a:noFill/>
                    </a:lnT>
                    <a:lnB>
                      <a:noFill/>
                    </a:lnB>
                    <a:solidFill>
                      <a:srgbClr val="FFFFFF"/>
                    </a:solidFill>
                  </a:tcPr>
                </a:tc>
              </a:tr>
              <a:tr h="792467">
                <a:tc>
                  <a:txBody>
                    <a:bodyPr/>
                    <a:lstStyle/>
                    <a:p>
                      <a:r>
                        <a:rPr lang="en-IN" sz="1500" b="1">
                          <a:effectLst/>
                          <a:latin typeface="quote-cjk-patch"/>
                        </a:rPr>
                        <a:t>Details</a:t>
                      </a:r>
                      <a:endParaRPr lang="en-IN" sz="1500" b="0">
                        <a:effectLst/>
                        <a:latin typeface="quote-cjk-patch"/>
                      </a:endParaRPr>
                    </a:p>
                  </a:txBody>
                  <a:tcPr marL="76280" marR="84756" marT="52972" marB="52972" anchor="ctr">
                    <a:lnL>
                      <a:noFill/>
                    </a:lnL>
                    <a:lnR>
                      <a:noFill/>
                    </a:lnR>
                    <a:lnT>
                      <a:noFill/>
                    </a:lnT>
                    <a:lnB>
                      <a:noFill/>
                    </a:lnB>
                    <a:solidFill>
                      <a:srgbClr val="FFFFFF"/>
                    </a:solidFill>
                  </a:tcPr>
                </a:tc>
                <a:tc>
                  <a:txBody>
                    <a:bodyPr/>
                    <a:lstStyle/>
                    <a:p>
                      <a:r>
                        <a:rPr lang="en-IN" sz="1500" b="0">
                          <a:effectLst/>
                          <a:latin typeface="quote-cjk-patch"/>
                        </a:rPr>
                        <a:t>Frequency distribution</a:t>
                      </a:r>
                    </a:p>
                  </a:txBody>
                  <a:tcPr marL="84756" marR="84756" marT="52972" marB="52972" anchor="ctr">
                    <a:lnL>
                      <a:noFill/>
                    </a:lnL>
                    <a:lnR>
                      <a:noFill/>
                    </a:lnR>
                    <a:lnT>
                      <a:noFill/>
                    </a:lnT>
                    <a:lnB>
                      <a:noFill/>
                    </a:lnB>
                    <a:solidFill>
                      <a:srgbClr val="FFFFFF"/>
                    </a:solidFill>
                  </a:tcPr>
                </a:tc>
                <a:tc>
                  <a:txBody>
                    <a:bodyPr/>
                    <a:lstStyle/>
                    <a:p>
                      <a:r>
                        <a:rPr lang="en-IN" sz="1500" b="0">
                          <a:effectLst/>
                          <a:latin typeface="quote-cjk-patch"/>
                        </a:rPr>
                        <a:t>Five-number summary</a:t>
                      </a:r>
                    </a:p>
                  </a:txBody>
                  <a:tcPr marL="84756" marR="76280" marT="52972" marB="52972" anchor="ctr">
                    <a:lnL>
                      <a:noFill/>
                    </a:lnL>
                    <a:lnR>
                      <a:noFill/>
                    </a:lnR>
                    <a:lnT>
                      <a:noFill/>
                    </a:lnT>
                    <a:lnB>
                      <a:noFill/>
                    </a:lnB>
                    <a:solidFill>
                      <a:srgbClr val="FFFFFF"/>
                    </a:solidFill>
                  </a:tcPr>
                </a:tc>
              </a:tr>
              <a:tr h="792467">
                <a:tc>
                  <a:txBody>
                    <a:bodyPr/>
                    <a:lstStyle/>
                    <a:p>
                      <a:r>
                        <a:rPr lang="en-IN" sz="1500" b="1">
                          <a:effectLst/>
                          <a:latin typeface="quote-cjk-patch"/>
                        </a:rPr>
                        <a:t>Outliers</a:t>
                      </a:r>
                      <a:endParaRPr lang="en-IN" sz="1500" b="0">
                        <a:effectLst/>
                        <a:latin typeface="quote-cjk-patch"/>
                      </a:endParaRPr>
                    </a:p>
                  </a:txBody>
                  <a:tcPr marL="76280" marR="84756" marT="52972" marB="52972" anchor="ctr">
                    <a:lnL>
                      <a:noFill/>
                    </a:lnL>
                    <a:lnR>
                      <a:noFill/>
                    </a:lnR>
                    <a:lnT>
                      <a:noFill/>
                    </a:lnT>
                    <a:lnB>
                      <a:noFill/>
                    </a:lnB>
                    <a:solidFill>
                      <a:srgbClr val="FFFFFF"/>
                    </a:solidFill>
                  </a:tcPr>
                </a:tc>
                <a:tc>
                  <a:txBody>
                    <a:bodyPr/>
                    <a:lstStyle/>
                    <a:p>
                      <a:r>
                        <a:rPr lang="en-IN" sz="1500" b="0">
                          <a:effectLst/>
                          <a:latin typeface="quote-cjk-patch"/>
                        </a:rPr>
                        <a:t>Not explicitly marked</a:t>
                      </a:r>
                    </a:p>
                  </a:txBody>
                  <a:tcPr marL="84756" marR="84756" marT="52972" marB="52972" anchor="ctr">
                    <a:lnL>
                      <a:noFill/>
                    </a:lnL>
                    <a:lnR>
                      <a:noFill/>
                    </a:lnR>
                    <a:lnT>
                      <a:noFill/>
                    </a:lnT>
                    <a:lnB>
                      <a:noFill/>
                    </a:lnB>
                    <a:solidFill>
                      <a:srgbClr val="FFFFFF"/>
                    </a:solidFill>
                  </a:tcPr>
                </a:tc>
                <a:tc>
                  <a:txBody>
                    <a:bodyPr/>
                    <a:lstStyle/>
                    <a:p>
                      <a:r>
                        <a:rPr lang="en-IN" sz="1500" b="0">
                          <a:effectLst/>
                          <a:latin typeface="quote-cjk-patch"/>
                        </a:rPr>
                        <a:t>Explicitly shown</a:t>
                      </a:r>
                    </a:p>
                  </a:txBody>
                  <a:tcPr marL="84756" marR="76280" marT="52972" marB="52972" anchor="ctr">
                    <a:lnL>
                      <a:noFill/>
                    </a:lnL>
                    <a:lnR>
                      <a:noFill/>
                    </a:lnR>
                    <a:lnT>
                      <a:noFill/>
                    </a:lnT>
                    <a:lnB>
                      <a:noFill/>
                    </a:lnB>
                    <a:solidFill>
                      <a:srgbClr val="FFFFFF"/>
                    </a:solidFill>
                  </a:tcPr>
                </a:tc>
              </a:tr>
              <a:tr h="1021308">
                <a:tc>
                  <a:txBody>
                    <a:bodyPr/>
                    <a:lstStyle/>
                    <a:p>
                      <a:r>
                        <a:rPr lang="en-IN" sz="1500" b="1">
                          <a:effectLst/>
                          <a:latin typeface="quote-cjk-patch"/>
                        </a:rPr>
                        <a:t>Comparison</a:t>
                      </a:r>
                      <a:endParaRPr lang="en-IN" sz="1500" b="0">
                        <a:effectLst/>
                        <a:latin typeface="quote-cjk-patch"/>
                      </a:endParaRPr>
                    </a:p>
                  </a:txBody>
                  <a:tcPr marL="76280" marR="84756" marT="52972" marB="52972" anchor="ctr">
                    <a:lnL>
                      <a:noFill/>
                    </a:lnL>
                    <a:lnR>
                      <a:noFill/>
                    </a:lnR>
                    <a:lnT>
                      <a:noFill/>
                    </a:lnT>
                    <a:lnB>
                      <a:noFill/>
                    </a:lnB>
                    <a:solidFill>
                      <a:srgbClr val="FFFFFF"/>
                    </a:solidFill>
                  </a:tcPr>
                </a:tc>
                <a:tc>
                  <a:txBody>
                    <a:bodyPr/>
                    <a:lstStyle/>
                    <a:p>
                      <a:r>
                        <a:rPr lang="en-IN" sz="1500" b="0" dirty="0">
                          <a:effectLst/>
                          <a:latin typeface="quote-cjk-patch"/>
                        </a:rPr>
                        <a:t>Harder for multiple datasets</a:t>
                      </a:r>
                    </a:p>
                  </a:txBody>
                  <a:tcPr marL="84756" marR="84756" marT="52972" marB="52972" anchor="ctr">
                    <a:lnL>
                      <a:noFill/>
                    </a:lnL>
                    <a:lnR>
                      <a:noFill/>
                    </a:lnR>
                    <a:lnT>
                      <a:noFill/>
                    </a:lnT>
                    <a:lnB>
                      <a:noFill/>
                    </a:lnB>
                    <a:solidFill>
                      <a:srgbClr val="FFFFFF"/>
                    </a:solidFill>
                  </a:tcPr>
                </a:tc>
                <a:tc>
                  <a:txBody>
                    <a:bodyPr/>
                    <a:lstStyle/>
                    <a:p>
                      <a:r>
                        <a:rPr lang="en-IN" sz="1500" b="0">
                          <a:effectLst/>
                          <a:latin typeface="quote-cjk-patch"/>
                        </a:rPr>
                        <a:t>Easy side-by-side comparison</a:t>
                      </a:r>
                    </a:p>
                  </a:txBody>
                  <a:tcPr marL="84756" marR="76280" marT="52972" marB="52972" anchor="ctr">
                    <a:lnL>
                      <a:noFill/>
                    </a:lnL>
                    <a:lnR>
                      <a:noFill/>
                    </a:lnR>
                    <a:lnT>
                      <a:noFill/>
                    </a:lnT>
                    <a:lnB>
                      <a:noFill/>
                    </a:lnB>
                    <a:solidFill>
                      <a:srgbClr val="FFFFFF"/>
                    </a:solidFill>
                  </a:tcPr>
                </a:tc>
              </a:tr>
              <a:tr h="1021308">
                <a:tc>
                  <a:txBody>
                    <a:bodyPr/>
                    <a:lstStyle/>
                    <a:p>
                      <a:r>
                        <a:rPr lang="en-IN" sz="1500" b="1">
                          <a:effectLst/>
                          <a:latin typeface="quote-cjk-patch"/>
                        </a:rPr>
                        <a:t>Best for</a:t>
                      </a:r>
                      <a:endParaRPr lang="en-IN" sz="1500" b="0">
                        <a:effectLst/>
                        <a:latin typeface="quote-cjk-patch"/>
                      </a:endParaRPr>
                    </a:p>
                  </a:txBody>
                  <a:tcPr marL="76280" marR="84756" marT="52972" marB="52972" anchor="ctr">
                    <a:lnL>
                      <a:noFill/>
                    </a:lnL>
                    <a:lnR>
                      <a:noFill/>
                    </a:lnR>
                    <a:lnT>
                      <a:noFill/>
                    </a:lnT>
                    <a:lnB>
                      <a:noFill/>
                    </a:lnB>
                    <a:solidFill>
                      <a:srgbClr val="FFFFFF"/>
                    </a:solidFill>
                  </a:tcPr>
                </a:tc>
                <a:tc>
                  <a:txBody>
                    <a:bodyPr/>
                    <a:lstStyle/>
                    <a:p>
                      <a:r>
                        <a:rPr lang="en-IN" sz="1500" b="0">
                          <a:effectLst/>
                          <a:latin typeface="quote-cjk-patch"/>
                        </a:rPr>
                        <a:t>Understanding distribution shape</a:t>
                      </a:r>
                    </a:p>
                  </a:txBody>
                  <a:tcPr marL="84756" marR="84756" marT="52972" marB="52972" anchor="ctr">
                    <a:lnL>
                      <a:noFill/>
                    </a:lnL>
                    <a:lnR>
                      <a:noFill/>
                    </a:lnR>
                    <a:lnT>
                      <a:noFill/>
                    </a:lnT>
                    <a:lnB>
                      <a:noFill/>
                    </a:lnB>
                    <a:solidFill>
                      <a:srgbClr val="FFFFFF"/>
                    </a:solidFill>
                  </a:tcPr>
                </a:tc>
                <a:tc>
                  <a:txBody>
                    <a:bodyPr/>
                    <a:lstStyle/>
                    <a:p>
                      <a:r>
                        <a:rPr lang="en-IN" sz="1500" b="0" dirty="0">
                          <a:effectLst/>
                          <a:latin typeface="quote-cjk-patch"/>
                        </a:rPr>
                        <a:t>Identifying center, spread, outliers</a:t>
                      </a:r>
                    </a:p>
                  </a:txBody>
                  <a:tcPr marL="84756" marR="76280" marT="52972" marB="52972" anchor="ctr">
                    <a:lnL>
                      <a:noFill/>
                    </a:lnL>
                    <a:lnR>
                      <a:noFill/>
                    </a:lnR>
                    <a:lnT>
                      <a:noFill/>
                    </a:lnT>
                    <a:lnB>
                      <a:noFill/>
                    </a:lnB>
                    <a:solidFill>
                      <a:srgbClr val="FFFFFF"/>
                    </a:solidFill>
                  </a:tcPr>
                </a:tc>
              </a:tr>
            </a:tbl>
          </a:graphicData>
        </a:graphic>
      </p:graphicFrame>
      <p:sp>
        <p:nvSpPr>
          <p:cNvPr id="5" name="Rectangle 4"/>
          <p:cNvSpPr/>
          <p:nvPr/>
        </p:nvSpPr>
        <p:spPr>
          <a:xfrm>
            <a:off x="827584" y="6146668"/>
            <a:ext cx="7272808" cy="646331"/>
          </a:xfrm>
          <a:prstGeom prst="rect">
            <a:avLst/>
          </a:prstGeom>
        </p:spPr>
        <p:txBody>
          <a:bodyPr wrap="square">
            <a:spAutoFit/>
          </a:bodyPr>
          <a:lstStyle/>
          <a:p>
            <a:r>
              <a:rPr lang="en-IN" b="1" dirty="0"/>
              <a:t>Recommendation:</a:t>
            </a:r>
            <a:r>
              <a:rPr lang="en-IN" dirty="0"/>
              <a:t> Use both for comprehensive data understanding</a:t>
            </a:r>
            <a:br>
              <a:rPr lang="en-IN" dirty="0"/>
            </a:br>
            <a:endParaRPr lang="en-IN" dirty="0"/>
          </a:p>
        </p:txBody>
      </p:sp>
    </p:spTree>
    <p:extLst>
      <p:ext uri="{BB962C8B-B14F-4D97-AF65-F5344CB8AC3E}">
        <p14:creationId xmlns:p14="http://schemas.microsoft.com/office/powerpoint/2010/main" val="1692272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KDD Context</a:t>
            </a:r>
            <a:endParaRPr lang="en-IN" dirty="0"/>
          </a:p>
        </p:txBody>
      </p:sp>
      <p:sp>
        <p:nvSpPr>
          <p:cNvPr id="3" name="Content Placeholder 2"/>
          <p:cNvSpPr>
            <a:spLocks noGrp="1"/>
          </p:cNvSpPr>
          <p:nvPr>
            <p:ph idx="1"/>
          </p:nvPr>
        </p:nvSpPr>
        <p:spPr>
          <a:xfrm>
            <a:off x="457200" y="1600200"/>
            <a:ext cx="4186808" cy="4525963"/>
          </a:xfrm>
        </p:spPr>
        <p:txBody>
          <a:bodyPr>
            <a:normAutofit/>
          </a:bodyPr>
          <a:lstStyle/>
          <a:p>
            <a:pPr marL="0" indent="0">
              <a:buNone/>
            </a:pPr>
            <a:r>
              <a:rPr lang="en-IN" sz="2400" dirty="0" smtClean="0"/>
              <a:t>Descriptive </a:t>
            </a:r>
            <a:r>
              <a:rPr lang="en-IN" sz="2400" dirty="0"/>
              <a:t>statistics is the </a:t>
            </a:r>
            <a:r>
              <a:rPr lang="en-IN" sz="2400" b="1" dirty="0"/>
              <a:t>FIRST analytical step</a:t>
            </a:r>
            <a:r>
              <a:rPr lang="en-IN" sz="2400" dirty="0"/>
              <a:t> in data preprocessing, providing the foundation for all subsequent mining </a:t>
            </a:r>
            <a:r>
              <a:rPr lang="en-IN" sz="2400" dirty="0" smtClean="0"/>
              <a:t>activities. </a:t>
            </a:r>
            <a:endParaRPr lang="en-IN"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1512" y="1556792"/>
            <a:ext cx="4392488" cy="4475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77538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Why Start with Descriptive Statistics</a:t>
            </a:r>
            <a:r>
              <a:rPr lang="en-IN" b="1" dirty="0" smtClean="0"/>
              <a:t>?</a:t>
            </a:r>
            <a:endParaRPr lang="en-IN" dirty="0"/>
          </a:p>
        </p:txBody>
      </p:sp>
      <p:sp>
        <p:nvSpPr>
          <p:cNvPr id="3" name="Content Placeholder 2"/>
          <p:cNvSpPr>
            <a:spLocks noGrp="1"/>
          </p:cNvSpPr>
          <p:nvPr>
            <p:ph idx="1"/>
          </p:nvPr>
        </p:nvSpPr>
        <p:spPr>
          <a:xfrm>
            <a:off x="457200" y="1600200"/>
            <a:ext cx="8229600" cy="5069160"/>
          </a:xfrm>
        </p:spPr>
        <p:txBody>
          <a:bodyPr>
            <a:normAutofit fontScale="62500" lnSpcReduction="20000"/>
          </a:bodyPr>
          <a:lstStyle/>
          <a:p>
            <a:r>
              <a:rPr lang="en-IN" b="1" dirty="0" smtClean="0"/>
              <a:t>Data </a:t>
            </a:r>
            <a:r>
              <a:rPr lang="en-IN" b="1" dirty="0"/>
              <a:t>Quality Assessment</a:t>
            </a:r>
            <a:endParaRPr lang="en-IN" dirty="0"/>
          </a:p>
          <a:p>
            <a:pPr lvl="1"/>
            <a:r>
              <a:rPr lang="en-IN" dirty="0"/>
              <a:t>Identify missing values through counts and summaries</a:t>
            </a:r>
          </a:p>
          <a:p>
            <a:pPr lvl="1"/>
            <a:r>
              <a:rPr lang="en-IN" dirty="0"/>
              <a:t>Detect outliers through boxplots and extreme values</a:t>
            </a:r>
          </a:p>
          <a:p>
            <a:pPr lvl="1"/>
            <a:r>
              <a:rPr lang="en-IN" dirty="0"/>
              <a:t>Spot data entry errors via impossible values (e.g., age=200)</a:t>
            </a:r>
          </a:p>
          <a:p>
            <a:r>
              <a:rPr lang="en-IN" b="1" dirty="0" smtClean="0"/>
              <a:t>Understanding </a:t>
            </a:r>
            <a:r>
              <a:rPr lang="en-IN" b="1" dirty="0"/>
              <a:t>Data Distribution</a:t>
            </a:r>
            <a:endParaRPr lang="en-IN" dirty="0"/>
          </a:p>
          <a:p>
            <a:pPr lvl="1"/>
            <a:r>
              <a:rPr lang="en-IN" dirty="0"/>
              <a:t>Shape (normal, skewed, bimodal) guides algorithm selection</a:t>
            </a:r>
          </a:p>
          <a:p>
            <a:pPr lvl="1"/>
            <a:r>
              <a:rPr lang="en-IN" dirty="0"/>
              <a:t>Scale and range inform normalization needs</a:t>
            </a:r>
          </a:p>
          <a:p>
            <a:pPr lvl="1"/>
            <a:r>
              <a:rPr lang="en-IN" dirty="0"/>
              <a:t>Identifying categorical vs. numerical patterns</a:t>
            </a:r>
          </a:p>
          <a:p>
            <a:r>
              <a:rPr lang="en-IN" b="1" dirty="0" smtClean="0"/>
              <a:t>Feature </a:t>
            </a:r>
            <a:r>
              <a:rPr lang="en-IN" b="1" dirty="0"/>
              <a:t>Engineering Foundation</a:t>
            </a:r>
            <a:endParaRPr lang="en-IN" dirty="0"/>
          </a:p>
          <a:p>
            <a:pPr lvl="1"/>
            <a:r>
              <a:rPr lang="en-IN" dirty="0"/>
              <a:t>Which features have sufficient variation to be useful?</a:t>
            </a:r>
          </a:p>
          <a:p>
            <a:pPr lvl="1"/>
            <a:r>
              <a:rPr lang="en-IN" dirty="0"/>
              <a:t>Identifying redundant features (low variance)</a:t>
            </a:r>
          </a:p>
          <a:p>
            <a:pPr lvl="1"/>
            <a:r>
              <a:rPr lang="en-IN" dirty="0"/>
              <a:t>Guiding transformation decisions (log, square root, etc.)</a:t>
            </a:r>
          </a:p>
          <a:p>
            <a:r>
              <a:rPr lang="en-IN" b="1" smtClean="0"/>
              <a:t>Algorithm </a:t>
            </a:r>
            <a:r>
              <a:rPr lang="en-IN" b="1" dirty="0"/>
              <a:t>Selection Guidance</a:t>
            </a:r>
            <a:endParaRPr lang="en-IN" dirty="0"/>
          </a:p>
          <a:p>
            <a:pPr lvl="1"/>
            <a:r>
              <a:rPr lang="en-IN" b="1" dirty="0"/>
              <a:t>Normal distribution</a:t>
            </a:r>
            <a:r>
              <a:rPr lang="en-IN" dirty="0"/>
              <a:t>: Many parametric methods work well</a:t>
            </a:r>
          </a:p>
          <a:p>
            <a:pPr lvl="1"/>
            <a:r>
              <a:rPr lang="en-IN" b="1" dirty="0"/>
              <a:t>Skewed distribution</a:t>
            </a:r>
            <a:r>
              <a:rPr lang="en-IN" dirty="0"/>
              <a:t>: May need transformation or non-parametric methods</a:t>
            </a:r>
          </a:p>
          <a:p>
            <a:pPr lvl="1"/>
            <a:r>
              <a:rPr lang="en-IN" b="1" dirty="0"/>
              <a:t>Outliers present</a:t>
            </a:r>
            <a:r>
              <a:rPr lang="en-IN" dirty="0"/>
              <a:t>: Need robust </a:t>
            </a:r>
            <a:r>
              <a:rPr lang="en-IN" dirty="0" smtClean="0"/>
              <a:t>algorithms</a:t>
            </a:r>
            <a:endParaRPr lang="en-IN" dirty="0"/>
          </a:p>
        </p:txBody>
      </p:sp>
    </p:spTree>
    <p:extLst>
      <p:ext uri="{BB962C8B-B14F-4D97-AF65-F5344CB8AC3E}">
        <p14:creationId xmlns:p14="http://schemas.microsoft.com/office/powerpoint/2010/main" val="15274068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Data Mining </a:t>
            </a:r>
            <a:r>
              <a:rPr lang="en-IN" b="1" dirty="0" smtClean="0"/>
              <a:t>Applications</a:t>
            </a:r>
            <a:endParaRPr lang="en-IN" dirty="0"/>
          </a:p>
        </p:txBody>
      </p:sp>
      <p:sp>
        <p:nvSpPr>
          <p:cNvPr id="3" name="Content Placeholder 2"/>
          <p:cNvSpPr>
            <a:spLocks noGrp="1"/>
          </p:cNvSpPr>
          <p:nvPr>
            <p:ph idx="1"/>
          </p:nvPr>
        </p:nvSpPr>
        <p:spPr>
          <a:xfrm>
            <a:off x="457200" y="1600200"/>
            <a:ext cx="8229600" cy="5141168"/>
          </a:xfrm>
        </p:spPr>
        <p:txBody>
          <a:bodyPr>
            <a:normAutofit fontScale="92500" lnSpcReduction="10000"/>
          </a:bodyPr>
          <a:lstStyle/>
          <a:p>
            <a:r>
              <a:rPr lang="en-IN" sz="2800" b="1" dirty="0"/>
              <a:t>Customer Segmentation:</a:t>
            </a:r>
            <a:endParaRPr lang="en-IN" sz="2800" dirty="0"/>
          </a:p>
          <a:p>
            <a:pPr lvl="1"/>
            <a:r>
              <a:rPr lang="en-IN" sz="2400" dirty="0"/>
              <a:t>Mean/median income for different segments</a:t>
            </a:r>
          </a:p>
          <a:p>
            <a:pPr lvl="1"/>
            <a:r>
              <a:rPr lang="en-IN" sz="2400" dirty="0"/>
              <a:t>Variance in purchase amounts</a:t>
            </a:r>
          </a:p>
          <a:p>
            <a:pPr lvl="1"/>
            <a:r>
              <a:rPr lang="en-IN" sz="2400" dirty="0"/>
              <a:t>Age distribution histograms</a:t>
            </a:r>
          </a:p>
          <a:p>
            <a:r>
              <a:rPr lang="en-IN" sz="2800" b="1" dirty="0"/>
              <a:t>Quality Control:</a:t>
            </a:r>
            <a:endParaRPr lang="en-IN" sz="2800" dirty="0"/>
          </a:p>
          <a:p>
            <a:pPr lvl="1"/>
            <a:r>
              <a:rPr lang="en-IN" sz="2400" dirty="0"/>
              <a:t>Boxplots of manufacturing measurements</a:t>
            </a:r>
          </a:p>
          <a:p>
            <a:pPr lvl="1"/>
            <a:r>
              <a:rPr lang="en-IN" sz="2400" dirty="0"/>
              <a:t>Identifying outlier batches</a:t>
            </a:r>
          </a:p>
          <a:p>
            <a:r>
              <a:rPr lang="en-IN" sz="2800" b="1" dirty="0"/>
              <a:t>Fraud Detection:</a:t>
            </a:r>
            <a:endParaRPr lang="en-IN" sz="2800" dirty="0"/>
          </a:p>
          <a:p>
            <a:pPr lvl="1"/>
            <a:r>
              <a:rPr lang="en-IN" sz="2400" dirty="0"/>
              <a:t>Unusual transaction amounts (outliers)</a:t>
            </a:r>
          </a:p>
          <a:p>
            <a:pPr lvl="1"/>
            <a:r>
              <a:rPr lang="en-IN" sz="2400" dirty="0"/>
              <a:t>Comparing distributions of legitimate vs fraudulent transactions</a:t>
            </a:r>
          </a:p>
          <a:p>
            <a:r>
              <a:rPr lang="en-IN" sz="2800" b="1" dirty="0"/>
              <a:t>Market Basket Analysis:</a:t>
            </a:r>
            <a:endParaRPr lang="en-IN" sz="2800" dirty="0"/>
          </a:p>
          <a:p>
            <a:pPr lvl="1"/>
            <a:r>
              <a:rPr lang="en-IN" sz="2400" dirty="0"/>
              <a:t>Mode of frequently bought items together</a:t>
            </a:r>
          </a:p>
          <a:p>
            <a:pPr lvl="1"/>
            <a:r>
              <a:rPr lang="en-IN" sz="2400" dirty="0"/>
              <a:t>Distribution of transaction </a:t>
            </a:r>
            <a:r>
              <a:rPr lang="en-IN" sz="2400" dirty="0" smtClean="0"/>
              <a:t>sizes</a:t>
            </a:r>
            <a:endParaRPr lang="en-IN" sz="2400" dirty="0"/>
          </a:p>
        </p:txBody>
      </p:sp>
    </p:spTree>
    <p:extLst>
      <p:ext uri="{BB962C8B-B14F-4D97-AF65-F5344CB8AC3E}">
        <p14:creationId xmlns:p14="http://schemas.microsoft.com/office/powerpoint/2010/main" val="11790521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Summary - Key </a:t>
            </a:r>
            <a:r>
              <a:rPr lang="en-IN" b="1" dirty="0" smtClean="0"/>
              <a:t>Takeaways</a:t>
            </a:r>
            <a:endParaRPr lang="en-IN" dirty="0"/>
          </a:p>
        </p:txBody>
      </p:sp>
      <p:sp>
        <p:nvSpPr>
          <p:cNvPr id="3" name="Content Placeholder 2"/>
          <p:cNvSpPr>
            <a:spLocks noGrp="1"/>
          </p:cNvSpPr>
          <p:nvPr>
            <p:ph idx="1"/>
          </p:nvPr>
        </p:nvSpPr>
        <p:spPr/>
        <p:txBody>
          <a:bodyPr>
            <a:normAutofit fontScale="85000" lnSpcReduction="20000"/>
          </a:bodyPr>
          <a:lstStyle/>
          <a:p>
            <a:r>
              <a:rPr lang="en-IN" b="1" dirty="0"/>
              <a:t>Central tendency</a:t>
            </a:r>
            <a:r>
              <a:rPr lang="en-IN" dirty="0"/>
              <a:t> tells us about the "typical" value</a:t>
            </a:r>
          </a:p>
          <a:p>
            <a:pPr lvl="1"/>
            <a:r>
              <a:rPr lang="en-IN" dirty="0"/>
              <a:t>Mean for symmetric data, median for skewed data, mode for categorical</a:t>
            </a:r>
          </a:p>
          <a:p>
            <a:r>
              <a:rPr lang="en-IN" b="1" dirty="0"/>
              <a:t>Dispersion</a:t>
            </a:r>
            <a:r>
              <a:rPr lang="en-IN" dirty="0"/>
              <a:t> measures tell us about variability</a:t>
            </a:r>
          </a:p>
          <a:p>
            <a:pPr lvl="1"/>
            <a:r>
              <a:rPr lang="en-IN" dirty="0"/>
              <a:t>Variance/standard deviation for parametric analysis</a:t>
            </a:r>
          </a:p>
          <a:p>
            <a:pPr lvl="1"/>
            <a:r>
              <a:rPr lang="en-IN" dirty="0"/>
              <a:t>IQR for robust, non-parametric analysis</a:t>
            </a:r>
          </a:p>
          <a:p>
            <a:r>
              <a:rPr lang="en-IN" b="1" dirty="0"/>
              <a:t>Visualizations</a:t>
            </a:r>
            <a:r>
              <a:rPr lang="en-IN" dirty="0"/>
              <a:t> complement numerical summaries</a:t>
            </a:r>
          </a:p>
          <a:p>
            <a:pPr lvl="1"/>
            <a:r>
              <a:rPr lang="en-IN" dirty="0"/>
              <a:t>Boxplots show distribution summary and outliers</a:t>
            </a:r>
          </a:p>
          <a:p>
            <a:pPr lvl="1"/>
            <a:r>
              <a:rPr lang="en-IN" dirty="0"/>
              <a:t>Histograms reveal distribution shape</a:t>
            </a:r>
          </a:p>
          <a:p>
            <a:r>
              <a:rPr lang="en-IN" b="1" dirty="0"/>
              <a:t>Context matters</a:t>
            </a:r>
            <a:r>
              <a:rPr lang="en-IN" dirty="0"/>
              <a:t> - choose statistics appropriate for your data mining </a:t>
            </a:r>
            <a:r>
              <a:rPr lang="en-IN" dirty="0" smtClean="0"/>
              <a:t>task</a:t>
            </a:r>
            <a:endParaRPr lang="en-IN" dirty="0"/>
          </a:p>
        </p:txBody>
      </p:sp>
    </p:spTree>
    <p:extLst>
      <p:ext uri="{BB962C8B-B14F-4D97-AF65-F5344CB8AC3E}">
        <p14:creationId xmlns:p14="http://schemas.microsoft.com/office/powerpoint/2010/main" val="1991024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25597</TotalTime>
  <Words>1273</Words>
  <Application>Microsoft Office PowerPoint</Application>
  <PresentationFormat>On-screen Show (4:3)</PresentationFormat>
  <Paragraphs>416</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Descriptive Data Summarization</vt:lpstr>
      <vt:lpstr>Why Descriptive Statistics in Data Mining?</vt:lpstr>
      <vt:lpstr>Types of Data - Quick Review</vt:lpstr>
      <vt:lpstr>Measures of Central Tendency - Overview</vt:lpstr>
      <vt:lpstr>Mean (Arithmetic Average)</vt:lpstr>
      <vt:lpstr>Weighted Mean</vt:lpstr>
      <vt:lpstr>Median</vt:lpstr>
      <vt:lpstr>Mode</vt:lpstr>
      <vt:lpstr>Examples of Mode </vt:lpstr>
      <vt:lpstr>Examples of Mode </vt:lpstr>
      <vt:lpstr>PowerPoint Presentation</vt:lpstr>
      <vt:lpstr>Symmetric Distribution</vt:lpstr>
      <vt:lpstr>Right-Skewed / Positive Skew</vt:lpstr>
      <vt:lpstr>Left-Skewed / Negative Skew</vt:lpstr>
      <vt:lpstr>PowerPoint Presentation</vt:lpstr>
      <vt:lpstr>PowerPoint Presentation</vt:lpstr>
      <vt:lpstr>PowerPoint Presentation</vt:lpstr>
      <vt:lpstr>PowerPoint Presentation</vt:lpstr>
      <vt:lpstr>dispersion</vt:lpstr>
      <vt:lpstr>Measures of Dispersion - Introduction</vt:lpstr>
      <vt:lpstr>PowerPoint Presentation</vt:lpstr>
      <vt:lpstr>PowerPoint Presentation</vt:lpstr>
      <vt:lpstr>Range and Quartiles</vt:lpstr>
      <vt:lpstr>Example 1: Standard Sequential Data</vt:lpstr>
      <vt:lpstr>PowerPoint Presentation</vt:lpstr>
      <vt:lpstr>PowerPoint Presentation</vt:lpstr>
      <vt:lpstr>variance</vt:lpstr>
      <vt:lpstr>Variance</vt:lpstr>
      <vt:lpstr>PowerPoint Presentation</vt:lpstr>
      <vt:lpstr>Bessel’s Correction </vt:lpstr>
      <vt:lpstr>Sample variance</vt:lpstr>
      <vt:lpstr>Why Underestimation </vt:lpstr>
      <vt:lpstr>heart of Bessel’s correction</vt:lpstr>
      <vt:lpstr>Bessel’s Correction ( the Fix )</vt:lpstr>
      <vt:lpstr>PowerPoint Presentation</vt:lpstr>
      <vt:lpstr>Explain with Example</vt:lpstr>
      <vt:lpstr>Pupolation Style Varianve</vt:lpstr>
      <vt:lpstr>Sample Mean </vt:lpstr>
      <vt:lpstr>PowerPoint Presentation</vt:lpstr>
      <vt:lpstr>Standard Deviation</vt:lpstr>
      <vt:lpstr>PowerPoint Presentation</vt:lpstr>
      <vt:lpstr>Questions</vt:lpstr>
      <vt:lpstr>Coefficient of Variation (CV)</vt:lpstr>
      <vt:lpstr>Five-Number Summary</vt:lpstr>
      <vt:lpstr>Introduction to Boxplots (Box-and-Whisker Plots)</vt:lpstr>
      <vt:lpstr>Constructing a Boxplot - Step by Step</vt:lpstr>
      <vt:lpstr>PowerPoint Presentation</vt:lpstr>
      <vt:lpstr>Interpreting Boxplots</vt:lpstr>
      <vt:lpstr>Histograms - Construction</vt:lpstr>
      <vt:lpstr>Example</vt:lpstr>
      <vt:lpstr>Histogram vs. Boxplot</vt:lpstr>
      <vt:lpstr>KDD Context</vt:lpstr>
      <vt:lpstr>Why Start with Descriptive Statistics?</vt:lpstr>
      <vt:lpstr>Data Mining Applications</vt:lpstr>
      <vt:lpstr>Summary - Key Takeaways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Prasenjit Mukherjee</dc:creator>
  <cp:lastModifiedBy>Prasenjit Mukherjee</cp:lastModifiedBy>
  <cp:revision>25</cp:revision>
  <dcterms:created xsi:type="dcterms:W3CDTF">2026-01-07T16:50:54Z</dcterms:created>
  <dcterms:modified xsi:type="dcterms:W3CDTF">2026-02-05T04:59:44Z</dcterms:modified>
</cp:coreProperties>
</file>