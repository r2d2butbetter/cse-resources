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Text Mining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110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What is Text Mining</a:t>
            </a:r>
            <a:r>
              <a:rPr lang="en-IN" b="1" dirty="0" smtClean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smtClean="0"/>
              <a:t>Definition</a:t>
            </a:r>
            <a:endParaRPr lang="en-IN" b="1" dirty="0"/>
          </a:p>
          <a:p>
            <a:pPr lvl="1"/>
            <a:r>
              <a:rPr lang="en-IN" dirty="0"/>
              <a:t>Process of extracting </a:t>
            </a:r>
            <a:r>
              <a:rPr lang="en-IN" b="1" dirty="0"/>
              <a:t>useful patterns from unstructured text</a:t>
            </a:r>
            <a:r>
              <a:rPr lang="en-IN" dirty="0"/>
              <a:t> </a:t>
            </a:r>
          </a:p>
          <a:p>
            <a:r>
              <a:rPr lang="en-IN" b="1" dirty="0"/>
              <a:t>Core challenge</a:t>
            </a:r>
          </a:p>
          <a:p>
            <a:pPr lvl="1"/>
            <a:r>
              <a:rPr lang="en-IN" dirty="0"/>
              <a:t>Text = high-dimensional, sparse, ambiguous </a:t>
            </a:r>
          </a:p>
          <a:p>
            <a:r>
              <a:rPr lang="en-IN" b="1" dirty="0"/>
              <a:t>Pipeline Overview</a:t>
            </a:r>
          </a:p>
          <a:p>
            <a:pPr lvl="1"/>
            <a:r>
              <a:rPr lang="en-IN" dirty="0"/>
              <a:t>Text preprocessing </a:t>
            </a:r>
          </a:p>
          <a:p>
            <a:pPr lvl="1"/>
            <a:r>
              <a:rPr lang="en-IN" dirty="0"/>
              <a:t>Feature extraction </a:t>
            </a:r>
          </a:p>
          <a:p>
            <a:pPr lvl="1"/>
            <a:r>
              <a:rPr lang="en-IN" dirty="0"/>
              <a:t>Modeling (classification/clustering)</a:t>
            </a:r>
          </a:p>
        </p:txBody>
      </p:sp>
    </p:spTree>
    <p:extLst>
      <p:ext uri="{BB962C8B-B14F-4D97-AF65-F5344CB8AC3E}">
        <p14:creationId xmlns:p14="http://schemas.microsoft.com/office/powerpoint/2010/main" val="613825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What is Text Mining?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smtClean="0"/>
              <a:t>Definition</a:t>
            </a:r>
            <a:r>
              <a:rPr lang="en-IN" b="1" dirty="0"/>
              <a:t>:</a:t>
            </a:r>
            <a:r>
              <a:rPr lang="en-IN" dirty="0"/>
              <a:t> Extracting high-quality, non-trivial patterns from unstructured text.</a:t>
            </a:r>
          </a:p>
          <a:p>
            <a:r>
              <a:rPr lang="en-IN" b="1" dirty="0"/>
              <a:t>The Challenge:</a:t>
            </a:r>
            <a:r>
              <a:rPr lang="en-IN" dirty="0"/>
              <a:t> Computers see text as strings; we need numbers.</a:t>
            </a:r>
          </a:p>
          <a:p>
            <a:r>
              <a:rPr lang="en-IN" b="1" dirty="0"/>
              <a:t>Key Difference:</a:t>
            </a:r>
            <a:endParaRPr lang="en-IN" dirty="0"/>
          </a:p>
          <a:p>
            <a:pPr lvl="1"/>
            <a:r>
              <a:rPr lang="en-IN" i="1" dirty="0"/>
              <a:t>Information Retrieval (IR):</a:t>
            </a:r>
            <a:r>
              <a:rPr lang="en-IN" dirty="0"/>
              <a:t> Find relevant documents (Google Search).</a:t>
            </a:r>
          </a:p>
          <a:p>
            <a:pPr lvl="1"/>
            <a:r>
              <a:rPr lang="en-IN" i="1" dirty="0"/>
              <a:t>Text Mining:</a:t>
            </a:r>
            <a:r>
              <a:rPr lang="en-IN" dirty="0"/>
              <a:t> Discover unknown patterns &amp; trends (Sentiment analysis, topic discovery).</a:t>
            </a:r>
          </a:p>
        </p:txBody>
      </p:sp>
    </p:spTree>
    <p:extLst>
      <p:ext uri="{BB962C8B-B14F-4D97-AF65-F5344CB8AC3E}">
        <p14:creationId xmlns:p14="http://schemas.microsoft.com/office/powerpoint/2010/main" val="15235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The Vector Space </a:t>
            </a:r>
            <a:r>
              <a:rPr lang="en-IN" b="1" dirty="0" smtClean="0"/>
              <a:t>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 smtClean="0"/>
              <a:t>The </a:t>
            </a:r>
            <a:r>
              <a:rPr lang="en-IN" b="1" dirty="0"/>
              <a:t>core idea:</a:t>
            </a:r>
            <a:r>
              <a:rPr lang="en-IN" dirty="0"/>
              <a:t> Represent documents as vectors in a high-dimensional space.</a:t>
            </a:r>
          </a:p>
          <a:p>
            <a:r>
              <a:rPr lang="en-IN" b="1" dirty="0"/>
              <a:t>Components:</a:t>
            </a:r>
            <a:endParaRPr lang="en-IN" dirty="0"/>
          </a:p>
          <a:p>
            <a:pPr lvl="1"/>
            <a:r>
              <a:rPr lang="en-IN" b="1" dirty="0"/>
              <a:t>Terms:</a:t>
            </a:r>
            <a:r>
              <a:rPr lang="en-IN" dirty="0"/>
              <a:t> Words/phrases (dimensions).</a:t>
            </a:r>
          </a:p>
          <a:p>
            <a:pPr lvl="1"/>
            <a:r>
              <a:rPr lang="en-IN" b="1" dirty="0"/>
              <a:t>Weights:</a:t>
            </a:r>
            <a:r>
              <a:rPr lang="en-IN" dirty="0"/>
              <a:t> How important is a word to a document?</a:t>
            </a:r>
          </a:p>
          <a:p>
            <a:r>
              <a:rPr lang="en-IN" b="1" dirty="0"/>
              <a:t>TF-IDF (Term Frequency-Inverse Document Frequency):</a:t>
            </a:r>
            <a:endParaRPr lang="en-IN" dirty="0"/>
          </a:p>
          <a:p>
            <a:pPr lvl="1"/>
            <a:r>
              <a:rPr lang="en-IN" i="1" dirty="0"/>
              <a:t>TF:</a:t>
            </a:r>
            <a:r>
              <a:rPr lang="en-IN" dirty="0"/>
              <a:t> How often word appears in this doc.</a:t>
            </a:r>
          </a:p>
          <a:p>
            <a:pPr lvl="1"/>
            <a:r>
              <a:rPr lang="en-IN" i="1" dirty="0"/>
              <a:t>IDF:</a:t>
            </a:r>
            <a:r>
              <a:rPr lang="en-IN" dirty="0"/>
              <a:t> How rare the word is across all docs.</a:t>
            </a:r>
          </a:p>
          <a:p>
            <a:pPr lvl="1"/>
            <a:r>
              <a:rPr lang="en-IN" i="1" dirty="0"/>
              <a:t>Result:</a:t>
            </a:r>
            <a:r>
              <a:rPr lang="en-IN" dirty="0"/>
              <a:t> Common words ("the", "is") get low weight; unique words ("algorithm") get high weight.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42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The Curse of </a:t>
            </a:r>
            <a:r>
              <a:rPr lang="en-IN" b="1" dirty="0" smtClean="0"/>
              <a:t>Dimensionality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 smtClean="0"/>
              <a:t>Problem</a:t>
            </a:r>
            <a:r>
              <a:rPr lang="en-IN" b="1" dirty="0"/>
              <a:t>:</a:t>
            </a:r>
            <a:r>
              <a:rPr lang="en-IN" dirty="0"/>
              <a:t> A corpus of 10,000 documents might have 50,000 unique terms → 50,000 dimensions.</a:t>
            </a:r>
          </a:p>
          <a:p>
            <a:r>
              <a:rPr lang="en-IN" b="1" dirty="0"/>
              <a:t>Why it hurts:</a:t>
            </a:r>
            <a:endParaRPr lang="en-IN" dirty="0"/>
          </a:p>
          <a:p>
            <a:pPr lvl="1"/>
            <a:r>
              <a:rPr lang="en-IN" dirty="0"/>
              <a:t>Computational cost (distance calculations blow up).</a:t>
            </a:r>
          </a:p>
          <a:p>
            <a:pPr lvl="1"/>
            <a:r>
              <a:rPr lang="en-IN" dirty="0"/>
              <a:t>Overfitting (models see noise, not signal).</a:t>
            </a:r>
          </a:p>
          <a:p>
            <a:pPr lvl="1"/>
            <a:r>
              <a:rPr lang="en-IN" dirty="0"/>
              <a:t>Sparsity (most entries are zeros</a:t>
            </a:r>
            <a:r>
              <a:rPr lang="en-IN" dirty="0" smtClean="0"/>
              <a:t>).</a:t>
            </a:r>
          </a:p>
          <a:p>
            <a:pPr lvl="1"/>
            <a:endParaRPr lang="en-IN" dirty="0"/>
          </a:p>
          <a:p>
            <a:r>
              <a:rPr lang="en-IN" b="1" dirty="0"/>
              <a:t>Solution:</a:t>
            </a:r>
            <a:r>
              <a:rPr lang="en-IN" dirty="0"/>
              <a:t> Dimensionality Reduction (next slide).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090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DIMENSIONALITY REDUCTION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/>
              <a:t>Two </a:t>
            </a:r>
            <a:r>
              <a:rPr lang="en-IN" b="1" dirty="0"/>
              <a:t>Main Approaches </a:t>
            </a:r>
            <a:endParaRPr lang="en-IN" b="1" dirty="0" smtClean="0"/>
          </a:p>
          <a:p>
            <a:r>
              <a:rPr lang="en-IN" b="1" dirty="0" smtClean="0"/>
              <a:t>Feature </a:t>
            </a:r>
            <a:r>
              <a:rPr lang="en-IN" b="1" dirty="0"/>
              <a:t>Selection (Keep or discard):</a:t>
            </a:r>
            <a:endParaRPr lang="en-IN" dirty="0"/>
          </a:p>
          <a:p>
            <a:pPr lvl="1"/>
            <a:r>
              <a:rPr lang="en-IN" dirty="0"/>
              <a:t>Remove stopwords ("the", "and").</a:t>
            </a:r>
          </a:p>
          <a:p>
            <a:pPr lvl="1"/>
            <a:r>
              <a:rPr lang="en-IN" dirty="0"/>
              <a:t>Keep top-k terms by frequency or Information Gain.</a:t>
            </a:r>
          </a:p>
          <a:p>
            <a:r>
              <a:rPr lang="en-IN" b="1" dirty="0"/>
              <a:t>Feature Extraction (Transform into new space):</a:t>
            </a:r>
            <a:endParaRPr lang="en-IN" dirty="0"/>
          </a:p>
          <a:p>
            <a:pPr lvl="1"/>
            <a:r>
              <a:rPr lang="en-IN" dirty="0"/>
              <a:t>Create new, smaller set of artificial dimensions.</a:t>
            </a:r>
          </a:p>
        </p:txBody>
      </p:sp>
    </p:spTree>
    <p:extLst>
      <p:ext uri="{BB962C8B-B14F-4D97-AF65-F5344CB8AC3E}">
        <p14:creationId xmlns:p14="http://schemas.microsoft.com/office/powerpoint/2010/main" val="32836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 Feature Extraction – LDA </a:t>
            </a:r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(Topic </a:t>
            </a:r>
            <a:r>
              <a:rPr lang="en-IN" b="1" dirty="0"/>
              <a:t>Modeling</a:t>
            </a:r>
            <a:r>
              <a:rPr lang="en-IN" b="1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Latent </a:t>
            </a:r>
            <a:r>
              <a:rPr lang="en-IN" b="1" dirty="0"/>
              <a:t>Dirichlet Allocation:</a:t>
            </a:r>
            <a:r>
              <a:rPr lang="en-IN" dirty="0"/>
              <a:t> "Documents are mixtures of topics."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pPr lvl="1"/>
            <a:r>
              <a:rPr lang="en-IN" i="1" dirty="0"/>
              <a:t>Topic A (30%):</a:t>
            </a:r>
            <a:r>
              <a:rPr lang="en-IN" dirty="0"/>
              <a:t> goal, player, coach, score.</a:t>
            </a:r>
          </a:p>
          <a:p>
            <a:pPr lvl="1"/>
            <a:r>
              <a:rPr lang="en-IN" i="1" dirty="0"/>
              <a:t>Topic B (70%):</a:t>
            </a:r>
            <a:r>
              <a:rPr lang="en-IN" dirty="0"/>
              <a:t> CPU, RAM, software, data.</a:t>
            </a:r>
          </a:p>
          <a:p>
            <a:r>
              <a:rPr lang="en-IN" b="1" dirty="0"/>
              <a:t>Result:</a:t>
            </a:r>
            <a:r>
              <a:rPr lang="en-IN" dirty="0"/>
              <a:t> You reduce 50,000 words down to, say, 10 topics.</a:t>
            </a:r>
          </a:p>
          <a:p>
            <a:r>
              <a:rPr lang="en-IN" b="1" dirty="0"/>
              <a:t>Use case:</a:t>
            </a:r>
            <a:r>
              <a:rPr lang="en-IN" dirty="0"/>
              <a:t> Automatically tagging news articles.</a:t>
            </a:r>
          </a:p>
        </p:txBody>
      </p:sp>
    </p:spTree>
    <p:extLst>
      <p:ext uri="{BB962C8B-B14F-4D97-AF65-F5344CB8AC3E}">
        <p14:creationId xmlns:p14="http://schemas.microsoft.com/office/powerpoint/2010/main" val="172195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How LDA Thinks Like a </a:t>
            </a:r>
            <a:r>
              <a:rPr lang="en-IN" b="1" dirty="0" smtClean="0"/>
              <a:t>Writer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 smtClean="0"/>
              <a:t>The </a:t>
            </a:r>
            <a:r>
              <a:rPr lang="en-IN" b="1" dirty="0"/>
              <a:t>Concept:</a:t>
            </a:r>
            <a:r>
              <a:rPr lang="en-IN" dirty="0"/>
              <a:t> LDA assumes every document is created in two steps:</a:t>
            </a:r>
          </a:p>
          <a:p>
            <a:pPr lvl="1"/>
            <a:r>
              <a:rPr lang="en-IN" dirty="0"/>
              <a:t>The writer chooses a </a:t>
            </a:r>
            <a:r>
              <a:rPr lang="en-IN" b="1" dirty="0"/>
              <a:t>proportion of topics</a:t>
            </a:r>
            <a:r>
              <a:rPr lang="en-IN" dirty="0"/>
              <a:t> (e.g., "I want this review to be 60% about </a:t>
            </a:r>
            <a:r>
              <a:rPr lang="en-IN" i="1" dirty="0"/>
              <a:t>Price</a:t>
            </a:r>
            <a:r>
              <a:rPr lang="en-IN" dirty="0"/>
              <a:t> and 40% about </a:t>
            </a:r>
            <a:r>
              <a:rPr lang="en-IN" i="1" dirty="0"/>
              <a:t>Shipping</a:t>
            </a:r>
            <a:r>
              <a:rPr lang="en-IN" dirty="0"/>
              <a:t>").</a:t>
            </a:r>
          </a:p>
          <a:p>
            <a:pPr lvl="1"/>
            <a:r>
              <a:rPr lang="en-IN" dirty="0"/>
              <a:t>For each word, the writer picks a topic based on those proportions and then picks a </a:t>
            </a:r>
            <a:r>
              <a:rPr lang="en-IN" b="1" dirty="0"/>
              <a:t>specific word</a:t>
            </a:r>
            <a:r>
              <a:rPr lang="en-IN" dirty="0"/>
              <a:t> from that topic’s "dictionary."</a:t>
            </a:r>
          </a:p>
          <a:p>
            <a:r>
              <a:rPr lang="en-IN" b="1" dirty="0"/>
              <a:t>The Goal:</a:t>
            </a:r>
            <a:r>
              <a:rPr lang="en-IN" dirty="0"/>
              <a:t> Our job is to work backward from the finished document to figure out what those original topic proportions and dictionaries were.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405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 Industry Toy Data </a:t>
            </a:r>
            <a:r>
              <a:rPr lang="en-IN" b="1" dirty="0" smtClean="0"/>
              <a:t>("</a:t>
            </a:r>
            <a:r>
              <a:rPr lang="en-IN" b="1" dirty="0"/>
              <a:t>App </a:t>
            </a:r>
            <a:r>
              <a:rPr lang="en-IN" b="1" dirty="0" smtClean="0"/>
              <a:t>Store“)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860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 smtClean="0"/>
              <a:t>Analyzing </a:t>
            </a:r>
            <a:r>
              <a:rPr lang="en-IN" b="1" dirty="0"/>
              <a:t>10,000 App Store Reviews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Instead of reading every review, LDA uncovers these hidden themes</a:t>
            </a:r>
            <a:r>
              <a:rPr lang="en-IN" dirty="0" smtClean="0"/>
              <a:t>:</a:t>
            </a:r>
          </a:p>
          <a:p>
            <a:endParaRPr lang="en-IN" dirty="0" smtClean="0"/>
          </a:p>
          <a:p>
            <a:pPr marL="0" indent="0">
              <a:buNone/>
            </a:pPr>
            <a:endParaRPr lang="en-IN" i="1" dirty="0" smtClean="0"/>
          </a:p>
          <a:p>
            <a:endParaRPr lang="en-IN" i="1" dirty="0"/>
          </a:p>
          <a:p>
            <a:endParaRPr lang="en-IN" i="1" dirty="0" smtClean="0"/>
          </a:p>
          <a:p>
            <a:r>
              <a:rPr lang="en-IN" i="1" dirty="0" smtClean="0"/>
              <a:t>Review </a:t>
            </a:r>
            <a:r>
              <a:rPr lang="en-IN" i="1" dirty="0"/>
              <a:t>Example:</a:t>
            </a:r>
            <a:r>
              <a:rPr lang="en-IN" dirty="0"/>
              <a:t> "The </a:t>
            </a:r>
            <a:r>
              <a:rPr lang="en-IN" b="1" dirty="0"/>
              <a:t>layout</a:t>
            </a:r>
            <a:r>
              <a:rPr lang="en-IN" dirty="0"/>
              <a:t> is </a:t>
            </a:r>
            <a:r>
              <a:rPr lang="en-IN" b="1" dirty="0"/>
              <a:t>intuitive</a:t>
            </a:r>
            <a:r>
              <a:rPr lang="en-IN" dirty="0"/>
              <a:t>, but the </a:t>
            </a:r>
            <a:r>
              <a:rPr lang="en-IN" b="1" dirty="0"/>
              <a:t>ads</a:t>
            </a:r>
            <a:r>
              <a:rPr lang="en-IN" dirty="0"/>
              <a:t> make the </a:t>
            </a:r>
            <a:r>
              <a:rPr lang="en-IN" b="1" dirty="0"/>
              <a:t>battery</a:t>
            </a:r>
            <a:r>
              <a:rPr lang="en-IN" dirty="0"/>
              <a:t> drain fast."</a:t>
            </a:r>
          </a:p>
          <a:p>
            <a:r>
              <a:rPr lang="en-IN" b="1" dirty="0"/>
              <a:t>LDA Mapping:</a:t>
            </a:r>
            <a:r>
              <a:rPr lang="en-IN" dirty="0"/>
              <a:t> The review above would be tagged as: </a:t>
            </a:r>
            <a:endParaRPr lang="en-IN" dirty="0" smtClean="0"/>
          </a:p>
          <a:p>
            <a:pPr lvl="1"/>
            <a:r>
              <a:rPr lang="en-IN" b="1" dirty="0" smtClean="0"/>
              <a:t>40</a:t>
            </a:r>
            <a:r>
              <a:rPr lang="en-IN" b="1" dirty="0"/>
              <a:t>% UI/UX</a:t>
            </a:r>
            <a:r>
              <a:rPr lang="en-IN" dirty="0"/>
              <a:t>, </a:t>
            </a:r>
            <a:endParaRPr lang="en-IN" dirty="0" smtClean="0"/>
          </a:p>
          <a:p>
            <a:pPr lvl="1"/>
            <a:r>
              <a:rPr lang="en-IN" b="1" dirty="0" smtClean="0"/>
              <a:t>30</a:t>
            </a:r>
            <a:r>
              <a:rPr lang="en-IN" b="1" dirty="0"/>
              <a:t>% Monetization</a:t>
            </a:r>
            <a:r>
              <a:rPr lang="en-IN" dirty="0"/>
              <a:t>, </a:t>
            </a:r>
            <a:endParaRPr lang="en-IN" dirty="0" smtClean="0"/>
          </a:p>
          <a:p>
            <a:pPr lvl="1"/>
            <a:r>
              <a:rPr lang="en-IN" b="1" dirty="0" smtClean="0"/>
              <a:t>30</a:t>
            </a:r>
            <a:r>
              <a:rPr lang="en-IN" b="1" dirty="0"/>
              <a:t>% Performance</a:t>
            </a:r>
            <a:r>
              <a:rPr lang="en-IN" dirty="0" smtClean="0"/>
              <a:t>.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112065"/>
              </p:ext>
            </p:extLst>
          </p:nvPr>
        </p:nvGraphicFramePr>
        <p:xfrm>
          <a:off x="1048011" y="2674655"/>
          <a:ext cx="6096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Topic 1 Performance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Topic 2. Monetization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Topic 3. UI/UX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Crash, Lag, Battery, Loading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Subscription, Price, Ads, Refund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Color, Button, Intuitive, Layout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38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Strategic </a:t>
            </a:r>
            <a:r>
              <a:rPr lang="en-IN" b="1" dirty="0" smtClean="0"/>
              <a:t>Value of LDA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 smtClean="0"/>
              <a:t>From </a:t>
            </a:r>
            <a:r>
              <a:rPr lang="en-IN" b="1" dirty="0"/>
              <a:t>Words to Business Action</a:t>
            </a:r>
            <a:endParaRPr lang="en-IN" dirty="0"/>
          </a:p>
          <a:p>
            <a:r>
              <a:rPr lang="en-IN" b="1" dirty="0"/>
              <a:t>Trend Tracking:</a:t>
            </a:r>
            <a:r>
              <a:rPr lang="en-IN" dirty="0"/>
              <a:t> Is the "Monetization" topic appearing more frequently in one-star reviews this month?</a:t>
            </a:r>
          </a:p>
          <a:p>
            <a:r>
              <a:rPr lang="en-IN" b="1" dirty="0"/>
              <a:t>Competitor Benchmarking:</a:t>
            </a:r>
            <a:r>
              <a:rPr lang="en-IN" dirty="0"/>
              <a:t> Run LDA on a competitor’s product reviews to see which "Topics" their customers complain about most.</a:t>
            </a:r>
          </a:p>
          <a:p>
            <a:r>
              <a:rPr lang="en-IN" b="1" dirty="0"/>
              <a:t>Automated Routing:</a:t>
            </a:r>
            <a:r>
              <a:rPr lang="en-IN" dirty="0"/>
              <a:t> Automatically send "Performance" reviews to the Engineering team and "Subscription" reviews to the Billing team.</a:t>
            </a:r>
          </a:p>
        </p:txBody>
      </p:sp>
    </p:spTree>
    <p:extLst>
      <p:ext uri="{BB962C8B-B14F-4D97-AF65-F5344CB8AC3E}">
        <p14:creationId xmlns:p14="http://schemas.microsoft.com/office/powerpoint/2010/main" val="152849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01666"/>
            <a:ext cx="8229600" cy="58246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 smtClean="0"/>
              <a:t>i</a:t>
            </a:r>
            <a:r>
              <a:rPr lang="en-IN" sz="1600" dirty="0"/>
              <a:t>mport</a:t>
            </a:r>
            <a:r>
              <a:rPr lang="en-IN" sz="1600" dirty="0"/>
              <a:t> </a:t>
            </a:r>
            <a:r>
              <a:rPr lang="en-IN" sz="1600" dirty="0"/>
              <a:t>gensim</a:t>
            </a:r>
            <a:r>
              <a:rPr lang="en-IN" sz="1600" dirty="0"/>
              <a:t> </a:t>
            </a:r>
            <a:r>
              <a:rPr lang="en-IN" sz="1600" dirty="0"/>
              <a:t>from</a:t>
            </a:r>
            <a:r>
              <a:rPr lang="en-IN" sz="1600" dirty="0"/>
              <a:t> </a:t>
            </a:r>
            <a:r>
              <a:rPr lang="en-IN" sz="1600" dirty="0"/>
              <a:t>gensim</a:t>
            </a:r>
            <a:r>
              <a:rPr lang="en-IN" sz="1600" dirty="0"/>
              <a:t> </a:t>
            </a:r>
            <a:r>
              <a:rPr lang="en-IN" sz="1600" dirty="0" smtClean="0"/>
              <a:t>; import </a:t>
            </a:r>
            <a:r>
              <a:rPr lang="en-IN" sz="1600" dirty="0"/>
              <a:t>corpora</a:t>
            </a:r>
            <a:r>
              <a:rPr lang="en-IN" sz="1600" dirty="0"/>
              <a:t> </a:t>
            </a:r>
            <a:endParaRPr lang="en-IN" sz="1600" dirty="0" smtClean="0"/>
          </a:p>
          <a:p>
            <a:pPr marL="0" indent="0">
              <a:buNone/>
            </a:pPr>
            <a:r>
              <a:rPr lang="en-IN" sz="1600" i="1" dirty="0" smtClean="0"/>
              <a:t># </a:t>
            </a:r>
            <a:r>
              <a:rPr lang="en-IN" sz="1600" i="1" dirty="0"/>
              <a:t>Sample review data</a:t>
            </a:r>
            <a:r>
              <a:rPr lang="en-IN" sz="1600" dirty="0"/>
              <a:t> </a:t>
            </a:r>
            <a:r>
              <a:rPr lang="en-IN" sz="1600" dirty="0"/>
              <a:t>reviews</a:t>
            </a:r>
            <a:r>
              <a:rPr lang="en-IN" sz="1600" dirty="0"/>
              <a:t> = [ </a:t>
            </a:r>
            <a:r>
              <a:rPr lang="en-IN" sz="1600" dirty="0"/>
              <a:t>"The camera quality is amazing and the battery life is great"</a:t>
            </a:r>
            <a:r>
              <a:rPr lang="en-IN" sz="1600" dirty="0"/>
              <a:t>, </a:t>
            </a:r>
            <a:r>
              <a:rPr lang="en-IN" sz="1600" dirty="0"/>
              <a:t>"Great battery life but the camera is mediocre"</a:t>
            </a:r>
            <a:r>
              <a:rPr lang="en-IN" sz="1600" dirty="0"/>
              <a:t>, </a:t>
            </a:r>
            <a:r>
              <a:rPr lang="en-IN" sz="1600" dirty="0"/>
              <a:t>"I love the design and the battery lasts all day"</a:t>
            </a:r>
            <a:r>
              <a:rPr lang="en-IN" sz="1600" dirty="0"/>
              <a:t>, </a:t>
            </a:r>
            <a:r>
              <a:rPr lang="en-IN" sz="1600" dirty="0"/>
              <a:t>"The screen is bright but the battery life is poor"</a:t>
            </a:r>
            <a:r>
              <a:rPr lang="en-IN" sz="1600" dirty="0"/>
              <a:t>, </a:t>
            </a:r>
            <a:r>
              <a:rPr lang="en-IN" sz="1600" dirty="0"/>
              <a:t>"Amazing camera and sleek design"</a:t>
            </a:r>
            <a:r>
              <a:rPr lang="en-IN" sz="1600" dirty="0"/>
              <a:t> ] </a:t>
            </a:r>
            <a:endParaRPr lang="en-IN" sz="1600" dirty="0" smtClean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i="1" dirty="0"/>
              <a:t># 1. Preprocessing: Simple tokenization and stop-word removal</a:t>
            </a:r>
            <a:r>
              <a:rPr lang="en-IN" sz="1600" dirty="0"/>
              <a:t> </a:t>
            </a:r>
            <a:r>
              <a:rPr lang="en-IN" sz="1600" dirty="0"/>
              <a:t>stop_words</a:t>
            </a:r>
            <a:r>
              <a:rPr lang="en-IN" sz="1600" dirty="0"/>
              <a:t> = set([</a:t>
            </a:r>
            <a:r>
              <a:rPr lang="en-IN" sz="1600" dirty="0"/>
              <a:t>'is'</a:t>
            </a:r>
            <a:r>
              <a:rPr lang="en-IN" sz="1600" dirty="0"/>
              <a:t>, </a:t>
            </a:r>
            <a:r>
              <a:rPr lang="en-IN" sz="1600" dirty="0"/>
              <a:t>'the'</a:t>
            </a:r>
            <a:r>
              <a:rPr lang="en-IN" sz="1600" dirty="0"/>
              <a:t>, </a:t>
            </a:r>
            <a:r>
              <a:rPr lang="en-IN" sz="1600" dirty="0"/>
              <a:t>'and'</a:t>
            </a:r>
            <a:r>
              <a:rPr lang="en-IN" sz="1600" dirty="0"/>
              <a:t>, </a:t>
            </a:r>
            <a:r>
              <a:rPr lang="en-IN" sz="1600" dirty="0"/>
              <a:t>'but'</a:t>
            </a:r>
            <a:r>
              <a:rPr lang="en-IN" sz="1600" dirty="0"/>
              <a:t>, </a:t>
            </a:r>
            <a:r>
              <a:rPr lang="en-IN" sz="1600" dirty="0"/>
              <a:t>'i'</a:t>
            </a:r>
            <a:r>
              <a:rPr lang="en-IN" sz="1600" dirty="0"/>
              <a:t>, </a:t>
            </a:r>
            <a:r>
              <a:rPr lang="en-IN" sz="1600" dirty="0"/>
              <a:t>'to'</a:t>
            </a:r>
            <a:r>
              <a:rPr lang="en-IN" sz="1600" dirty="0"/>
              <a:t>, </a:t>
            </a:r>
            <a:r>
              <a:rPr lang="en-IN" sz="1600" dirty="0"/>
              <a:t>'a'</a:t>
            </a:r>
            <a:r>
              <a:rPr lang="en-IN" sz="1600" dirty="0"/>
              <a:t>, </a:t>
            </a:r>
            <a:r>
              <a:rPr lang="en-IN" sz="1600" dirty="0"/>
              <a:t>'it'</a:t>
            </a:r>
            <a:r>
              <a:rPr lang="en-IN" sz="1600" dirty="0"/>
              <a:t>, </a:t>
            </a:r>
            <a:r>
              <a:rPr lang="en-IN" sz="1600" dirty="0"/>
              <a:t>'in'</a:t>
            </a:r>
            <a:r>
              <a:rPr lang="en-IN" sz="1600" dirty="0"/>
              <a:t>, </a:t>
            </a:r>
            <a:r>
              <a:rPr lang="en-IN" sz="1600" dirty="0"/>
              <a:t>'of'</a:t>
            </a:r>
            <a:r>
              <a:rPr lang="en-IN" sz="1600" dirty="0"/>
              <a:t>, </a:t>
            </a:r>
            <a:r>
              <a:rPr lang="en-IN" sz="1600" dirty="0"/>
              <a:t>'for'</a:t>
            </a:r>
            <a:r>
              <a:rPr lang="en-IN" sz="1600" dirty="0"/>
              <a:t>]) </a:t>
            </a:r>
            <a:endParaRPr lang="en-IN" sz="1600" dirty="0" smtClean="0"/>
          </a:p>
          <a:p>
            <a:pPr marL="0" indent="0">
              <a:buNone/>
            </a:pPr>
            <a:r>
              <a:rPr lang="en-IN" sz="1600" dirty="0" smtClean="0"/>
              <a:t>texts </a:t>
            </a:r>
            <a:r>
              <a:rPr lang="en-IN" sz="1600" dirty="0"/>
              <a:t>= [[word </a:t>
            </a:r>
            <a:r>
              <a:rPr lang="en-IN" sz="1600" dirty="0"/>
              <a:t>for</a:t>
            </a:r>
            <a:r>
              <a:rPr lang="en-IN" sz="1600" dirty="0"/>
              <a:t> </a:t>
            </a:r>
            <a:r>
              <a:rPr lang="en-IN" sz="1600" dirty="0"/>
              <a:t>word</a:t>
            </a:r>
            <a:r>
              <a:rPr lang="en-IN" sz="1600" dirty="0"/>
              <a:t> </a:t>
            </a:r>
            <a:r>
              <a:rPr lang="en-IN" sz="1600" dirty="0"/>
              <a:t>in</a:t>
            </a:r>
            <a:r>
              <a:rPr lang="en-IN" sz="1600" dirty="0"/>
              <a:t> review.lower().split() </a:t>
            </a:r>
            <a:r>
              <a:rPr lang="en-IN" sz="1600" dirty="0"/>
              <a:t>if</a:t>
            </a:r>
            <a:r>
              <a:rPr lang="en-IN" sz="1600" dirty="0"/>
              <a:t> word </a:t>
            </a:r>
            <a:r>
              <a:rPr lang="en-IN" sz="1600" dirty="0"/>
              <a:t>not</a:t>
            </a:r>
            <a:r>
              <a:rPr lang="en-IN" sz="1600" dirty="0"/>
              <a:t> </a:t>
            </a:r>
            <a:r>
              <a:rPr lang="en-IN" sz="1600" dirty="0"/>
              <a:t>in</a:t>
            </a:r>
            <a:r>
              <a:rPr lang="en-IN" sz="1600" dirty="0"/>
              <a:t> stop_words] </a:t>
            </a:r>
            <a:r>
              <a:rPr lang="en-IN" sz="1600" dirty="0"/>
              <a:t>for</a:t>
            </a:r>
            <a:r>
              <a:rPr lang="en-IN" sz="1600" dirty="0"/>
              <a:t> </a:t>
            </a:r>
            <a:r>
              <a:rPr lang="en-IN" sz="1600" dirty="0"/>
              <a:t>review</a:t>
            </a:r>
            <a:r>
              <a:rPr lang="en-IN" sz="1600" dirty="0"/>
              <a:t> </a:t>
            </a:r>
            <a:r>
              <a:rPr lang="en-IN" sz="1600" dirty="0"/>
              <a:t>in</a:t>
            </a:r>
            <a:r>
              <a:rPr lang="en-IN" sz="1600" dirty="0"/>
              <a:t> reviews</a:t>
            </a:r>
            <a:r>
              <a:rPr lang="en-IN" sz="1600" dirty="0" smtClean="0"/>
              <a:t>]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i="1" dirty="0"/>
              <a:t># 2. Create a Dictionary (mapping words to IDs) and a Corpus (Bag-of-Words)</a:t>
            </a:r>
            <a:r>
              <a:rPr lang="en-IN" sz="1600" dirty="0"/>
              <a:t> </a:t>
            </a:r>
            <a:endParaRPr lang="en-IN" sz="1600" dirty="0" smtClean="0"/>
          </a:p>
          <a:p>
            <a:pPr marL="0" indent="0">
              <a:buNone/>
            </a:pPr>
            <a:r>
              <a:rPr lang="en-IN" sz="1600" dirty="0" smtClean="0"/>
              <a:t>dictionary </a:t>
            </a:r>
            <a:r>
              <a:rPr lang="en-IN" sz="1600" dirty="0"/>
              <a:t>= corpora.Dictionary(texts) </a:t>
            </a:r>
            <a:endParaRPr lang="en-IN" sz="1600" dirty="0" smtClean="0"/>
          </a:p>
          <a:p>
            <a:pPr marL="0" indent="0">
              <a:buNone/>
            </a:pPr>
            <a:r>
              <a:rPr lang="en-IN" sz="1600" dirty="0" smtClean="0"/>
              <a:t>corpus </a:t>
            </a:r>
            <a:r>
              <a:rPr lang="en-IN" sz="1600" dirty="0"/>
              <a:t>= [dictionary.doc2bow(text) </a:t>
            </a:r>
            <a:r>
              <a:rPr lang="en-IN" sz="1600" dirty="0"/>
              <a:t>for</a:t>
            </a:r>
            <a:r>
              <a:rPr lang="en-IN" sz="1600" dirty="0"/>
              <a:t> </a:t>
            </a:r>
            <a:r>
              <a:rPr lang="en-IN" sz="1600" dirty="0"/>
              <a:t>text</a:t>
            </a:r>
            <a:r>
              <a:rPr lang="en-IN" sz="1600" dirty="0"/>
              <a:t> </a:t>
            </a:r>
            <a:r>
              <a:rPr lang="en-IN" sz="1600" dirty="0"/>
              <a:t>in</a:t>
            </a:r>
            <a:r>
              <a:rPr lang="en-IN" sz="1600" dirty="0"/>
              <a:t> texts</a:t>
            </a:r>
            <a:r>
              <a:rPr lang="en-IN" sz="1600" dirty="0" smtClean="0"/>
              <a:t>]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i="1" dirty="0"/>
              <a:t># 3. Train the LDA Model</a:t>
            </a:r>
            <a:r>
              <a:rPr lang="en-IN" sz="1600" dirty="0"/>
              <a:t> </a:t>
            </a:r>
            <a:endParaRPr lang="en-IN" sz="1600" dirty="0" smtClean="0"/>
          </a:p>
          <a:p>
            <a:pPr marL="0" indent="0">
              <a:buNone/>
            </a:pPr>
            <a:r>
              <a:rPr lang="en-IN" sz="1600" i="1" dirty="0" smtClean="0"/>
              <a:t># </a:t>
            </a:r>
            <a:r>
              <a:rPr lang="en-IN" sz="1600" i="1" dirty="0"/>
              <a:t>We'll look for 2 distinct topics</a:t>
            </a:r>
            <a:r>
              <a:rPr lang="en-IN" sz="1600" dirty="0"/>
              <a:t> </a:t>
            </a:r>
            <a:endParaRPr lang="en-IN" sz="1600" dirty="0" smtClean="0"/>
          </a:p>
          <a:p>
            <a:pPr marL="0" indent="0">
              <a:buNone/>
            </a:pPr>
            <a:r>
              <a:rPr lang="en-IN" sz="1600" b="1" i="1" dirty="0" smtClean="0"/>
              <a:t>lda_model </a:t>
            </a:r>
            <a:r>
              <a:rPr lang="en-IN" sz="1600" b="1" i="1" dirty="0"/>
              <a:t>= gensim.models.ldamodel.LdaModel( corpus=corpus, id2word=dictionary, num_topics=</a:t>
            </a:r>
            <a:r>
              <a:rPr lang="en-IN" sz="1600" b="1" i="1" dirty="0"/>
              <a:t>2</a:t>
            </a:r>
            <a:r>
              <a:rPr lang="en-IN" sz="1600" b="1" i="1" dirty="0"/>
              <a:t>, passes=</a:t>
            </a:r>
            <a:r>
              <a:rPr lang="en-IN" sz="1600" b="1" i="1" dirty="0"/>
              <a:t>15</a:t>
            </a:r>
            <a:r>
              <a:rPr lang="en-IN" sz="1600" b="1" i="1" dirty="0"/>
              <a:t> )</a:t>
            </a:r>
            <a:br>
              <a:rPr lang="en-IN" sz="1600" b="1" i="1" dirty="0"/>
            </a:br>
            <a:endParaRPr lang="en-IN" sz="1600" b="1" i="1" dirty="0" smtClean="0"/>
          </a:p>
          <a:p>
            <a:pPr marL="0" indent="0">
              <a:buNone/>
            </a:pPr>
            <a:r>
              <a:rPr lang="en-IN" sz="1600" i="1" dirty="0"/>
              <a:t># 4. Display the results</a:t>
            </a:r>
            <a:r>
              <a:rPr lang="en-IN" sz="1600" dirty="0"/>
              <a:t> </a:t>
            </a:r>
            <a:endParaRPr lang="en-IN" sz="1600" dirty="0" smtClean="0"/>
          </a:p>
          <a:p>
            <a:pPr marL="0" indent="0">
              <a:buNone/>
            </a:pPr>
            <a:r>
              <a:rPr lang="en-IN" sz="1600" dirty="0" smtClean="0"/>
              <a:t>print</a:t>
            </a:r>
            <a:r>
              <a:rPr lang="en-IN" sz="1600" dirty="0"/>
              <a:t>(</a:t>
            </a:r>
            <a:r>
              <a:rPr lang="en-IN" sz="1600" dirty="0"/>
              <a:t>"Discovered Topics:"</a:t>
            </a:r>
            <a:r>
              <a:rPr lang="en-IN" sz="1600" dirty="0"/>
              <a:t>) </a:t>
            </a:r>
            <a:endParaRPr lang="en-IN" sz="1600" dirty="0" smtClean="0"/>
          </a:p>
          <a:p>
            <a:pPr marL="0" indent="0">
              <a:buNone/>
            </a:pPr>
            <a:r>
              <a:rPr lang="en-IN" sz="1600" dirty="0" smtClean="0"/>
              <a:t>for </a:t>
            </a:r>
            <a:r>
              <a:rPr lang="en-IN" sz="1600" dirty="0"/>
              <a:t>idx</a:t>
            </a:r>
            <a:r>
              <a:rPr lang="en-IN" sz="1600" dirty="0"/>
              <a:t>, </a:t>
            </a:r>
            <a:r>
              <a:rPr lang="en-IN" sz="1600" dirty="0"/>
              <a:t>topic</a:t>
            </a:r>
            <a:r>
              <a:rPr lang="en-IN" sz="1600" dirty="0"/>
              <a:t> </a:t>
            </a:r>
            <a:r>
              <a:rPr lang="en-IN" sz="1600" dirty="0"/>
              <a:t>in</a:t>
            </a:r>
            <a:r>
              <a:rPr lang="en-IN" sz="1600" dirty="0"/>
              <a:t> lda_model.print_topics(-</a:t>
            </a:r>
            <a:r>
              <a:rPr lang="en-IN" sz="1600" dirty="0"/>
              <a:t>1</a:t>
            </a:r>
            <a:r>
              <a:rPr lang="en-IN" sz="1600" dirty="0"/>
              <a:t>): print(</a:t>
            </a:r>
            <a:r>
              <a:rPr lang="en-IN" sz="1600" dirty="0"/>
              <a:t>f"Topic </a:t>
            </a:r>
            <a:r>
              <a:rPr lang="en-IN" sz="1600" dirty="0"/>
              <a:t>{idx}</a:t>
            </a:r>
            <a:r>
              <a:rPr lang="en-IN" sz="1600" dirty="0"/>
              <a:t>: </a:t>
            </a:r>
            <a:r>
              <a:rPr lang="en-IN" sz="1600" dirty="0"/>
              <a:t>{topic}</a:t>
            </a:r>
            <a:r>
              <a:rPr lang="en-IN" sz="1600" dirty="0"/>
              <a:t>"</a:t>
            </a:r>
            <a:r>
              <a:rPr lang="en-I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8491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Feature Extraction – Word </a:t>
            </a:r>
            <a:r>
              <a:rPr lang="en-IN" b="1" dirty="0" smtClean="0"/>
              <a:t>Embeddings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smtClean="0"/>
              <a:t>The </a:t>
            </a:r>
            <a:r>
              <a:rPr lang="en-IN" b="1" dirty="0"/>
              <a:t>breakthrough:</a:t>
            </a:r>
            <a:r>
              <a:rPr lang="en-IN" dirty="0"/>
              <a:t> Dense, low-dimensional vectors (e.g., 300 dimensions instead of 50,000).</a:t>
            </a:r>
          </a:p>
          <a:p>
            <a:r>
              <a:rPr lang="en-IN" b="1" dirty="0"/>
              <a:t>Key property:</a:t>
            </a:r>
            <a:r>
              <a:rPr lang="en-IN" dirty="0"/>
              <a:t> Semantic relationships are encoded via vector arithmetic.</a:t>
            </a:r>
          </a:p>
          <a:p>
            <a:r>
              <a:rPr lang="en-IN" b="1" dirty="0"/>
              <a:t>Classic Example:</a:t>
            </a:r>
            <a:endParaRPr lang="en-IN" dirty="0"/>
          </a:p>
          <a:p>
            <a:pPr lvl="1"/>
            <a:r>
              <a:rPr lang="en-IN" dirty="0"/>
              <a:t>Vector(King) - Vector(Man) + Vector(Woman) ≈ Vector(Queen)</a:t>
            </a:r>
          </a:p>
          <a:p>
            <a:r>
              <a:rPr lang="en-IN" b="1" dirty="0"/>
              <a:t>Tools:</a:t>
            </a:r>
            <a:r>
              <a:rPr lang="en-IN" dirty="0"/>
              <a:t> Word2Vec, GloVe, BERT.</a:t>
            </a:r>
          </a:p>
        </p:txBody>
      </p:sp>
    </p:spTree>
    <p:extLst>
      <p:ext uri="{BB962C8B-B14F-4D97-AF65-F5344CB8AC3E}">
        <p14:creationId xmlns:p14="http://schemas.microsoft.com/office/powerpoint/2010/main" val="3400641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Quick Comparison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2649061"/>
          <a:ext cx="8229600" cy="2428240"/>
        </p:xfrm>
        <a:graphic>
          <a:graphicData uri="http://schemas.openxmlformats.org/drawingml/2006/table">
            <a:tbl>
              <a:tblPr/>
              <a:tblGrid>
                <a:gridCol w="1988049"/>
                <a:gridCol w="2080517"/>
                <a:gridCol w="2080517"/>
                <a:gridCol w="2080517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  <a:latin typeface="quote-cjk-patch"/>
                        </a:rPr>
                        <a:t>Method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  <a:latin typeface="quote-cjk-patch"/>
                        </a:rPr>
                        <a:t>Output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  <a:latin typeface="quote-cjk-patch"/>
                        </a:rPr>
                        <a:t>Interpretability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0">
                          <a:effectLst/>
                          <a:latin typeface="quote-cjk-patch"/>
                        </a:rPr>
                        <a:t>Best For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quote-cjk-patch"/>
                        </a:rPr>
                        <a:t>TF-IDF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Sparse, high-dim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High (actual words)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IR, baselines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quote-cjk-patch"/>
                        </a:rPr>
                        <a:t>LDA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Topic distribution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Medium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Discovering themes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quote-cjk-patch"/>
                        </a:rPr>
                        <a:t>Embeddings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Dense, low-dim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Low (black box)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quote-cjk-patch"/>
                        </a:rPr>
                        <a:t>Deep learning, similarity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373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MINING THE WORLD WIDE </a:t>
            </a:r>
            <a:r>
              <a:rPr lang="en-IN" b="1" dirty="0" smtClean="0"/>
              <a:t>WEB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Web </a:t>
            </a:r>
            <a:r>
              <a:rPr lang="en-IN" b="1" dirty="0"/>
              <a:t>Mining – Three Pillars </a:t>
            </a:r>
            <a:endParaRPr lang="en-IN" b="1" dirty="0" smtClean="0"/>
          </a:p>
          <a:p>
            <a:r>
              <a:rPr lang="en-IN" b="1" dirty="0" smtClean="0"/>
              <a:t>Web </a:t>
            </a:r>
            <a:r>
              <a:rPr lang="en-IN" b="1" dirty="0"/>
              <a:t>Content Mining:</a:t>
            </a:r>
            <a:r>
              <a:rPr lang="en-IN" dirty="0"/>
              <a:t> Text mining of page content (already covered).</a:t>
            </a:r>
          </a:p>
          <a:p>
            <a:r>
              <a:rPr lang="en-IN" b="1" dirty="0"/>
              <a:t>Web Structure Mining:</a:t>
            </a:r>
            <a:r>
              <a:rPr lang="en-IN" dirty="0"/>
              <a:t> Using hyperlinks (the "web" part).</a:t>
            </a:r>
          </a:p>
          <a:p>
            <a:r>
              <a:rPr lang="en-IN" b="1" dirty="0"/>
              <a:t>Web Usage Mining:</a:t>
            </a:r>
            <a:r>
              <a:rPr lang="en-IN" dirty="0"/>
              <a:t> Analyzing user clicks &amp; logs.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6179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Mining Link Structures – </a:t>
            </a:r>
            <a:r>
              <a:rPr lang="en-IN" b="1" dirty="0" smtClean="0"/>
              <a:t>PageRank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 smtClean="0"/>
              <a:t>Core </a:t>
            </a:r>
            <a:r>
              <a:rPr lang="en-IN" b="1" dirty="0"/>
              <a:t>intuition:</a:t>
            </a:r>
            <a:r>
              <a:rPr lang="en-IN" dirty="0"/>
              <a:t> A link from page A to page B is a "vote of confidence."</a:t>
            </a:r>
          </a:p>
          <a:p>
            <a:r>
              <a:rPr lang="en-IN" b="1" dirty="0"/>
              <a:t>Not all votes are equal:</a:t>
            </a:r>
            <a:r>
              <a:rPr lang="en-IN" dirty="0"/>
              <a:t> A vote from an important page (e.g., Wikipedia) counts more.</a:t>
            </a:r>
          </a:p>
          <a:p>
            <a:r>
              <a:rPr lang="en-IN" b="1" dirty="0"/>
              <a:t>The Random Surfer Model:</a:t>
            </a:r>
            <a:endParaRPr lang="en-IN" dirty="0"/>
          </a:p>
          <a:p>
            <a:pPr lvl="1"/>
            <a:r>
              <a:rPr lang="en-IN" dirty="0"/>
              <a:t>85% of the time: Click a random link on the current page.</a:t>
            </a:r>
          </a:p>
          <a:p>
            <a:pPr lvl="1"/>
            <a:r>
              <a:rPr lang="en-IN" dirty="0"/>
              <a:t>15% of the time: Jump to a completely random page.</a:t>
            </a:r>
          </a:p>
          <a:p>
            <a:r>
              <a:rPr lang="en-IN" b="1" dirty="0"/>
              <a:t>Output:</a:t>
            </a:r>
            <a:r>
              <a:rPr lang="en-IN" dirty="0"/>
              <a:t> A score for every page (used by Google to rank search results).</a:t>
            </a:r>
          </a:p>
        </p:txBody>
      </p:sp>
    </p:spTree>
    <p:extLst>
      <p:ext uri="{BB962C8B-B14F-4D97-AF65-F5344CB8AC3E}">
        <p14:creationId xmlns:p14="http://schemas.microsoft.com/office/powerpoint/2010/main" val="14907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Automatic </a:t>
            </a:r>
            <a:r>
              <a:rPr lang="en-IN" b="1" dirty="0"/>
              <a:t>Classification &amp; Web </a:t>
            </a:r>
            <a:r>
              <a:rPr lang="en-IN" b="1" dirty="0" smtClean="0"/>
              <a:t>Usage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38595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Automatic Classification of Web Docs:</a:t>
            </a:r>
            <a:endParaRPr lang="en-IN" dirty="0"/>
          </a:p>
          <a:p>
            <a:pPr lvl="1"/>
            <a:r>
              <a:rPr lang="en-IN" dirty="0"/>
              <a:t>Problem: Assign a category (Sports, Politics, Tech) to a webpage.</a:t>
            </a:r>
          </a:p>
          <a:p>
            <a:pPr lvl="1"/>
            <a:r>
              <a:rPr lang="en-IN" dirty="0"/>
              <a:t>Challenge: Web pages have noisy layout (ads, navigation bars).</a:t>
            </a:r>
          </a:p>
          <a:p>
            <a:pPr lvl="1"/>
            <a:r>
              <a:rPr lang="en-IN" dirty="0"/>
              <a:t>Solution: Combine </a:t>
            </a:r>
            <a:r>
              <a:rPr lang="en-IN" b="1" dirty="0"/>
              <a:t>Page layout structure</a:t>
            </a:r>
            <a:r>
              <a:rPr lang="en-IN" dirty="0"/>
              <a:t> (parse HTML DOM tree) + </a:t>
            </a:r>
            <a:r>
              <a:rPr lang="en-IN" b="1" dirty="0"/>
              <a:t>Text content</a:t>
            </a:r>
            <a:r>
              <a:rPr lang="en-IN" dirty="0"/>
              <a:t>.</a:t>
            </a:r>
          </a:p>
          <a:p>
            <a:r>
              <a:rPr lang="en-IN" b="1" dirty="0"/>
              <a:t>Web Usage Mining:</a:t>
            </a:r>
            <a:endParaRPr lang="en-IN" dirty="0"/>
          </a:p>
          <a:p>
            <a:pPr lvl="1"/>
            <a:r>
              <a:rPr lang="en-IN" dirty="0"/>
              <a:t>Data: Web server logs (IP, timestamp, URL clicked).</a:t>
            </a:r>
          </a:p>
          <a:p>
            <a:pPr lvl="1"/>
            <a:r>
              <a:rPr lang="en-IN" dirty="0"/>
              <a:t>Process:</a:t>
            </a:r>
          </a:p>
          <a:p>
            <a:pPr lvl="2"/>
            <a:r>
              <a:rPr lang="en-IN" b="1" dirty="0"/>
              <a:t>Preprocessing:</a:t>
            </a:r>
            <a:r>
              <a:rPr lang="en-IN" dirty="0"/>
              <a:t> Clean bots, identify unique users (sessions).</a:t>
            </a:r>
          </a:p>
          <a:p>
            <a:pPr lvl="2"/>
            <a:r>
              <a:rPr lang="en-IN" b="1" dirty="0"/>
              <a:t>Pattern Discovery:</a:t>
            </a:r>
            <a:r>
              <a:rPr lang="en-IN" dirty="0"/>
              <a:t> Find frequent paths (A → Cart → Checkout).</a:t>
            </a:r>
          </a:p>
          <a:p>
            <a:pPr lvl="2"/>
            <a:r>
              <a:rPr lang="en-IN" b="1" dirty="0"/>
              <a:t>Applications:</a:t>
            </a:r>
            <a:r>
              <a:rPr lang="en-IN" dirty="0"/>
              <a:t> Recommendation systems ("Users who bought X also bought Y"), website optimization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087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Case Scenario:</a:t>
            </a:r>
            <a:r>
              <a:rPr lang="en-IN" dirty="0"/>
              <a:t> E-commerce </a:t>
            </a:r>
            <a:r>
              <a:rPr lang="en-IN" dirty="0" smtClean="0"/>
              <a:t>site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Text </a:t>
            </a:r>
            <a:r>
              <a:rPr lang="en-IN" b="1" dirty="0"/>
              <a:t>Mining:</a:t>
            </a:r>
            <a:r>
              <a:rPr lang="en-IN" dirty="0"/>
              <a:t> Run LDA on product reviews → discover "battery life" is a hot topic.</a:t>
            </a:r>
          </a:p>
          <a:p>
            <a:r>
              <a:rPr lang="en-IN" b="1" dirty="0"/>
              <a:t>Structure Mining:</a:t>
            </a:r>
            <a:r>
              <a:rPr lang="en-IN" dirty="0"/>
              <a:t> PageRank on product links → identify influential review pages.</a:t>
            </a:r>
          </a:p>
          <a:p>
            <a:r>
              <a:rPr lang="en-IN" b="1" dirty="0"/>
              <a:t>Usage Mining:</a:t>
            </a:r>
            <a:r>
              <a:rPr lang="en-IN" dirty="0"/>
              <a:t> Analyze clickstreams → 70% of users who view a phone also view a case.</a:t>
            </a:r>
          </a:p>
          <a:p>
            <a:r>
              <a:rPr lang="en-IN" b="1" dirty="0"/>
              <a:t>Action:</a:t>
            </a:r>
            <a:r>
              <a:rPr lang="en-IN" dirty="0"/>
              <a:t> Recommend cases on phone pages.</a:t>
            </a:r>
          </a:p>
        </p:txBody>
      </p:sp>
    </p:spTree>
    <p:extLst>
      <p:ext uri="{BB962C8B-B14F-4D97-AF65-F5344CB8AC3E}">
        <p14:creationId xmlns:p14="http://schemas.microsoft.com/office/powerpoint/2010/main" val="365245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Key Takeaways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Text </a:t>
            </a:r>
            <a:r>
              <a:rPr lang="en-IN" dirty="0"/>
              <a:t>must become numbers (TF-IDF, embeddings).</a:t>
            </a:r>
          </a:p>
          <a:p>
            <a:r>
              <a:rPr lang="en-IN" dirty="0"/>
              <a:t>Reduce dimensions to fight sparsity.</a:t>
            </a:r>
          </a:p>
          <a:p>
            <a:r>
              <a:rPr lang="en-IN" dirty="0"/>
              <a:t>Web mining = Content + Links + Usage.</a:t>
            </a:r>
          </a:p>
        </p:txBody>
      </p:sp>
    </p:spTree>
    <p:extLst>
      <p:ext uri="{BB962C8B-B14F-4D97-AF65-F5344CB8AC3E}">
        <p14:creationId xmlns:p14="http://schemas.microsoft.com/office/powerpoint/2010/main" val="1228631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492</Words>
  <Application>Microsoft Office PowerPoint</Application>
  <PresentationFormat>On-screen Show (4:3)</PresentationFormat>
  <Paragraphs>145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Text Mining</vt:lpstr>
      <vt:lpstr>What is Text Mining?</vt:lpstr>
      <vt:lpstr>What is Text Mining? </vt:lpstr>
      <vt:lpstr>The Vector Space Model</vt:lpstr>
      <vt:lpstr>The Curse of Dimensionality</vt:lpstr>
      <vt:lpstr>DIMENSIONALITY REDUCTION </vt:lpstr>
      <vt:lpstr> Feature Extraction – LDA  (Topic Modeling)</vt:lpstr>
      <vt:lpstr>How LDA Thinks Like a Writer</vt:lpstr>
      <vt:lpstr> Industry Toy Data ("App Store“)</vt:lpstr>
      <vt:lpstr>Strategic Value of LDA</vt:lpstr>
      <vt:lpstr>PowerPoint Presentation</vt:lpstr>
      <vt:lpstr>Feature Extraction – Word Embeddings</vt:lpstr>
      <vt:lpstr>Quick Comparison</vt:lpstr>
      <vt:lpstr>MINING THE WORLD WIDE WEB</vt:lpstr>
      <vt:lpstr>Mining Link Structures – PageRank</vt:lpstr>
      <vt:lpstr>Automatic Classification &amp; Web Usage</vt:lpstr>
      <vt:lpstr>Case Scenario: E-commerce site</vt:lpstr>
      <vt:lpstr>Key Takeaways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Mining</dc:title>
  <dc:creator>Prasenjit Mukherjee</dc:creator>
  <cp:lastModifiedBy>Prasenjit Mukherjee</cp:lastModifiedBy>
  <cp:revision>2</cp:revision>
  <dcterms:created xsi:type="dcterms:W3CDTF">2006-08-16T00:00:00Z</dcterms:created>
  <dcterms:modified xsi:type="dcterms:W3CDTF">2026-04-16T06:31:32Z</dcterms:modified>
</cp:coreProperties>
</file>